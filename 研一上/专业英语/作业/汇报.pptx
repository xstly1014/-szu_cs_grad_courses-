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handoutMasterIdLst>
    <p:handoutMasterId r:id="rId31"/>
  </p:handoutMasterIdLst>
  <p:sldIdLst>
    <p:sldId id="358" r:id="rId3"/>
    <p:sldId id="345" r:id="rId4"/>
    <p:sldId id="5323" r:id="rId5"/>
    <p:sldId id="5324" r:id="rId6"/>
    <p:sldId id="5325" r:id="rId7"/>
    <p:sldId id="5326" r:id="rId8"/>
    <p:sldId id="5327" r:id="rId9"/>
    <p:sldId id="5328" r:id="rId10"/>
    <p:sldId id="5329" r:id="rId11"/>
    <p:sldId id="5330" r:id="rId12"/>
    <p:sldId id="5331" r:id="rId13"/>
    <p:sldId id="5332" r:id="rId14"/>
    <p:sldId id="5333" r:id="rId15"/>
    <p:sldId id="5334" r:id="rId16"/>
    <p:sldId id="5335" r:id="rId17"/>
    <p:sldId id="5336" r:id="rId18"/>
    <p:sldId id="5337" r:id="rId19"/>
    <p:sldId id="379" r:id="rId20"/>
    <p:sldId id="5304" r:id="rId21"/>
    <p:sldId id="5316" r:id="rId22"/>
    <p:sldId id="5305" r:id="rId23"/>
    <p:sldId id="5317" r:id="rId24"/>
    <p:sldId id="5307" r:id="rId25"/>
    <p:sldId id="5306" r:id="rId26"/>
    <p:sldId id="5322" r:id="rId27"/>
    <p:sldId id="5309" r:id="rId28"/>
    <p:sldId id="381" r:id="rId29"/>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0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4F9FF"/>
    <a:srgbClr val="6480DC"/>
    <a:srgbClr val="EFF5FE"/>
    <a:srgbClr val="DEE0F5"/>
    <a:srgbClr val="7198E7"/>
    <a:srgbClr val="4C53C8"/>
    <a:srgbClr val="ECF1FC"/>
    <a:srgbClr val="AAB2E8"/>
    <a:srgbClr val="7784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1" autoAdjust="0"/>
    <p:restoredTop sz="94660"/>
  </p:normalViewPr>
  <p:slideViewPr>
    <p:cSldViewPr snapToGrid="0" showGuides="1">
      <p:cViewPr varScale="1">
        <p:scale>
          <a:sx n="79" d="100"/>
          <a:sy n="79" d="100"/>
        </p:scale>
        <p:origin x="96" y="612"/>
      </p:cViewPr>
      <p:guideLst>
        <p:guide pos="3840"/>
        <p:guide orient="horz" pos="2008"/>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5" d="100"/>
          <a:sy n="85" d="100"/>
        </p:scale>
        <p:origin x="2904" y="10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gs" Target="tags/tag86.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D0D2684-B4CB-4882-8B5E-B367BB2EBCDB}"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24CF19C-81A7-4941-9975-75AC54BCC803}"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C03ECD-1057-4341-BAC9-30CD9993D04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0773B2-E010-49AD-90A4-F6C4DA4561C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www.51pptmoban.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矩形 1"/>
          <p:cNvSpPr/>
          <p:nvPr userDrawn="1"/>
        </p:nvSpPr>
        <p:spPr>
          <a:xfrm>
            <a:off x="0" y="6518380"/>
            <a:ext cx="12192000" cy="339620"/>
          </a:xfrm>
          <a:prstGeom prst="rect">
            <a:avLst/>
          </a:prstGeom>
          <a:solidFill>
            <a:srgbClr val="E8EB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userDrawn="1"/>
        </p:nvSpPr>
        <p:spPr>
          <a:xfrm>
            <a:off x="0" y="1"/>
            <a:ext cx="12192000" cy="6857999"/>
          </a:xfrm>
          <a:prstGeom prst="rect">
            <a:avLst/>
          </a:prstGeom>
          <a:gradFill>
            <a:gsLst>
              <a:gs pos="7000">
                <a:srgbClr val="4C53C8"/>
              </a:gs>
              <a:gs pos="100000">
                <a:srgbClr val="7198E7"/>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userDrawn="1"/>
        </p:nvSpPr>
        <p:spPr>
          <a:xfrm>
            <a:off x="0" y="4631416"/>
            <a:ext cx="2224577" cy="2224577"/>
          </a:xfrm>
          <a:custGeom>
            <a:avLst/>
            <a:gdLst>
              <a:gd name="connsiteX0" fmla="*/ 0 w 2224577"/>
              <a:gd name="connsiteY0" fmla="*/ 798143 h 2224577"/>
              <a:gd name="connsiteX1" fmla="*/ 1426360 w 2224577"/>
              <a:gd name="connsiteY1" fmla="*/ 2224578 h 2224577"/>
              <a:gd name="connsiteX2" fmla="*/ 2224578 w 2224577"/>
              <a:gd name="connsiteY2" fmla="*/ 2224578 h 2224577"/>
              <a:gd name="connsiteX3" fmla="*/ 0 w 2224577"/>
              <a:gd name="connsiteY3" fmla="*/ 0 h 2224577"/>
              <a:gd name="connsiteX4" fmla="*/ 0 w 2224577"/>
              <a:gd name="connsiteY4" fmla="*/ 798143 h 222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4577" h="2224577">
                <a:moveTo>
                  <a:pt x="0" y="798143"/>
                </a:moveTo>
                <a:lnTo>
                  <a:pt x="1426360" y="2224578"/>
                </a:lnTo>
                <a:lnTo>
                  <a:pt x="2224578" y="2224578"/>
                </a:lnTo>
                <a:lnTo>
                  <a:pt x="0" y="0"/>
                </a:lnTo>
                <a:lnTo>
                  <a:pt x="0" y="798143"/>
                </a:lnTo>
                <a:close/>
              </a:path>
            </a:pathLst>
          </a:custGeom>
          <a:solidFill>
            <a:srgbClr val="6C75F7">
              <a:alpha val="70000"/>
            </a:srgbClr>
          </a:solidFill>
          <a:ln w="7430" cap="flat">
            <a:noFill/>
            <a:prstDash val="solid"/>
            <a:miter/>
          </a:ln>
        </p:spPr>
        <p:txBody>
          <a:bodyPr rtlCol="0" anchor="ctr"/>
          <a:lstStyle/>
          <a:p>
            <a:endParaRPr lang="zh-CN" altLang="en-US"/>
          </a:p>
        </p:txBody>
      </p:sp>
      <p:sp>
        <p:nvSpPr>
          <p:cNvPr id="5" name="任意多边形: 形状 4"/>
          <p:cNvSpPr/>
          <p:nvPr userDrawn="1"/>
        </p:nvSpPr>
        <p:spPr>
          <a:xfrm>
            <a:off x="9967423" y="0"/>
            <a:ext cx="2224577" cy="2224577"/>
          </a:xfrm>
          <a:custGeom>
            <a:avLst/>
            <a:gdLst>
              <a:gd name="connsiteX0" fmla="*/ 2224578 w 2224577"/>
              <a:gd name="connsiteY0" fmla="*/ 1426360 h 2224577"/>
              <a:gd name="connsiteX1" fmla="*/ 798143 w 2224577"/>
              <a:gd name="connsiteY1" fmla="*/ 0 h 2224577"/>
              <a:gd name="connsiteX2" fmla="*/ 0 w 2224577"/>
              <a:gd name="connsiteY2" fmla="*/ 0 h 2224577"/>
              <a:gd name="connsiteX3" fmla="*/ 2224578 w 2224577"/>
              <a:gd name="connsiteY3" fmla="*/ 2224578 h 2224577"/>
              <a:gd name="connsiteX4" fmla="*/ 2224578 w 2224577"/>
              <a:gd name="connsiteY4" fmla="*/ 1426360 h 222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4577" h="2224577">
                <a:moveTo>
                  <a:pt x="2224578" y="1426360"/>
                </a:moveTo>
                <a:lnTo>
                  <a:pt x="798143" y="0"/>
                </a:lnTo>
                <a:lnTo>
                  <a:pt x="0" y="0"/>
                </a:lnTo>
                <a:lnTo>
                  <a:pt x="2224578" y="2224578"/>
                </a:lnTo>
                <a:lnTo>
                  <a:pt x="2224578" y="1426360"/>
                </a:lnTo>
                <a:close/>
              </a:path>
            </a:pathLst>
          </a:custGeom>
          <a:solidFill>
            <a:srgbClr val="6C75F7">
              <a:alpha val="70000"/>
            </a:srgbClr>
          </a:solidFill>
          <a:ln w="7430" cap="flat">
            <a:noFill/>
            <a:prstDash val="solid"/>
            <a:miter/>
          </a:ln>
        </p:spPr>
        <p:txBody>
          <a:bodyPr rtlCol="0" anchor="ctr"/>
          <a:lstStyle/>
          <a:p>
            <a:endParaRPr lang="zh-CN" altLang="en-US"/>
          </a:p>
        </p:txBody>
      </p:sp>
      <p:sp>
        <p:nvSpPr>
          <p:cNvPr id="6" name="任意多边形: 形状 5"/>
          <p:cNvSpPr/>
          <p:nvPr userDrawn="1"/>
        </p:nvSpPr>
        <p:spPr>
          <a:xfrm>
            <a:off x="8914946" y="3578939"/>
            <a:ext cx="3277054" cy="3277053"/>
          </a:xfrm>
          <a:custGeom>
            <a:avLst/>
            <a:gdLst>
              <a:gd name="connsiteX0" fmla="*/ 3277054 w 3277054"/>
              <a:gd name="connsiteY0" fmla="*/ 3277054 h 3277053"/>
              <a:gd name="connsiteX1" fmla="*/ 3277054 w 3277054"/>
              <a:gd name="connsiteY1" fmla="*/ 0 h 3277053"/>
              <a:gd name="connsiteX2" fmla="*/ 0 w 3277054"/>
              <a:gd name="connsiteY2" fmla="*/ 3277054 h 3277053"/>
              <a:gd name="connsiteX3" fmla="*/ 3277054 w 3277054"/>
              <a:gd name="connsiteY3" fmla="*/ 3277054 h 3277053"/>
            </a:gdLst>
            <a:ahLst/>
            <a:cxnLst>
              <a:cxn ang="0">
                <a:pos x="connsiteX0" y="connsiteY0"/>
              </a:cxn>
              <a:cxn ang="0">
                <a:pos x="connsiteX1" y="connsiteY1"/>
              </a:cxn>
              <a:cxn ang="0">
                <a:pos x="connsiteX2" y="connsiteY2"/>
              </a:cxn>
              <a:cxn ang="0">
                <a:pos x="connsiteX3" y="connsiteY3"/>
              </a:cxn>
            </a:cxnLst>
            <a:rect l="l" t="t" r="r" b="b"/>
            <a:pathLst>
              <a:path w="3277054" h="3277053">
                <a:moveTo>
                  <a:pt x="3277054" y="3277054"/>
                </a:moveTo>
                <a:lnTo>
                  <a:pt x="3277054" y="0"/>
                </a:lnTo>
                <a:lnTo>
                  <a:pt x="0" y="3277054"/>
                </a:lnTo>
                <a:lnTo>
                  <a:pt x="3277054" y="3277054"/>
                </a:lnTo>
                <a:close/>
              </a:path>
            </a:pathLst>
          </a:custGeom>
          <a:gradFill>
            <a:gsLst>
              <a:gs pos="7000">
                <a:srgbClr val="656DE6"/>
              </a:gs>
              <a:gs pos="78000">
                <a:srgbClr val="3B43AB"/>
              </a:gs>
            </a:gsLst>
            <a:lin ang="18900000" scaled="1"/>
          </a:gradFill>
          <a:ln w="7430" cap="flat">
            <a:noFill/>
            <a:prstDash val="solid"/>
            <a:miter/>
          </a:ln>
        </p:spPr>
        <p:txBody>
          <a:bodyPr rtlCol="0" anchor="ctr"/>
          <a:lstStyle/>
          <a:p>
            <a:endParaRPr lang="zh-CN" altLang="en-US"/>
          </a:p>
        </p:txBody>
      </p:sp>
      <p:sp>
        <p:nvSpPr>
          <p:cNvPr id="7" name="任意多边形: 形状 6"/>
          <p:cNvSpPr/>
          <p:nvPr userDrawn="1"/>
        </p:nvSpPr>
        <p:spPr>
          <a:xfrm>
            <a:off x="10221979" y="2639178"/>
            <a:ext cx="1970021" cy="3939968"/>
          </a:xfrm>
          <a:custGeom>
            <a:avLst/>
            <a:gdLst>
              <a:gd name="connsiteX0" fmla="*/ 1970022 w 1970021"/>
              <a:gd name="connsiteY0" fmla="*/ 3939969 h 3939968"/>
              <a:gd name="connsiteX1" fmla="*/ 1970022 w 1970021"/>
              <a:gd name="connsiteY1" fmla="*/ 3006152 h 3939968"/>
              <a:gd name="connsiteX2" fmla="*/ 933817 w 1970021"/>
              <a:gd name="connsiteY2" fmla="*/ 1970022 h 3939968"/>
              <a:gd name="connsiteX3" fmla="*/ 1970022 w 1970021"/>
              <a:gd name="connsiteY3" fmla="*/ 933817 h 3939968"/>
              <a:gd name="connsiteX4" fmla="*/ 1970022 w 1970021"/>
              <a:gd name="connsiteY4" fmla="*/ 0 h 3939968"/>
              <a:gd name="connsiteX5" fmla="*/ 0 w 1970021"/>
              <a:gd name="connsiteY5" fmla="*/ 1970022 h 3939968"/>
              <a:gd name="connsiteX6" fmla="*/ 1970022 w 1970021"/>
              <a:gd name="connsiteY6" fmla="*/ 3939969 h 393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0021" h="3939968">
                <a:moveTo>
                  <a:pt x="1970022" y="3939969"/>
                </a:moveTo>
                <a:lnTo>
                  <a:pt x="1970022" y="3006152"/>
                </a:lnTo>
                <a:lnTo>
                  <a:pt x="933817" y="1970022"/>
                </a:lnTo>
                <a:lnTo>
                  <a:pt x="1970022" y="933817"/>
                </a:lnTo>
                <a:lnTo>
                  <a:pt x="1970022" y="0"/>
                </a:lnTo>
                <a:lnTo>
                  <a:pt x="0" y="1970022"/>
                </a:lnTo>
                <a:lnTo>
                  <a:pt x="1970022" y="3939969"/>
                </a:lnTo>
                <a:close/>
              </a:path>
            </a:pathLst>
          </a:custGeom>
          <a:solidFill>
            <a:schemeClr val="bg1"/>
          </a:soli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8" name="任意多边形: 形状 7"/>
          <p:cNvSpPr/>
          <p:nvPr userDrawn="1"/>
        </p:nvSpPr>
        <p:spPr>
          <a:xfrm>
            <a:off x="0" y="0"/>
            <a:ext cx="3277054" cy="3277053"/>
          </a:xfrm>
          <a:custGeom>
            <a:avLst/>
            <a:gdLst>
              <a:gd name="connsiteX0" fmla="*/ 0 w 3277054"/>
              <a:gd name="connsiteY0" fmla="*/ 0 h 3277053"/>
              <a:gd name="connsiteX1" fmla="*/ 0 w 3277054"/>
              <a:gd name="connsiteY1" fmla="*/ 3277054 h 3277053"/>
              <a:gd name="connsiteX2" fmla="*/ 3277054 w 3277054"/>
              <a:gd name="connsiteY2" fmla="*/ 0 h 3277053"/>
              <a:gd name="connsiteX3" fmla="*/ 0 w 3277054"/>
              <a:gd name="connsiteY3" fmla="*/ 0 h 3277053"/>
            </a:gdLst>
            <a:ahLst/>
            <a:cxnLst>
              <a:cxn ang="0">
                <a:pos x="connsiteX0" y="connsiteY0"/>
              </a:cxn>
              <a:cxn ang="0">
                <a:pos x="connsiteX1" y="connsiteY1"/>
              </a:cxn>
              <a:cxn ang="0">
                <a:pos x="connsiteX2" y="connsiteY2"/>
              </a:cxn>
              <a:cxn ang="0">
                <a:pos x="connsiteX3" y="connsiteY3"/>
              </a:cxn>
            </a:cxnLst>
            <a:rect l="l" t="t" r="r" b="b"/>
            <a:pathLst>
              <a:path w="3277054" h="3277053">
                <a:moveTo>
                  <a:pt x="0" y="0"/>
                </a:moveTo>
                <a:lnTo>
                  <a:pt x="0" y="3277054"/>
                </a:lnTo>
                <a:lnTo>
                  <a:pt x="3277054" y="0"/>
                </a:lnTo>
                <a:lnTo>
                  <a:pt x="0" y="0"/>
                </a:lnTo>
                <a:close/>
              </a:path>
            </a:pathLst>
          </a:custGeom>
          <a:gradFill>
            <a:gsLst>
              <a:gs pos="3000">
                <a:srgbClr val="656DE6"/>
              </a:gs>
              <a:gs pos="78000">
                <a:srgbClr val="3B43AB"/>
              </a:gs>
            </a:gsLst>
            <a:lin ang="8100000" scaled="1"/>
          </a:gradFill>
          <a:ln w="7430" cap="flat">
            <a:noFill/>
            <a:prstDash val="solid"/>
            <a:miter/>
          </a:ln>
        </p:spPr>
        <p:txBody>
          <a:bodyPr rtlCol="0" anchor="ctr"/>
          <a:lstStyle/>
          <a:p>
            <a:endParaRPr lang="zh-CN" altLang="en-US"/>
          </a:p>
        </p:txBody>
      </p:sp>
      <p:sp>
        <p:nvSpPr>
          <p:cNvPr id="9" name="任意多边形: 形状 8"/>
          <p:cNvSpPr/>
          <p:nvPr userDrawn="1"/>
        </p:nvSpPr>
        <p:spPr>
          <a:xfrm>
            <a:off x="0" y="276846"/>
            <a:ext cx="1969947" cy="3939969"/>
          </a:xfrm>
          <a:custGeom>
            <a:avLst/>
            <a:gdLst>
              <a:gd name="connsiteX0" fmla="*/ 0 w 1969947"/>
              <a:gd name="connsiteY0" fmla="*/ 0 h 3939969"/>
              <a:gd name="connsiteX1" fmla="*/ 0 w 1969947"/>
              <a:gd name="connsiteY1" fmla="*/ 933817 h 3939969"/>
              <a:gd name="connsiteX2" fmla="*/ 1036130 w 1969947"/>
              <a:gd name="connsiteY2" fmla="*/ 1969948 h 3939969"/>
              <a:gd name="connsiteX3" fmla="*/ 0 w 1969947"/>
              <a:gd name="connsiteY3" fmla="*/ 3006152 h 3939969"/>
              <a:gd name="connsiteX4" fmla="*/ 0 w 1969947"/>
              <a:gd name="connsiteY4" fmla="*/ 3939970 h 3939969"/>
              <a:gd name="connsiteX5" fmla="*/ 1969948 w 1969947"/>
              <a:gd name="connsiteY5" fmla="*/ 1969948 h 3939969"/>
              <a:gd name="connsiteX6" fmla="*/ 0 w 1969947"/>
              <a:gd name="connsiteY6" fmla="*/ 0 h 3939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9947" h="3939969">
                <a:moveTo>
                  <a:pt x="0" y="0"/>
                </a:moveTo>
                <a:lnTo>
                  <a:pt x="0" y="933817"/>
                </a:lnTo>
                <a:lnTo>
                  <a:pt x="1036130" y="1969948"/>
                </a:lnTo>
                <a:lnTo>
                  <a:pt x="0" y="3006152"/>
                </a:lnTo>
                <a:lnTo>
                  <a:pt x="0" y="3939970"/>
                </a:lnTo>
                <a:lnTo>
                  <a:pt x="1969948" y="1969948"/>
                </a:lnTo>
                <a:lnTo>
                  <a:pt x="0" y="0"/>
                </a:lnTo>
                <a:close/>
              </a:path>
            </a:pathLst>
          </a:custGeom>
          <a:solidFill>
            <a:schemeClr val="bg1"/>
          </a:soli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矩形 3"/>
          <p:cNvSpPr/>
          <p:nvPr userDrawn="1"/>
        </p:nvSpPr>
        <p:spPr>
          <a:xfrm>
            <a:off x="0" y="6518380"/>
            <a:ext cx="12192000" cy="339620"/>
          </a:xfrm>
          <a:prstGeom prst="rect">
            <a:avLst/>
          </a:prstGeom>
          <a:solidFill>
            <a:srgbClr val="E8EB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userDrawn="1"/>
        </p:nvSpPr>
        <p:spPr>
          <a:xfrm>
            <a:off x="1" y="5740400"/>
            <a:ext cx="1117600" cy="1117600"/>
          </a:xfrm>
          <a:custGeom>
            <a:avLst/>
            <a:gdLst>
              <a:gd name="connsiteX0" fmla="*/ 0 w 2224577"/>
              <a:gd name="connsiteY0" fmla="*/ 798143 h 2224577"/>
              <a:gd name="connsiteX1" fmla="*/ 1426360 w 2224577"/>
              <a:gd name="connsiteY1" fmla="*/ 2224578 h 2224577"/>
              <a:gd name="connsiteX2" fmla="*/ 2224578 w 2224577"/>
              <a:gd name="connsiteY2" fmla="*/ 2224578 h 2224577"/>
              <a:gd name="connsiteX3" fmla="*/ 0 w 2224577"/>
              <a:gd name="connsiteY3" fmla="*/ 0 h 2224577"/>
              <a:gd name="connsiteX4" fmla="*/ 0 w 2224577"/>
              <a:gd name="connsiteY4" fmla="*/ 798143 h 222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4577" h="2224577">
                <a:moveTo>
                  <a:pt x="0" y="798143"/>
                </a:moveTo>
                <a:lnTo>
                  <a:pt x="1426360" y="2224578"/>
                </a:lnTo>
                <a:lnTo>
                  <a:pt x="2224578" y="2224578"/>
                </a:lnTo>
                <a:lnTo>
                  <a:pt x="0" y="0"/>
                </a:lnTo>
                <a:lnTo>
                  <a:pt x="0" y="798143"/>
                </a:lnTo>
                <a:close/>
              </a:path>
            </a:pathLst>
          </a:custGeom>
          <a:solidFill>
            <a:srgbClr val="6C75F7">
              <a:alpha val="20000"/>
            </a:srgbClr>
          </a:solidFill>
          <a:ln w="7430" cap="flat">
            <a:noFill/>
            <a:prstDash val="solid"/>
            <a:miter/>
          </a:ln>
        </p:spPr>
        <p:txBody>
          <a:bodyPr rtlCol="0" anchor="ctr"/>
          <a:lstStyle/>
          <a:p>
            <a:endParaRPr lang="zh-CN" altLang="en-US"/>
          </a:p>
        </p:txBody>
      </p:sp>
      <p:sp>
        <p:nvSpPr>
          <p:cNvPr id="22" name="任意多边形: 形状 21"/>
          <p:cNvSpPr/>
          <p:nvPr userDrawn="1"/>
        </p:nvSpPr>
        <p:spPr>
          <a:xfrm>
            <a:off x="1" y="1"/>
            <a:ext cx="2321560" cy="2321559"/>
          </a:xfrm>
          <a:custGeom>
            <a:avLst/>
            <a:gdLst>
              <a:gd name="connsiteX0" fmla="*/ 0 w 3277054"/>
              <a:gd name="connsiteY0" fmla="*/ 0 h 3277053"/>
              <a:gd name="connsiteX1" fmla="*/ 0 w 3277054"/>
              <a:gd name="connsiteY1" fmla="*/ 3277054 h 3277053"/>
              <a:gd name="connsiteX2" fmla="*/ 3277054 w 3277054"/>
              <a:gd name="connsiteY2" fmla="*/ 0 h 3277053"/>
              <a:gd name="connsiteX3" fmla="*/ 0 w 3277054"/>
              <a:gd name="connsiteY3" fmla="*/ 0 h 3277053"/>
            </a:gdLst>
            <a:ahLst/>
            <a:cxnLst>
              <a:cxn ang="0">
                <a:pos x="connsiteX0" y="connsiteY0"/>
              </a:cxn>
              <a:cxn ang="0">
                <a:pos x="connsiteX1" y="connsiteY1"/>
              </a:cxn>
              <a:cxn ang="0">
                <a:pos x="connsiteX2" y="connsiteY2"/>
              </a:cxn>
              <a:cxn ang="0">
                <a:pos x="connsiteX3" y="connsiteY3"/>
              </a:cxn>
            </a:cxnLst>
            <a:rect l="l" t="t" r="r" b="b"/>
            <a:pathLst>
              <a:path w="3277054" h="3277053">
                <a:moveTo>
                  <a:pt x="0" y="0"/>
                </a:moveTo>
                <a:lnTo>
                  <a:pt x="0" y="3277054"/>
                </a:lnTo>
                <a:lnTo>
                  <a:pt x="3277054" y="0"/>
                </a:lnTo>
                <a:lnTo>
                  <a:pt x="0" y="0"/>
                </a:lnTo>
                <a:close/>
              </a:path>
            </a:pathLst>
          </a:custGeom>
          <a:gradFill>
            <a:gsLst>
              <a:gs pos="7000">
                <a:srgbClr val="4C53C8"/>
              </a:gs>
              <a:gs pos="100000">
                <a:srgbClr val="7198E7"/>
              </a:gs>
            </a:gsLst>
            <a:lin ang="18600000" scaled="0"/>
          </a:gradFill>
          <a:ln>
            <a:noFill/>
          </a:ln>
          <a:effectLst>
            <a:outerShdw blurRad="228600" dist="762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3" name="任意多边形: 形状 22"/>
          <p:cNvSpPr/>
          <p:nvPr userDrawn="1"/>
        </p:nvSpPr>
        <p:spPr>
          <a:xfrm>
            <a:off x="1" y="276848"/>
            <a:ext cx="1317714" cy="2635478"/>
          </a:xfrm>
          <a:custGeom>
            <a:avLst/>
            <a:gdLst>
              <a:gd name="connsiteX0" fmla="*/ 0 w 1969947"/>
              <a:gd name="connsiteY0" fmla="*/ 0 h 3939969"/>
              <a:gd name="connsiteX1" fmla="*/ 0 w 1969947"/>
              <a:gd name="connsiteY1" fmla="*/ 933817 h 3939969"/>
              <a:gd name="connsiteX2" fmla="*/ 1036130 w 1969947"/>
              <a:gd name="connsiteY2" fmla="*/ 1969948 h 3939969"/>
              <a:gd name="connsiteX3" fmla="*/ 0 w 1969947"/>
              <a:gd name="connsiteY3" fmla="*/ 3006152 h 3939969"/>
              <a:gd name="connsiteX4" fmla="*/ 0 w 1969947"/>
              <a:gd name="connsiteY4" fmla="*/ 3939970 h 3939969"/>
              <a:gd name="connsiteX5" fmla="*/ 1969948 w 1969947"/>
              <a:gd name="connsiteY5" fmla="*/ 1969948 h 3939969"/>
              <a:gd name="connsiteX6" fmla="*/ 0 w 1969947"/>
              <a:gd name="connsiteY6" fmla="*/ 0 h 3939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9947" h="3939969">
                <a:moveTo>
                  <a:pt x="0" y="0"/>
                </a:moveTo>
                <a:lnTo>
                  <a:pt x="0" y="933817"/>
                </a:lnTo>
                <a:lnTo>
                  <a:pt x="1036130" y="1969948"/>
                </a:lnTo>
                <a:lnTo>
                  <a:pt x="0" y="3006152"/>
                </a:lnTo>
                <a:lnTo>
                  <a:pt x="0" y="3939970"/>
                </a:lnTo>
                <a:lnTo>
                  <a:pt x="1969948" y="1969948"/>
                </a:lnTo>
                <a:lnTo>
                  <a:pt x="0" y="0"/>
                </a:lnTo>
                <a:close/>
              </a:path>
            </a:pathLst>
          </a:custGeom>
          <a:solidFill>
            <a:schemeClr val="bg1"/>
          </a:soli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4" name="任意多边形: 形状 23"/>
          <p:cNvSpPr/>
          <p:nvPr userDrawn="1"/>
        </p:nvSpPr>
        <p:spPr>
          <a:xfrm>
            <a:off x="10070566" y="4734560"/>
            <a:ext cx="2121433" cy="2121432"/>
          </a:xfrm>
          <a:custGeom>
            <a:avLst/>
            <a:gdLst>
              <a:gd name="connsiteX0" fmla="*/ 3277054 w 3277054"/>
              <a:gd name="connsiteY0" fmla="*/ 3277054 h 3277053"/>
              <a:gd name="connsiteX1" fmla="*/ 3277054 w 3277054"/>
              <a:gd name="connsiteY1" fmla="*/ 0 h 3277053"/>
              <a:gd name="connsiteX2" fmla="*/ 0 w 3277054"/>
              <a:gd name="connsiteY2" fmla="*/ 3277054 h 3277053"/>
              <a:gd name="connsiteX3" fmla="*/ 3277054 w 3277054"/>
              <a:gd name="connsiteY3" fmla="*/ 3277054 h 3277053"/>
            </a:gdLst>
            <a:ahLst/>
            <a:cxnLst>
              <a:cxn ang="0">
                <a:pos x="connsiteX0" y="connsiteY0"/>
              </a:cxn>
              <a:cxn ang="0">
                <a:pos x="connsiteX1" y="connsiteY1"/>
              </a:cxn>
              <a:cxn ang="0">
                <a:pos x="connsiteX2" y="connsiteY2"/>
              </a:cxn>
              <a:cxn ang="0">
                <a:pos x="connsiteX3" y="connsiteY3"/>
              </a:cxn>
            </a:cxnLst>
            <a:rect l="l" t="t" r="r" b="b"/>
            <a:pathLst>
              <a:path w="3277054" h="3277053">
                <a:moveTo>
                  <a:pt x="3277054" y="3277054"/>
                </a:moveTo>
                <a:lnTo>
                  <a:pt x="3277054" y="0"/>
                </a:lnTo>
                <a:lnTo>
                  <a:pt x="0" y="3277054"/>
                </a:lnTo>
                <a:lnTo>
                  <a:pt x="3277054" y="3277054"/>
                </a:lnTo>
                <a:close/>
              </a:path>
            </a:pathLst>
          </a:custGeom>
          <a:gradFill>
            <a:gsLst>
              <a:gs pos="7000">
                <a:srgbClr val="4C53C8"/>
              </a:gs>
              <a:gs pos="100000">
                <a:srgbClr val="7198E7"/>
              </a:gs>
            </a:gsLst>
            <a:lin ang="18600000" scaled="0"/>
          </a:gradFill>
          <a:ln>
            <a:noFill/>
          </a:ln>
          <a:effectLst>
            <a:outerShdw blurRad="228600" dist="762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5" name="任意多边形: 形状 24"/>
          <p:cNvSpPr/>
          <p:nvPr userDrawn="1"/>
        </p:nvSpPr>
        <p:spPr>
          <a:xfrm>
            <a:off x="10990284" y="4175760"/>
            <a:ext cx="1201716" cy="2403386"/>
          </a:xfrm>
          <a:custGeom>
            <a:avLst/>
            <a:gdLst>
              <a:gd name="connsiteX0" fmla="*/ 1970022 w 1970021"/>
              <a:gd name="connsiteY0" fmla="*/ 3939969 h 3939968"/>
              <a:gd name="connsiteX1" fmla="*/ 1970022 w 1970021"/>
              <a:gd name="connsiteY1" fmla="*/ 3006152 h 3939968"/>
              <a:gd name="connsiteX2" fmla="*/ 933817 w 1970021"/>
              <a:gd name="connsiteY2" fmla="*/ 1970022 h 3939968"/>
              <a:gd name="connsiteX3" fmla="*/ 1970022 w 1970021"/>
              <a:gd name="connsiteY3" fmla="*/ 933817 h 3939968"/>
              <a:gd name="connsiteX4" fmla="*/ 1970022 w 1970021"/>
              <a:gd name="connsiteY4" fmla="*/ 0 h 3939968"/>
              <a:gd name="connsiteX5" fmla="*/ 0 w 1970021"/>
              <a:gd name="connsiteY5" fmla="*/ 1970022 h 3939968"/>
              <a:gd name="connsiteX6" fmla="*/ 1970022 w 1970021"/>
              <a:gd name="connsiteY6" fmla="*/ 3939969 h 393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0021" h="3939968">
                <a:moveTo>
                  <a:pt x="1970022" y="3939969"/>
                </a:moveTo>
                <a:lnTo>
                  <a:pt x="1970022" y="3006152"/>
                </a:lnTo>
                <a:lnTo>
                  <a:pt x="933817" y="1970022"/>
                </a:lnTo>
                <a:lnTo>
                  <a:pt x="1970022" y="933817"/>
                </a:lnTo>
                <a:lnTo>
                  <a:pt x="1970022" y="0"/>
                </a:lnTo>
                <a:lnTo>
                  <a:pt x="0" y="1970022"/>
                </a:lnTo>
                <a:lnTo>
                  <a:pt x="1970022" y="3939969"/>
                </a:lnTo>
                <a:close/>
              </a:path>
            </a:pathLst>
          </a:custGeom>
          <a:solidFill>
            <a:schemeClr val="bg1"/>
          </a:soli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userDrawn="1"/>
        </p:nvSpPr>
        <p:spPr>
          <a:xfrm>
            <a:off x="10560050" y="1"/>
            <a:ext cx="1631950" cy="1631950"/>
          </a:xfrm>
          <a:custGeom>
            <a:avLst/>
            <a:gdLst>
              <a:gd name="connsiteX0" fmla="*/ 2224578 w 2224577"/>
              <a:gd name="connsiteY0" fmla="*/ 1426360 h 2224577"/>
              <a:gd name="connsiteX1" fmla="*/ 798143 w 2224577"/>
              <a:gd name="connsiteY1" fmla="*/ 0 h 2224577"/>
              <a:gd name="connsiteX2" fmla="*/ 0 w 2224577"/>
              <a:gd name="connsiteY2" fmla="*/ 0 h 2224577"/>
              <a:gd name="connsiteX3" fmla="*/ 2224578 w 2224577"/>
              <a:gd name="connsiteY3" fmla="*/ 2224578 h 2224577"/>
              <a:gd name="connsiteX4" fmla="*/ 2224578 w 2224577"/>
              <a:gd name="connsiteY4" fmla="*/ 1426360 h 222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4577" h="2224577">
                <a:moveTo>
                  <a:pt x="2224578" y="1426360"/>
                </a:moveTo>
                <a:lnTo>
                  <a:pt x="798143" y="0"/>
                </a:lnTo>
                <a:lnTo>
                  <a:pt x="0" y="0"/>
                </a:lnTo>
                <a:lnTo>
                  <a:pt x="2224578" y="2224578"/>
                </a:lnTo>
                <a:lnTo>
                  <a:pt x="2224578" y="1426360"/>
                </a:lnTo>
                <a:close/>
              </a:path>
            </a:pathLst>
          </a:custGeom>
          <a:solidFill>
            <a:srgbClr val="6C75F7">
              <a:alpha val="20000"/>
            </a:srgbClr>
          </a:solidFill>
          <a:ln w="7430" cap="flat">
            <a:noFill/>
            <a:prstDash val="solid"/>
            <a:miter/>
          </a:ln>
        </p:spPr>
        <p:txBody>
          <a:bodyPr rtlCol="0" anchor="ctr"/>
          <a:lstStyle/>
          <a:p>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矩形 3"/>
          <p:cNvSpPr/>
          <p:nvPr userDrawn="1"/>
        </p:nvSpPr>
        <p:spPr>
          <a:xfrm>
            <a:off x="0" y="6518380"/>
            <a:ext cx="12192000" cy="339620"/>
          </a:xfrm>
          <a:prstGeom prst="rect">
            <a:avLst/>
          </a:prstGeom>
          <a:solidFill>
            <a:srgbClr val="E8EB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任意多边形: 形状 1"/>
          <p:cNvSpPr/>
          <p:nvPr userDrawn="1"/>
        </p:nvSpPr>
        <p:spPr>
          <a:xfrm>
            <a:off x="0" y="5003801"/>
            <a:ext cx="1854199" cy="1854199"/>
          </a:xfrm>
          <a:custGeom>
            <a:avLst/>
            <a:gdLst>
              <a:gd name="connsiteX0" fmla="*/ 0 w 2224577"/>
              <a:gd name="connsiteY0" fmla="*/ 798143 h 2224577"/>
              <a:gd name="connsiteX1" fmla="*/ 1426360 w 2224577"/>
              <a:gd name="connsiteY1" fmla="*/ 2224578 h 2224577"/>
              <a:gd name="connsiteX2" fmla="*/ 2224578 w 2224577"/>
              <a:gd name="connsiteY2" fmla="*/ 2224578 h 2224577"/>
              <a:gd name="connsiteX3" fmla="*/ 0 w 2224577"/>
              <a:gd name="connsiteY3" fmla="*/ 0 h 2224577"/>
              <a:gd name="connsiteX4" fmla="*/ 0 w 2224577"/>
              <a:gd name="connsiteY4" fmla="*/ 798143 h 222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4577" h="2224577">
                <a:moveTo>
                  <a:pt x="0" y="798143"/>
                </a:moveTo>
                <a:lnTo>
                  <a:pt x="1426360" y="2224578"/>
                </a:lnTo>
                <a:lnTo>
                  <a:pt x="2224578" y="2224578"/>
                </a:lnTo>
                <a:lnTo>
                  <a:pt x="0" y="0"/>
                </a:lnTo>
                <a:lnTo>
                  <a:pt x="0" y="798143"/>
                </a:lnTo>
                <a:close/>
              </a:path>
            </a:pathLst>
          </a:custGeom>
          <a:solidFill>
            <a:srgbClr val="6C75F7">
              <a:alpha val="20000"/>
            </a:srgbClr>
          </a:solidFill>
          <a:ln w="7430" cap="flat">
            <a:noFill/>
            <a:prstDash val="solid"/>
            <a:miter/>
          </a:ln>
        </p:spPr>
        <p:txBody>
          <a:bodyPr rtlCol="0" anchor="ctr"/>
          <a:lstStyle/>
          <a:p>
            <a:endParaRPr lang="zh-CN" altLang="en-US"/>
          </a:p>
        </p:txBody>
      </p:sp>
      <p:grpSp>
        <p:nvGrpSpPr>
          <p:cNvPr id="3" name="组合 2"/>
          <p:cNvGrpSpPr/>
          <p:nvPr userDrawn="1"/>
        </p:nvGrpSpPr>
        <p:grpSpPr>
          <a:xfrm>
            <a:off x="1" y="1"/>
            <a:ext cx="3381350" cy="4241799"/>
            <a:chOff x="1" y="1"/>
            <a:chExt cx="2321560" cy="2912325"/>
          </a:xfrm>
        </p:grpSpPr>
        <p:sp>
          <p:nvSpPr>
            <p:cNvPr id="5" name="任意多边形: 形状 4"/>
            <p:cNvSpPr/>
            <p:nvPr/>
          </p:nvSpPr>
          <p:spPr>
            <a:xfrm>
              <a:off x="1" y="1"/>
              <a:ext cx="2321560" cy="2321559"/>
            </a:xfrm>
            <a:custGeom>
              <a:avLst/>
              <a:gdLst>
                <a:gd name="connsiteX0" fmla="*/ 0 w 3277054"/>
                <a:gd name="connsiteY0" fmla="*/ 0 h 3277053"/>
                <a:gd name="connsiteX1" fmla="*/ 0 w 3277054"/>
                <a:gd name="connsiteY1" fmla="*/ 3277054 h 3277053"/>
                <a:gd name="connsiteX2" fmla="*/ 3277054 w 3277054"/>
                <a:gd name="connsiteY2" fmla="*/ 0 h 3277053"/>
                <a:gd name="connsiteX3" fmla="*/ 0 w 3277054"/>
                <a:gd name="connsiteY3" fmla="*/ 0 h 3277053"/>
              </a:gdLst>
              <a:ahLst/>
              <a:cxnLst>
                <a:cxn ang="0">
                  <a:pos x="connsiteX0" y="connsiteY0"/>
                </a:cxn>
                <a:cxn ang="0">
                  <a:pos x="connsiteX1" y="connsiteY1"/>
                </a:cxn>
                <a:cxn ang="0">
                  <a:pos x="connsiteX2" y="connsiteY2"/>
                </a:cxn>
                <a:cxn ang="0">
                  <a:pos x="connsiteX3" y="connsiteY3"/>
                </a:cxn>
              </a:cxnLst>
              <a:rect l="l" t="t" r="r" b="b"/>
              <a:pathLst>
                <a:path w="3277054" h="3277053">
                  <a:moveTo>
                    <a:pt x="0" y="0"/>
                  </a:moveTo>
                  <a:lnTo>
                    <a:pt x="0" y="3277054"/>
                  </a:lnTo>
                  <a:lnTo>
                    <a:pt x="3277054" y="0"/>
                  </a:lnTo>
                  <a:lnTo>
                    <a:pt x="0" y="0"/>
                  </a:lnTo>
                  <a:close/>
                </a:path>
              </a:pathLst>
            </a:custGeom>
            <a:gradFill>
              <a:gsLst>
                <a:gs pos="7000">
                  <a:srgbClr val="4C53C8"/>
                </a:gs>
                <a:gs pos="100000">
                  <a:srgbClr val="7198E7"/>
                </a:gs>
              </a:gsLst>
              <a:lin ang="18600000" scaled="0"/>
            </a:gradFill>
            <a:ln>
              <a:noFill/>
            </a:ln>
            <a:effectLst>
              <a:outerShdw blurRad="228600" dist="762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6" name="任意多边形: 形状 5"/>
            <p:cNvSpPr/>
            <p:nvPr/>
          </p:nvSpPr>
          <p:spPr>
            <a:xfrm>
              <a:off x="1" y="276848"/>
              <a:ext cx="1317714" cy="2635478"/>
            </a:xfrm>
            <a:custGeom>
              <a:avLst/>
              <a:gdLst>
                <a:gd name="connsiteX0" fmla="*/ 0 w 1969947"/>
                <a:gd name="connsiteY0" fmla="*/ 0 h 3939969"/>
                <a:gd name="connsiteX1" fmla="*/ 0 w 1969947"/>
                <a:gd name="connsiteY1" fmla="*/ 933817 h 3939969"/>
                <a:gd name="connsiteX2" fmla="*/ 1036130 w 1969947"/>
                <a:gd name="connsiteY2" fmla="*/ 1969948 h 3939969"/>
                <a:gd name="connsiteX3" fmla="*/ 0 w 1969947"/>
                <a:gd name="connsiteY3" fmla="*/ 3006152 h 3939969"/>
                <a:gd name="connsiteX4" fmla="*/ 0 w 1969947"/>
                <a:gd name="connsiteY4" fmla="*/ 3939970 h 3939969"/>
                <a:gd name="connsiteX5" fmla="*/ 1969948 w 1969947"/>
                <a:gd name="connsiteY5" fmla="*/ 1969948 h 3939969"/>
                <a:gd name="connsiteX6" fmla="*/ 0 w 1969947"/>
                <a:gd name="connsiteY6" fmla="*/ 0 h 3939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9947" h="3939969">
                  <a:moveTo>
                    <a:pt x="0" y="0"/>
                  </a:moveTo>
                  <a:lnTo>
                    <a:pt x="0" y="933817"/>
                  </a:lnTo>
                  <a:lnTo>
                    <a:pt x="1036130" y="1969948"/>
                  </a:lnTo>
                  <a:lnTo>
                    <a:pt x="0" y="3006152"/>
                  </a:lnTo>
                  <a:lnTo>
                    <a:pt x="0" y="3939970"/>
                  </a:lnTo>
                  <a:lnTo>
                    <a:pt x="1969948" y="1969948"/>
                  </a:lnTo>
                  <a:lnTo>
                    <a:pt x="0" y="0"/>
                  </a:lnTo>
                  <a:close/>
                </a:path>
              </a:pathLst>
            </a:custGeom>
            <a:solidFill>
              <a:schemeClr val="bg1"/>
            </a:soli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grpSp>
        <p:nvGrpSpPr>
          <p:cNvPr id="7" name="组合 6"/>
          <p:cNvGrpSpPr/>
          <p:nvPr userDrawn="1"/>
        </p:nvGrpSpPr>
        <p:grpSpPr>
          <a:xfrm>
            <a:off x="8841182" y="2622550"/>
            <a:ext cx="3350817" cy="4233442"/>
            <a:chOff x="10070566" y="4175760"/>
            <a:chExt cx="2121434" cy="2680232"/>
          </a:xfrm>
        </p:grpSpPr>
        <p:sp>
          <p:nvSpPr>
            <p:cNvPr id="8" name="任意多边形: 形状 7"/>
            <p:cNvSpPr/>
            <p:nvPr/>
          </p:nvSpPr>
          <p:spPr>
            <a:xfrm>
              <a:off x="10070566" y="4734560"/>
              <a:ext cx="2121433" cy="2121432"/>
            </a:xfrm>
            <a:custGeom>
              <a:avLst/>
              <a:gdLst>
                <a:gd name="connsiteX0" fmla="*/ 3277054 w 3277054"/>
                <a:gd name="connsiteY0" fmla="*/ 3277054 h 3277053"/>
                <a:gd name="connsiteX1" fmla="*/ 3277054 w 3277054"/>
                <a:gd name="connsiteY1" fmla="*/ 0 h 3277053"/>
                <a:gd name="connsiteX2" fmla="*/ 0 w 3277054"/>
                <a:gd name="connsiteY2" fmla="*/ 3277054 h 3277053"/>
                <a:gd name="connsiteX3" fmla="*/ 3277054 w 3277054"/>
                <a:gd name="connsiteY3" fmla="*/ 3277054 h 3277053"/>
              </a:gdLst>
              <a:ahLst/>
              <a:cxnLst>
                <a:cxn ang="0">
                  <a:pos x="connsiteX0" y="connsiteY0"/>
                </a:cxn>
                <a:cxn ang="0">
                  <a:pos x="connsiteX1" y="connsiteY1"/>
                </a:cxn>
                <a:cxn ang="0">
                  <a:pos x="connsiteX2" y="connsiteY2"/>
                </a:cxn>
                <a:cxn ang="0">
                  <a:pos x="connsiteX3" y="connsiteY3"/>
                </a:cxn>
              </a:cxnLst>
              <a:rect l="l" t="t" r="r" b="b"/>
              <a:pathLst>
                <a:path w="3277054" h="3277053">
                  <a:moveTo>
                    <a:pt x="3277054" y="3277054"/>
                  </a:moveTo>
                  <a:lnTo>
                    <a:pt x="3277054" y="0"/>
                  </a:lnTo>
                  <a:lnTo>
                    <a:pt x="0" y="3277054"/>
                  </a:lnTo>
                  <a:lnTo>
                    <a:pt x="3277054" y="3277054"/>
                  </a:lnTo>
                  <a:close/>
                </a:path>
              </a:pathLst>
            </a:custGeom>
            <a:gradFill>
              <a:gsLst>
                <a:gs pos="7000">
                  <a:srgbClr val="4C53C8"/>
                </a:gs>
                <a:gs pos="100000">
                  <a:srgbClr val="7198E7"/>
                </a:gs>
              </a:gsLst>
              <a:lin ang="18600000" scaled="0"/>
            </a:gradFill>
            <a:ln>
              <a:noFill/>
            </a:ln>
            <a:effectLst>
              <a:outerShdw blurRad="228600" dist="762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9" name="任意多边形: 形状 8"/>
            <p:cNvSpPr/>
            <p:nvPr/>
          </p:nvSpPr>
          <p:spPr>
            <a:xfrm>
              <a:off x="10990284" y="4175760"/>
              <a:ext cx="1201716" cy="2403386"/>
            </a:xfrm>
            <a:custGeom>
              <a:avLst/>
              <a:gdLst>
                <a:gd name="connsiteX0" fmla="*/ 1970022 w 1970021"/>
                <a:gd name="connsiteY0" fmla="*/ 3939969 h 3939968"/>
                <a:gd name="connsiteX1" fmla="*/ 1970022 w 1970021"/>
                <a:gd name="connsiteY1" fmla="*/ 3006152 h 3939968"/>
                <a:gd name="connsiteX2" fmla="*/ 933817 w 1970021"/>
                <a:gd name="connsiteY2" fmla="*/ 1970022 h 3939968"/>
                <a:gd name="connsiteX3" fmla="*/ 1970022 w 1970021"/>
                <a:gd name="connsiteY3" fmla="*/ 933817 h 3939968"/>
                <a:gd name="connsiteX4" fmla="*/ 1970022 w 1970021"/>
                <a:gd name="connsiteY4" fmla="*/ 0 h 3939968"/>
                <a:gd name="connsiteX5" fmla="*/ 0 w 1970021"/>
                <a:gd name="connsiteY5" fmla="*/ 1970022 h 3939968"/>
                <a:gd name="connsiteX6" fmla="*/ 1970022 w 1970021"/>
                <a:gd name="connsiteY6" fmla="*/ 3939969 h 393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0021" h="3939968">
                  <a:moveTo>
                    <a:pt x="1970022" y="3939969"/>
                  </a:moveTo>
                  <a:lnTo>
                    <a:pt x="1970022" y="3006152"/>
                  </a:lnTo>
                  <a:lnTo>
                    <a:pt x="933817" y="1970022"/>
                  </a:lnTo>
                  <a:lnTo>
                    <a:pt x="1970022" y="933817"/>
                  </a:lnTo>
                  <a:lnTo>
                    <a:pt x="1970022" y="0"/>
                  </a:lnTo>
                  <a:lnTo>
                    <a:pt x="0" y="1970022"/>
                  </a:lnTo>
                  <a:lnTo>
                    <a:pt x="1970022" y="3939969"/>
                  </a:lnTo>
                  <a:close/>
                </a:path>
              </a:pathLst>
            </a:custGeom>
            <a:solidFill>
              <a:schemeClr val="bg1"/>
            </a:soli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任意多边形: 形状 9"/>
          <p:cNvSpPr/>
          <p:nvPr userDrawn="1"/>
        </p:nvSpPr>
        <p:spPr>
          <a:xfrm>
            <a:off x="10274300" y="1"/>
            <a:ext cx="1917700" cy="1917700"/>
          </a:xfrm>
          <a:custGeom>
            <a:avLst/>
            <a:gdLst>
              <a:gd name="connsiteX0" fmla="*/ 2224578 w 2224577"/>
              <a:gd name="connsiteY0" fmla="*/ 1426360 h 2224577"/>
              <a:gd name="connsiteX1" fmla="*/ 798143 w 2224577"/>
              <a:gd name="connsiteY1" fmla="*/ 0 h 2224577"/>
              <a:gd name="connsiteX2" fmla="*/ 0 w 2224577"/>
              <a:gd name="connsiteY2" fmla="*/ 0 h 2224577"/>
              <a:gd name="connsiteX3" fmla="*/ 2224578 w 2224577"/>
              <a:gd name="connsiteY3" fmla="*/ 2224578 h 2224577"/>
              <a:gd name="connsiteX4" fmla="*/ 2224578 w 2224577"/>
              <a:gd name="connsiteY4" fmla="*/ 1426360 h 222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4577" h="2224577">
                <a:moveTo>
                  <a:pt x="2224578" y="1426360"/>
                </a:moveTo>
                <a:lnTo>
                  <a:pt x="798143" y="0"/>
                </a:lnTo>
                <a:lnTo>
                  <a:pt x="0" y="0"/>
                </a:lnTo>
                <a:lnTo>
                  <a:pt x="2224578" y="2224578"/>
                </a:lnTo>
                <a:lnTo>
                  <a:pt x="2224578" y="1426360"/>
                </a:lnTo>
                <a:close/>
              </a:path>
            </a:pathLst>
          </a:custGeom>
          <a:solidFill>
            <a:srgbClr val="6C75F7">
              <a:alpha val="20000"/>
            </a:srgbClr>
          </a:solidFill>
          <a:ln w="7430" cap="flat">
            <a:noFill/>
            <a:prstDash val="solid"/>
            <a:miter/>
          </a:ln>
        </p:spPr>
        <p:txBody>
          <a:bodyPr rtlCol="0" anchor="ctr"/>
          <a:lstStyle/>
          <a:p>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矩形 3"/>
          <p:cNvSpPr/>
          <p:nvPr userDrawn="1"/>
        </p:nvSpPr>
        <p:spPr>
          <a:xfrm>
            <a:off x="0" y="6604000"/>
            <a:ext cx="12192000" cy="254000"/>
          </a:xfrm>
          <a:prstGeom prst="rect">
            <a:avLst/>
          </a:prstGeom>
          <a:solidFill>
            <a:srgbClr val="E8EB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自定义版式">
    <p:bg>
      <p:bgPr>
        <a:solidFill>
          <a:schemeClr val="bg1"/>
        </a:solidFill>
        <a:effectLst/>
      </p:bgPr>
    </p:bg>
    <p:spTree>
      <p:nvGrpSpPr>
        <p:cNvPr id="1" name=""/>
        <p:cNvGrpSpPr/>
        <p:nvPr/>
      </p:nvGrpSpPr>
      <p:grpSpPr>
        <a:xfrm>
          <a:off x="0" y="0"/>
          <a:ext cx="0" cy="0"/>
          <a:chOff x="0" y="0"/>
          <a:chExt cx="0" cy="0"/>
        </a:xfrm>
      </p:grpSpPr>
      <p:grpSp>
        <p:nvGrpSpPr>
          <p:cNvPr id="3" name="组合 2"/>
          <p:cNvGrpSpPr/>
          <p:nvPr userDrawn="1"/>
        </p:nvGrpSpPr>
        <p:grpSpPr>
          <a:xfrm>
            <a:off x="807247" y="3092887"/>
            <a:ext cx="3513983" cy="1204794"/>
            <a:chOff x="870547" y="7238685"/>
            <a:chExt cx="3333750" cy="1143000"/>
          </a:xfrm>
        </p:grpSpPr>
        <p:grpSp>
          <p:nvGrpSpPr>
            <p:cNvPr id="4" name="组合 3" descr="51PPT模板网，幻灯片演示模板及素材免费下载！&#10;51PPT模板网 唯一访问网址：www.51pptmoban.com"/>
            <p:cNvGrpSpPr/>
            <p:nvPr userDrawn="1"/>
          </p:nvGrpSpPr>
          <p:grpSpPr>
            <a:xfrm>
              <a:off x="1089945" y="7419206"/>
              <a:ext cx="2824283" cy="781959"/>
              <a:chOff x="1086173" y="3300162"/>
              <a:chExt cx="2824283" cy="781959"/>
            </a:xfrm>
          </p:grpSpPr>
          <p:sp>
            <p:nvSpPr>
              <p:cNvPr id="6" name="任意多边形: 形状 5"/>
              <p:cNvSpPr/>
              <p:nvPr userDrawn="1"/>
            </p:nvSpPr>
            <p:spPr>
              <a:xfrm>
                <a:off x="2111882" y="3451828"/>
                <a:ext cx="250109" cy="332432"/>
              </a:xfrm>
              <a:custGeom>
                <a:avLst/>
                <a:gdLst>
                  <a:gd name="connsiteX0" fmla="*/ 79937 w 250109"/>
                  <a:gd name="connsiteY0" fmla="*/ 159025 h 332432"/>
                  <a:gd name="connsiteX1" fmla="*/ 79937 w 250109"/>
                  <a:gd name="connsiteY1" fmla="*/ 62949 h 332432"/>
                  <a:gd name="connsiteX2" fmla="*/ 112574 w 250109"/>
                  <a:gd name="connsiteY2" fmla="*/ 62949 h 332432"/>
                  <a:gd name="connsiteX3" fmla="*/ 156891 w 250109"/>
                  <a:gd name="connsiteY3" fmla="*/ 72996 h 332432"/>
                  <a:gd name="connsiteX4" fmla="*/ 172401 w 250109"/>
                  <a:gd name="connsiteY4" fmla="*/ 108130 h 332432"/>
                  <a:gd name="connsiteX5" fmla="*/ 158257 w 250109"/>
                  <a:gd name="connsiteY5" fmla="*/ 145870 h 332432"/>
                  <a:gd name="connsiteX6" fmla="*/ 114820 w 250109"/>
                  <a:gd name="connsiteY6" fmla="*/ 159025 h 332432"/>
                  <a:gd name="connsiteX7" fmla="*/ 79937 w 250109"/>
                  <a:gd name="connsiteY7" fmla="*/ 159025 h 332432"/>
                  <a:gd name="connsiteX8" fmla="*/ 0 w 250109"/>
                  <a:gd name="connsiteY8" fmla="*/ 332433 h 332432"/>
                  <a:gd name="connsiteX9" fmla="*/ 79937 w 250109"/>
                  <a:gd name="connsiteY9" fmla="*/ 332433 h 332432"/>
                  <a:gd name="connsiteX10" fmla="*/ 79937 w 250109"/>
                  <a:gd name="connsiteY10" fmla="*/ 222087 h 332432"/>
                  <a:gd name="connsiteX11" fmla="*/ 118792 w 250109"/>
                  <a:gd name="connsiteY11" fmla="*/ 222087 h 332432"/>
                  <a:gd name="connsiteX12" fmla="*/ 184082 w 250109"/>
                  <a:gd name="connsiteY12" fmla="*/ 210047 h 332432"/>
                  <a:gd name="connsiteX13" fmla="*/ 231743 w 250109"/>
                  <a:gd name="connsiteY13" fmla="*/ 172810 h 332432"/>
                  <a:gd name="connsiteX14" fmla="*/ 250110 w 250109"/>
                  <a:gd name="connsiteY14" fmla="*/ 108148 h 332432"/>
                  <a:gd name="connsiteX15" fmla="*/ 231869 w 250109"/>
                  <a:gd name="connsiteY15" fmla="*/ 43594 h 332432"/>
                  <a:gd name="connsiteX16" fmla="*/ 183831 w 250109"/>
                  <a:gd name="connsiteY16" fmla="*/ 9700 h 332432"/>
                  <a:gd name="connsiteX17" fmla="*/ 116563 w 250109"/>
                  <a:gd name="connsiteY17" fmla="*/ 13 h 332432"/>
                  <a:gd name="connsiteX18" fmla="*/ 0 w 250109"/>
                  <a:gd name="connsiteY18" fmla="*/ 13 h 332432"/>
                  <a:gd name="connsiteX19" fmla="*/ 0 w 250109"/>
                  <a:gd name="connsiteY19" fmla="*/ 332433 h 332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0109" h="332432">
                    <a:moveTo>
                      <a:pt x="79937" y="159025"/>
                    </a:moveTo>
                    <a:lnTo>
                      <a:pt x="79937" y="62949"/>
                    </a:lnTo>
                    <a:lnTo>
                      <a:pt x="112574" y="62949"/>
                    </a:lnTo>
                    <a:cubicBezTo>
                      <a:pt x="131821" y="62698"/>
                      <a:pt x="146702" y="66059"/>
                      <a:pt x="156891" y="72996"/>
                    </a:cubicBezTo>
                    <a:cubicBezTo>
                      <a:pt x="167189" y="79825"/>
                      <a:pt x="172401" y="91488"/>
                      <a:pt x="172401" y="108130"/>
                    </a:cubicBezTo>
                    <a:cubicBezTo>
                      <a:pt x="172527" y="124520"/>
                      <a:pt x="167692" y="137046"/>
                      <a:pt x="158257" y="145870"/>
                    </a:cubicBezTo>
                    <a:cubicBezTo>
                      <a:pt x="148696" y="154550"/>
                      <a:pt x="134175" y="159025"/>
                      <a:pt x="114820" y="159025"/>
                    </a:cubicBezTo>
                    <a:lnTo>
                      <a:pt x="79937" y="159025"/>
                    </a:lnTo>
                    <a:close/>
                    <a:moveTo>
                      <a:pt x="0" y="332433"/>
                    </a:moveTo>
                    <a:lnTo>
                      <a:pt x="79937" y="332433"/>
                    </a:lnTo>
                    <a:lnTo>
                      <a:pt x="79937" y="222087"/>
                    </a:lnTo>
                    <a:lnTo>
                      <a:pt x="118792" y="222087"/>
                    </a:lnTo>
                    <a:cubicBezTo>
                      <a:pt x="142496" y="222087"/>
                      <a:pt x="164224" y="218116"/>
                      <a:pt x="184082" y="210047"/>
                    </a:cubicBezTo>
                    <a:cubicBezTo>
                      <a:pt x="203815" y="202103"/>
                      <a:pt x="219702" y="189559"/>
                      <a:pt x="231743" y="172810"/>
                    </a:cubicBezTo>
                    <a:cubicBezTo>
                      <a:pt x="243658" y="155934"/>
                      <a:pt x="249858" y="134458"/>
                      <a:pt x="250110" y="108148"/>
                    </a:cubicBezTo>
                    <a:cubicBezTo>
                      <a:pt x="249858" y="80957"/>
                      <a:pt x="243784" y="59373"/>
                      <a:pt x="231869" y="43594"/>
                    </a:cubicBezTo>
                    <a:cubicBezTo>
                      <a:pt x="219828" y="27707"/>
                      <a:pt x="203815" y="16403"/>
                      <a:pt x="183831" y="9700"/>
                    </a:cubicBezTo>
                    <a:cubicBezTo>
                      <a:pt x="163721" y="3122"/>
                      <a:pt x="141256" y="-238"/>
                      <a:pt x="116563" y="13"/>
                    </a:cubicBezTo>
                    <a:lnTo>
                      <a:pt x="0" y="13"/>
                    </a:lnTo>
                    <a:lnTo>
                      <a:pt x="0" y="332433"/>
                    </a:lnTo>
                    <a:close/>
                  </a:path>
                </a:pathLst>
              </a:custGeom>
              <a:solidFill>
                <a:srgbClr val="000000"/>
              </a:solidFill>
              <a:ln w="1794" cap="flat">
                <a:noFill/>
                <a:prstDash val="solid"/>
                <a:miter/>
              </a:ln>
            </p:spPr>
            <p:txBody>
              <a:bodyPr rtlCol="0" anchor="ctr"/>
              <a:lstStyle/>
              <a:p>
                <a:endParaRPr lang="zh-CN" altLang="en-US"/>
              </a:p>
            </p:txBody>
          </p:sp>
          <p:sp>
            <p:nvSpPr>
              <p:cNvPr id="7" name="任意多边形: 形状 6"/>
              <p:cNvSpPr/>
              <p:nvPr userDrawn="1"/>
            </p:nvSpPr>
            <p:spPr>
              <a:xfrm>
                <a:off x="2426959" y="3451828"/>
                <a:ext cx="250109" cy="332432"/>
              </a:xfrm>
              <a:custGeom>
                <a:avLst/>
                <a:gdLst>
                  <a:gd name="connsiteX0" fmla="*/ 79937 w 250109"/>
                  <a:gd name="connsiteY0" fmla="*/ 159025 h 332432"/>
                  <a:gd name="connsiteX1" fmla="*/ 79937 w 250109"/>
                  <a:gd name="connsiteY1" fmla="*/ 62949 h 332432"/>
                  <a:gd name="connsiteX2" fmla="*/ 112574 w 250109"/>
                  <a:gd name="connsiteY2" fmla="*/ 62949 h 332432"/>
                  <a:gd name="connsiteX3" fmla="*/ 156891 w 250109"/>
                  <a:gd name="connsiteY3" fmla="*/ 72996 h 332432"/>
                  <a:gd name="connsiteX4" fmla="*/ 172401 w 250109"/>
                  <a:gd name="connsiteY4" fmla="*/ 108130 h 332432"/>
                  <a:gd name="connsiteX5" fmla="*/ 158257 w 250109"/>
                  <a:gd name="connsiteY5" fmla="*/ 145870 h 332432"/>
                  <a:gd name="connsiteX6" fmla="*/ 114820 w 250109"/>
                  <a:gd name="connsiteY6" fmla="*/ 159025 h 332432"/>
                  <a:gd name="connsiteX7" fmla="*/ 79937 w 250109"/>
                  <a:gd name="connsiteY7" fmla="*/ 159025 h 332432"/>
                  <a:gd name="connsiteX8" fmla="*/ 0 w 250109"/>
                  <a:gd name="connsiteY8" fmla="*/ 332433 h 332432"/>
                  <a:gd name="connsiteX9" fmla="*/ 79937 w 250109"/>
                  <a:gd name="connsiteY9" fmla="*/ 332433 h 332432"/>
                  <a:gd name="connsiteX10" fmla="*/ 79937 w 250109"/>
                  <a:gd name="connsiteY10" fmla="*/ 222087 h 332432"/>
                  <a:gd name="connsiteX11" fmla="*/ 118792 w 250109"/>
                  <a:gd name="connsiteY11" fmla="*/ 222087 h 332432"/>
                  <a:gd name="connsiteX12" fmla="*/ 184082 w 250109"/>
                  <a:gd name="connsiteY12" fmla="*/ 210047 h 332432"/>
                  <a:gd name="connsiteX13" fmla="*/ 231743 w 250109"/>
                  <a:gd name="connsiteY13" fmla="*/ 172810 h 332432"/>
                  <a:gd name="connsiteX14" fmla="*/ 250110 w 250109"/>
                  <a:gd name="connsiteY14" fmla="*/ 108148 h 332432"/>
                  <a:gd name="connsiteX15" fmla="*/ 231869 w 250109"/>
                  <a:gd name="connsiteY15" fmla="*/ 43594 h 332432"/>
                  <a:gd name="connsiteX16" fmla="*/ 183831 w 250109"/>
                  <a:gd name="connsiteY16" fmla="*/ 9700 h 332432"/>
                  <a:gd name="connsiteX17" fmla="*/ 116563 w 250109"/>
                  <a:gd name="connsiteY17" fmla="*/ 13 h 332432"/>
                  <a:gd name="connsiteX18" fmla="*/ 0 w 250109"/>
                  <a:gd name="connsiteY18" fmla="*/ 13 h 332432"/>
                  <a:gd name="connsiteX19" fmla="*/ 0 w 250109"/>
                  <a:gd name="connsiteY19" fmla="*/ 332433 h 332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0109" h="332432">
                    <a:moveTo>
                      <a:pt x="79937" y="159025"/>
                    </a:moveTo>
                    <a:lnTo>
                      <a:pt x="79937" y="62949"/>
                    </a:lnTo>
                    <a:lnTo>
                      <a:pt x="112574" y="62949"/>
                    </a:lnTo>
                    <a:cubicBezTo>
                      <a:pt x="131821" y="62698"/>
                      <a:pt x="146702" y="66059"/>
                      <a:pt x="156891" y="72996"/>
                    </a:cubicBezTo>
                    <a:cubicBezTo>
                      <a:pt x="167189" y="79825"/>
                      <a:pt x="172401" y="91488"/>
                      <a:pt x="172401" y="108130"/>
                    </a:cubicBezTo>
                    <a:cubicBezTo>
                      <a:pt x="172527" y="124520"/>
                      <a:pt x="167692" y="137046"/>
                      <a:pt x="158257" y="145870"/>
                    </a:cubicBezTo>
                    <a:cubicBezTo>
                      <a:pt x="148696" y="154550"/>
                      <a:pt x="134175" y="159025"/>
                      <a:pt x="114820" y="159025"/>
                    </a:cubicBezTo>
                    <a:lnTo>
                      <a:pt x="79937" y="159025"/>
                    </a:lnTo>
                    <a:close/>
                    <a:moveTo>
                      <a:pt x="0" y="332433"/>
                    </a:moveTo>
                    <a:lnTo>
                      <a:pt x="79937" y="332433"/>
                    </a:lnTo>
                    <a:lnTo>
                      <a:pt x="79937" y="222087"/>
                    </a:lnTo>
                    <a:lnTo>
                      <a:pt x="118792" y="222087"/>
                    </a:lnTo>
                    <a:cubicBezTo>
                      <a:pt x="142496" y="222087"/>
                      <a:pt x="164224" y="218116"/>
                      <a:pt x="184082" y="210047"/>
                    </a:cubicBezTo>
                    <a:cubicBezTo>
                      <a:pt x="203815" y="202103"/>
                      <a:pt x="219702" y="189559"/>
                      <a:pt x="231743" y="172810"/>
                    </a:cubicBezTo>
                    <a:cubicBezTo>
                      <a:pt x="243658" y="155934"/>
                      <a:pt x="249858" y="134458"/>
                      <a:pt x="250110" y="108148"/>
                    </a:cubicBezTo>
                    <a:cubicBezTo>
                      <a:pt x="249858" y="80957"/>
                      <a:pt x="243784" y="59373"/>
                      <a:pt x="231869" y="43594"/>
                    </a:cubicBezTo>
                    <a:cubicBezTo>
                      <a:pt x="219828" y="27707"/>
                      <a:pt x="203815" y="16403"/>
                      <a:pt x="183831" y="9700"/>
                    </a:cubicBezTo>
                    <a:cubicBezTo>
                      <a:pt x="163721" y="3122"/>
                      <a:pt x="141256" y="-238"/>
                      <a:pt x="116563" y="13"/>
                    </a:cubicBezTo>
                    <a:lnTo>
                      <a:pt x="0" y="13"/>
                    </a:lnTo>
                    <a:lnTo>
                      <a:pt x="0" y="332433"/>
                    </a:lnTo>
                    <a:close/>
                  </a:path>
                </a:pathLst>
              </a:custGeom>
              <a:solidFill>
                <a:srgbClr val="000000"/>
              </a:solidFill>
              <a:ln w="1794" cap="flat">
                <a:noFill/>
                <a:prstDash val="solid"/>
                <a:miter/>
              </a:ln>
            </p:spPr>
            <p:txBody>
              <a:bodyPr rtlCol="0" anchor="ctr"/>
              <a:lstStyle/>
              <a:p>
                <a:endParaRPr lang="zh-CN" altLang="en-US"/>
              </a:p>
            </p:txBody>
          </p:sp>
          <p:sp>
            <p:nvSpPr>
              <p:cNvPr id="8" name="任意多边形: 形状 7"/>
              <p:cNvSpPr/>
              <p:nvPr userDrawn="1"/>
            </p:nvSpPr>
            <p:spPr>
              <a:xfrm>
                <a:off x="2713715" y="3451841"/>
                <a:ext cx="259922" cy="332419"/>
              </a:xfrm>
              <a:custGeom>
                <a:avLst/>
                <a:gdLst>
                  <a:gd name="connsiteX0" fmla="*/ 89732 w 259922"/>
                  <a:gd name="connsiteY0" fmla="*/ 332420 h 332419"/>
                  <a:gd name="connsiteX1" fmla="*/ 169669 w 259922"/>
                  <a:gd name="connsiteY1" fmla="*/ 332420 h 332419"/>
                  <a:gd name="connsiteX2" fmla="*/ 169669 w 259922"/>
                  <a:gd name="connsiteY2" fmla="*/ 66045 h 332419"/>
                  <a:gd name="connsiteX3" fmla="*/ 259922 w 259922"/>
                  <a:gd name="connsiteY3" fmla="*/ 66045 h 332419"/>
                  <a:gd name="connsiteX4" fmla="*/ 259922 w 259922"/>
                  <a:gd name="connsiteY4" fmla="*/ 0 h 332419"/>
                  <a:gd name="connsiteX5" fmla="*/ 0 w 259922"/>
                  <a:gd name="connsiteY5" fmla="*/ 0 h 332419"/>
                  <a:gd name="connsiteX6" fmla="*/ 0 w 259922"/>
                  <a:gd name="connsiteY6" fmla="*/ 66045 h 332419"/>
                  <a:gd name="connsiteX7" fmla="*/ 89732 w 259922"/>
                  <a:gd name="connsiteY7" fmla="*/ 66045 h 332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9922" h="332419">
                    <a:moveTo>
                      <a:pt x="89732" y="332420"/>
                    </a:moveTo>
                    <a:lnTo>
                      <a:pt x="169669" y="332420"/>
                    </a:lnTo>
                    <a:lnTo>
                      <a:pt x="169669" y="66045"/>
                    </a:lnTo>
                    <a:lnTo>
                      <a:pt x="259922" y="66045"/>
                    </a:lnTo>
                    <a:lnTo>
                      <a:pt x="259922" y="0"/>
                    </a:lnTo>
                    <a:lnTo>
                      <a:pt x="0" y="0"/>
                    </a:lnTo>
                    <a:lnTo>
                      <a:pt x="0" y="66045"/>
                    </a:lnTo>
                    <a:lnTo>
                      <a:pt x="89732" y="66045"/>
                    </a:lnTo>
                    <a:close/>
                  </a:path>
                </a:pathLst>
              </a:custGeom>
              <a:solidFill>
                <a:srgbClr val="000000"/>
              </a:solidFill>
              <a:ln w="1794" cap="flat">
                <a:noFill/>
                <a:prstDash val="solid"/>
                <a:miter/>
              </a:ln>
            </p:spPr>
            <p:txBody>
              <a:bodyPr rtlCol="0" anchor="ctr"/>
              <a:lstStyle/>
              <a:p>
                <a:endParaRPr lang="zh-CN" altLang="en-US"/>
              </a:p>
            </p:txBody>
          </p:sp>
          <p:sp>
            <p:nvSpPr>
              <p:cNvPr id="9" name="任意多边形: 形状 8"/>
              <p:cNvSpPr/>
              <p:nvPr userDrawn="1"/>
            </p:nvSpPr>
            <p:spPr>
              <a:xfrm>
                <a:off x="3026743" y="3420175"/>
                <a:ext cx="399147" cy="388526"/>
              </a:xfrm>
              <a:custGeom>
                <a:avLst/>
                <a:gdLst>
                  <a:gd name="connsiteX0" fmla="*/ 387323 w 399147"/>
                  <a:gd name="connsiteY0" fmla="*/ 305498 h 388526"/>
                  <a:gd name="connsiteX1" fmla="*/ 387323 w 399147"/>
                  <a:gd name="connsiteY1" fmla="*/ 257334 h 388526"/>
                  <a:gd name="connsiteX2" fmla="*/ 291211 w 399147"/>
                  <a:gd name="connsiteY2" fmla="*/ 257334 h 388526"/>
                  <a:gd name="connsiteX3" fmla="*/ 292235 w 399147"/>
                  <a:gd name="connsiteY3" fmla="*/ 248475 h 388526"/>
                  <a:gd name="connsiteX4" fmla="*/ 293260 w 399147"/>
                  <a:gd name="connsiteY4" fmla="*/ 239273 h 388526"/>
                  <a:gd name="connsiteX5" fmla="*/ 367212 w 399147"/>
                  <a:gd name="connsiteY5" fmla="*/ 239273 h 388526"/>
                  <a:gd name="connsiteX6" fmla="*/ 367212 w 399147"/>
                  <a:gd name="connsiteY6" fmla="*/ 98628 h 388526"/>
                  <a:gd name="connsiteX7" fmla="*/ 159084 w 399147"/>
                  <a:gd name="connsiteY7" fmla="*/ 98628 h 388526"/>
                  <a:gd name="connsiteX8" fmla="*/ 159084 w 399147"/>
                  <a:gd name="connsiteY8" fmla="*/ 239273 h 388526"/>
                  <a:gd name="connsiteX9" fmla="*/ 235193 w 399147"/>
                  <a:gd name="connsiteY9" fmla="*/ 239273 h 388526"/>
                  <a:gd name="connsiteX10" fmla="*/ 234061 w 399147"/>
                  <a:gd name="connsiteY10" fmla="*/ 248475 h 388526"/>
                  <a:gd name="connsiteX11" fmla="*/ 232696 w 399147"/>
                  <a:gd name="connsiteY11" fmla="*/ 257334 h 388526"/>
                  <a:gd name="connsiteX12" fmla="*/ 143970 w 399147"/>
                  <a:gd name="connsiteY12" fmla="*/ 257334 h 388526"/>
                  <a:gd name="connsiteX13" fmla="*/ 143970 w 399147"/>
                  <a:gd name="connsiteY13" fmla="*/ 305498 h 388526"/>
                  <a:gd name="connsiteX14" fmla="*/ 211453 w 399147"/>
                  <a:gd name="connsiteY14" fmla="*/ 305498 h 388526"/>
                  <a:gd name="connsiteX15" fmla="*/ 179751 w 399147"/>
                  <a:gd name="connsiteY15" fmla="*/ 326058 h 388526"/>
                  <a:gd name="connsiteX16" fmla="*/ 126358 w 399147"/>
                  <a:gd name="connsiteY16" fmla="*/ 341046 h 388526"/>
                  <a:gd name="connsiteX17" fmla="*/ 143629 w 399147"/>
                  <a:gd name="connsiteY17" fmla="*/ 363762 h 388526"/>
                  <a:gd name="connsiteX18" fmla="*/ 156245 w 399147"/>
                  <a:gd name="connsiteY18" fmla="*/ 388527 h 388526"/>
                  <a:gd name="connsiteX19" fmla="*/ 232480 w 399147"/>
                  <a:gd name="connsiteY19" fmla="*/ 359215 h 388526"/>
                  <a:gd name="connsiteX20" fmla="*/ 273149 w 399147"/>
                  <a:gd name="connsiteY20" fmla="*/ 317755 h 388526"/>
                  <a:gd name="connsiteX21" fmla="*/ 309398 w 399147"/>
                  <a:gd name="connsiteY21" fmla="*/ 360815 h 388526"/>
                  <a:gd name="connsiteX22" fmla="*/ 363133 w 399147"/>
                  <a:gd name="connsiteY22" fmla="*/ 387736 h 388526"/>
                  <a:gd name="connsiteX23" fmla="*/ 379379 w 399147"/>
                  <a:gd name="connsiteY23" fmla="*/ 361713 h 388526"/>
                  <a:gd name="connsiteX24" fmla="*/ 399148 w 399147"/>
                  <a:gd name="connsiteY24" fmla="*/ 338656 h 388526"/>
                  <a:gd name="connsiteX25" fmla="*/ 359161 w 399147"/>
                  <a:gd name="connsiteY25" fmla="*/ 325932 h 388526"/>
                  <a:gd name="connsiteX26" fmla="*/ 329275 w 399147"/>
                  <a:gd name="connsiteY26" fmla="*/ 305480 h 388526"/>
                  <a:gd name="connsiteX27" fmla="*/ 387323 w 399147"/>
                  <a:gd name="connsiteY27" fmla="*/ 305480 h 388526"/>
                  <a:gd name="connsiteX28" fmla="*/ 213843 w 399147"/>
                  <a:gd name="connsiteY28" fmla="*/ 139064 h 388526"/>
                  <a:gd name="connsiteX29" fmla="*/ 309955 w 399147"/>
                  <a:gd name="connsiteY29" fmla="*/ 139064 h 388526"/>
                  <a:gd name="connsiteX30" fmla="*/ 309955 w 399147"/>
                  <a:gd name="connsiteY30" fmla="*/ 150080 h 388526"/>
                  <a:gd name="connsiteX31" fmla="*/ 213843 w 399147"/>
                  <a:gd name="connsiteY31" fmla="*/ 150080 h 388526"/>
                  <a:gd name="connsiteX32" fmla="*/ 213843 w 399147"/>
                  <a:gd name="connsiteY32" fmla="*/ 139064 h 388526"/>
                  <a:gd name="connsiteX33" fmla="*/ 213843 w 399147"/>
                  <a:gd name="connsiteY33" fmla="*/ 187677 h 388526"/>
                  <a:gd name="connsiteX34" fmla="*/ 309955 w 399147"/>
                  <a:gd name="connsiteY34" fmla="*/ 187677 h 388526"/>
                  <a:gd name="connsiteX35" fmla="*/ 309955 w 399147"/>
                  <a:gd name="connsiteY35" fmla="*/ 198819 h 388526"/>
                  <a:gd name="connsiteX36" fmla="*/ 213843 w 399147"/>
                  <a:gd name="connsiteY36" fmla="*/ 198819 h 388526"/>
                  <a:gd name="connsiteX37" fmla="*/ 213843 w 399147"/>
                  <a:gd name="connsiteY37" fmla="*/ 187677 h 388526"/>
                  <a:gd name="connsiteX38" fmla="*/ 158293 w 399147"/>
                  <a:gd name="connsiteY38" fmla="*/ 214724 h 388526"/>
                  <a:gd name="connsiteX39" fmla="*/ 144653 w 399147"/>
                  <a:gd name="connsiteY39" fmla="*/ 194272 h 388526"/>
                  <a:gd name="connsiteX40" fmla="*/ 124651 w 399147"/>
                  <a:gd name="connsiteY40" fmla="*/ 165536 h 388526"/>
                  <a:gd name="connsiteX41" fmla="*/ 107488 w 399147"/>
                  <a:gd name="connsiteY41" fmla="*/ 142353 h 388526"/>
                  <a:gd name="connsiteX42" fmla="*/ 107488 w 399147"/>
                  <a:gd name="connsiteY42" fmla="*/ 129629 h 388526"/>
                  <a:gd name="connsiteX43" fmla="*/ 141903 w 399147"/>
                  <a:gd name="connsiteY43" fmla="*/ 129629 h 388526"/>
                  <a:gd name="connsiteX44" fmla="*/ 141903 w 399147"/>
                  <a:gd name="connsiteY44" fmla="*/ 74869 h 388526"/>
                  <a:gd name="connsiteX45" fmla="*/ 107488 w 399147"/>
                  <a:gd name="connsiteY45" fmla="*/ 74869 h 388526"/>
                  <a:gd name="connsiteX46" fmla="*/ 107488 w 399147"/>
                  <a:gd name="connsiteY46" fmla="*/ 0 h 388526"/>
                  <a:gd name="connsiteX47" fmla="*/ 51470 w 399147"/>
                  <a:gd name="connsiteY47" fmla="*/ 0 h 388526"/>
                  <a:gd name="connsiteX48" fmla="*/ 51470 w 399147"/>
                  <a:gd name="connsiteY48" fmla="*/ 74869 h 388526"/>
                  <a:gd name="connsiteX49" fmla="*/ 11035 w 399147"/>
                  <a:gd name="connsiteY49" fmla="*/ 74869 h 388526"/>
                  <a:gd name="connsiteX50" fmla="*/ 11035 w 399147"/>
                  <a:gd name="connsiteY50" fmla="*/ 129629 h 388526"/>
                  <a:gd name="connsiteX51" fmla="*/ 51470 w 399147"/>
                  <a:gd name="connsiteY51" fmla="*/ 129629 h 388526"/>
                  <a:gd name="connsiteX52" fmla="*/ 51470 w 399147"/>
                  <a:gd name="connsiteY52" fmla="*/ 144401 h 388526"/>
                  <a:gd name="connsiteX53" fmla="*/ 29545 w 399147"/>
                  <a:gd name="connsiteY53" fmla="*/ 207446 h 388526"/>
                  <a:gd name="connsiteX54" fmla="*/ 0 w 399147"/>
                  <a:gd name="connsiteY54" fmla="*/ 259365 h 388526"/>
                  <a:gd name="connsiteX55" fmla="*/ 15222 w 399147"/>
                  <a:gd name="connsiteY55" fmla="*/ 289468 h 388526"/>
                  <a:gd name="connsiteX56" fmla="*/ 27371 w 399147"/>
                  <a:gd name="connsiteY56" fmla="*/ 320253 h 388526"/>
                  <a:gd name="connsiteX57" fmla="*/ 39861 w 399147"/>
                  <a:gd name="connsiteY57" fmla="*/ 298094 h 388526"/>
                  <a:gd name="connsiteX58" fmla="*/ 51453 w 399147"/>
                  <a:gd name="connsiteY58" fmla="*/ 271963 h 388526"/>
                  <a:gd name="connsiteX59" fmla="*/ 51453 w 399147"/>
                  <a:gd name="connsiteY59" fmla="*/ 388527 h 388526"/>
                  <a:gd name="connsiteX60" fmla="*/ 107470 w 399147"/>
                  <a:gd name="connsiteY60" fmla="*/ 388527 h 388526"/>
                  <a:gd name="connsiteX61" fmla="*/ 107470 w 399147"/>
                  <a:gd name="connsiteY61" fmla="*/ 217995 h 388526"/>
                  <a:gd name="connsiteX62" fmla="*/ 116564 w 399147"/>
                  <a:gd name="connsiteY62" fmla="*/ 237997 h 388526"/>
                  <a:gd name="connsiteX63" fmla="*/ 123501 w 399147"/>
                  <a:gd name="connsiteY63" fmla="*/ 255609 h 388526"/>
                  <a:gd name="connsiteX64" fmla="*/ 158293 w 399147"/>
                  <a:gd name="connsiteY64" fmla="*/ 214724 h 388526"/>
                  <a:gd name="connsiteX65" fmla="*/ 192260 w 399147"/>
                  <a:gd name="connsiteY65" fmla="*/ 92032 h 388526"/>
                  <a:gd name="connsiteX66" fmla="*/ 248277 w 399147"/>
                  <a:gd name="connsiteY66" fmla="*/ 92032 h 388526"/>
                  <a:gd name="connsiteX67" fmla="*/ 248277 w 399147"/>
                  <a:gd name="connsiteY67" fmla="*/ 72821 h 388526"/>
                  <a:gd name="connsiteX68" fmla="*/ 287131 w 399147"/>
                  <a:gd name="connsiteY68" fmla="*/ 72821 h 388526"/>
                  <a:gd name="connsiteX69" fmla="*/ 287131 w 399147"/>
                  <a:gd name="connsiteY69" fmla="*/ 92014 h 388526"/>
                  <a:gd name="connsiteX70" fmla="*/ 344730 w 399147"/>
                  <a:gd name="connsiteY70" fmla="*/ 92014 h 388526"/>
                  <a:gd name="connsiteX71" fmla="*/ 344730 w 399147"/>
                  <a:gd name="connsiteY71" fmla="*/ 72821 h 388526"/>
                  <a:gd name="connsiteX72" fmla="*/ 384842 w 399147"/>
                  <a:gd name="connsiteY72" fmla="*/ 72821 h 388526"/>
                  <a:gd name="connsiteX73" fmla="*/ 384842 w 399147"/>
                  <a:gd name="connsiteY73" fmla="*/ 24549 h 388526"/>
                  <a:gd name="connsiteX74" fmla="*/ 344730 w 399147"/>
                  <a:gd name="connsiteY74" fmla="*/ 24549 h 388526"/>
                  <a:gd name="connsiteX75" fmla="*/ 344730 w 399147"/>
                  <a:gd name="connsiteY75" fmla="*/ 0 h 388526"/>
                  <a:gd name="connsiteX76" fmla="*/ 287131 w 399147"/>
                  <a:gd name="connsiteY76" fmla="*/ 0 h 388526"/>
                  <a:gd name="connsiteX77" fmla="*/ 287131 w 399147"/>
                  <a:gd name="connsiteY77" fmla="*/ 24531 h 388526"/>
                  <a:gd name="connsiteX78" fmla="*/ 248277 w 399147"/>
                  <a:gd name="connsiteY78" fmla="*/ 24531 h 388526"/>
                  <a:gd name="connsiteX79" fmla="*/ 248277 w 399147"/>
                  <a:gd name="connsiteY79" fmla="*/ 0 h 388526"/>
                  <a:gd name="connsiteX80" fmla="*/ 192260 w 399147"/>
                  <a:gd name="connsiteY80" fmla="*/ 0 h 388526"/>
                  <a:gd name="connsiteX81" fmla="*/ 192260 w 399147"/>
                  <a:gd name="connsiteY81" fmla="*/ 24531 h 388526"/>
                  <a:gd name="connsiteX82" fmla="*/ 150907 w 399147"/>
                  <a:gd name="connsiteY82" fmla="*/ 24531 h 388526"/>
                  <a:gd name="connsiteX83" fmla="*/ 150907 w 399147"/>
                  <a:gd name="connsiteY83" fmla="*/ 72821 h 388526"/>
                  <a:gd name="connsiteX84" fmla="*/ 192260 w 399147"/>
                  <a:gd name="connsiteY84" fmla="*/ 72821 h 388526"/>
                  <a:gd name="connsiteX85" fmla="*/ 192260 w 399147"/>
                  <a:gd name="connsiteY85" fmla="*/ 92032 h 388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399147" h="388526">
                    <a:moveTo>
                      <a:pt x="387323" y="305498"/>
                    </a:moveTo>
                    <a:lnTo>
                      <a:pt x="387323" y="257334"/>
                    </a:lnTo>
                    <a:lnTo>
                      <a:pt x="291211" y="257334"/>
                    </a:lnTo>
                    <a:cubicBezTo>
                      <a:pt x="291552" y="254387"/>
                      <a:pt x="291894" y="251422"/>
                      <a:pt x="292235" y="248475"/>
                    </a:cubicBezTo>
                    <a:lnTo>
                      <a:pt x="293260" y="239273"/>
                    </a:lnTo>
                    <a:lnTo>
                      <a:pt x="367212" y="239273"/>
                    </a:lnTo>
                    <a:lnTo>
                      <a:pt x="367212" y="98628"/>
                    </a:lnTo>
                    <a:lnTo>
                      <a:pt x="159084" y="98628"/>
                    </a:lnTo>
                    <a:lnTo>
                      <a:pt x="159084" y="239273"/>
                    </a:lnTo>
                    <a:lnTo>
                      <a:pt x="235193" y="239273"/>
                    </a:lnTo>
                    <a:lnTo>
                      <a:pt x="234061" y="248475"/>
                    </a:lnTo>
                    <a:cubicBezTo>
                      <a:pt x="233720" y="251422"/>
                      <a:pt x="233271" y="254387"/>
                      <a:pt x="232696" y="257334"/>
                    </a:cubicBezTo>
                    <a:lnTo>
                      <a:pt x="143970" y="257334"/>
                    </a:lnTo>
                    <a:lnTo>
                      <a:pt x="143970" y="305498"/>
                    </a:lnTo>
                    <a:lnTo>
                      <a:pt x="211453" y="305498"/>
                    </a:lnTo>
                    <a:cubicBezTo>
                      <a:pt x="204067" y="313226"/>
                      <a:pt x="193500" y="320145"/>
                      <a:pt x="179751" y="326058"/>
                    </a:cubicBezTo>
                    <a:cubicBezTo>
                      <a:pt x="166111" y="331970"/>
                      <a:pt x="148283" y="336966"/>
                      <a:pt x="126358" y="341046"/>
                    </a:cubicBezTo>
                    <a:cubicBezTo>
                      <a:pt x="132145" y="347174"/>
                      <a:pt x="137824" y="354686"/>
                      <a:pt x="143629" y="363762"/>
                    </a:cubicBezTo>
                    <a:cubicBezTo>
                      <a:pt x="149308" y="372730"/>
                      <a:pt x="153513" y="381033"/>
                      <a:pt x="156245" y="388527"/>
                    </a:cubicBezTo>
                    <a:cubicBezTo>
                      <a:pt x="188629" y="380799"/>
                      <a:pt x="214077" y="371022"/>
                      <a:pt x="232480" y="359215"/>
                    </a:cubicBezTo>
                    <a:cubicBezTo>
                      <a:pt x="250990" y="347516"/>
                      <a:pt x="264523" y="333660"/>
                      <a:pt x="273149" y="317755"/>
                    </a:cubicBezTo>
                    <a:cubicBezTo>
                      <a:pt x="282692" y="334792"/>
                      <a:pt x="294733" y="349115"/>
                      <a:pt x="309398" y="360815"/>
                    </a:cubicBezTo>
                    <a:cubicBezTo>
                      <a:pt x="324171" y="372622"/>
                      <a:pt x="341998" y="381500"/>
                      <a:pt x="363133" y="387736"/>
                    </a:cubicBezTo>
                    <a:cubicBezTo>
                      <a:pt x="367105" y="379775"/>
                      <a:pt x="372568" y="371148"/>
                      <a:pt x="379379" y="361713"/>
                    </a:cubicBezTo>
                    <a:cubicBezTo>
                      <a:pt x="386190" y="352404"/>
                      <a:pt x="392786" y="344676"/>
                      <a:pt x="399148" y="338656"/>
                    </a:cubicBezTo>
                    <a:cubicBezTo>
                      <a:pt x="384034" y="335708"/>
                      <a:pt x="370753" y="331503"/>
                      <a:pt x="359161" y="325932"/>
                    </a:cubicBezTo>
                    <a:cubicBezTo>
                      <a:pt x="347569" y="320253"/>
                      <a:pt x="337577" y="313442"/>
                      <a:pt x="329275" y="305480"/>
                    </a:cubicBezTo>
                    <a:lnTo>
                      <a:pt x="387323" y="305480"/>
                    </a:lnTo>
                    <a:close/>
                    <a:moveTo>
                      <a:pt x="213843" y="139064"/>
                    </a:moveTo>
                    <a:lnTo>
                      <a:pt x="309955" y="139064"/>
                    </a:lnTo>
                    <a:lnTo>
                      <a:pt x="309955" y="150080"/>
                    </a:lnTo>
                    <a:lnTo>
                      <a:pt x="213843" y="150080"/>
                    </a:lnTo>
                    <a:lnTo>
                      <a:pt x="213843" y="139064"/>
                    </a:lnTo>
                    <a:close/>
                    <a:moveTo>
                      <a:pt x="213843" y="187677"/>
                    </a:moveTo>
                    <a:lnTo>
                      <a:pt x="309955" y="187677"/>
                    </a:lnTo>
                    <a:lnTo>
                      <a:pt x="309955" y="198819"/>
                    </a:lnTo>
                    <a:lnTo>
                      <a:pt x="213843" y="198819"/>
                    </a:lnTo>
                    <a:lnTo>
                      <a:pt x="213843" y="187677"/>
                    </a:lnTo>
                    <a:close/>
                    <a:moveTo>
                      <a:pt x="158293" y="214724"/>
                    </a:moveTo>
                    <a:cubicBezTo>
                      <a:pt x="155562" y="210411"/>
                      <a:pt x="151015" y="203582"/>
                      <a:pt x="144653" y="194272"/>
                    </a:cubicBezTo>
                    <a:cubicBezTo>
                      <a:pt x="138291" y="184963"/>
                      <a:pt x="131695" y="175294"/>
                      <a:pt x="124651" y="165536"/>
                    </a:cubicBezTo>
                    <a:cubicBezTo>
                      <a:pt x="117714" y="155759"/>
                      <a:pt x="112035" y="148032"/>
                      <a:pt x="107488" y="142353"/>
                    </a:cubicBezTo>
                    <a:lnTo>
                      <a:pt x="107488" y="129629"/>
                    </a:lnTo>
                    <a:lnTo>
                      <a:pt x="141903" y="129629"/>
                    </a:lnTo>
                    <a:lnTo>
                      <a:pt x="141903" y="74869"/>
                    </a:lnTo>
                    <a:lnTo>
                      <a:pt x="107488" y="74869"/>
                    </a:lnTo>
                    <a:lnTo>
                      <a:pt x="107488" y="0"/>
                    </a:lnTo>
                    <a:lnTo>
                      <a:pt x="51470" y="0"/>
                    </a:lnTo>
                    <a:lnTo>
                      <a:pt x="51470" y="74869"/>
                    </a:lnTo>
                    <a:lnTo>
                      <a:pt x="11035" y="74869"/>
                    </a:lnTo>
                    <a:lnTo>
                      <a:pt x="11035" y="129629"/>
                    </a:lnTo>
                    <a:lnTo>
                      <a:pt x="51470" y="129629"/>
                    </a:lnTo>
                    <a:lnTo>
                      <a:pt x="51470" y="144401"/>
                    </a:lnTo>
                    <a:cubicBezTo>
                      <a:pt x="45684" y="165877"/>
                      <a:pt x="38405" y="186886"/>
                      <a:pt x="29545" y="207446"/>
                    </a:cubicBezTo>
                    <a:cubicBezTo>
                      <a:pt x="20793" y="228005"/>
                      <a:pt x="10909" y="245383"/>
                      <a:pt x="0" y="259365"/>
                    </a:cubicBezTo>
                    <a:cubicBezTo>
                      <a:pt x="4888" y="267884"/>
                      <a:pt x="9992" y="278002"/>
                      <a:pt x="15222" y="289468"/>
                    </a:cubicBezTo>
                    <a:cubicBezTo>
                      <a:pt x="20452" y="300933"/>
                      <a:pt x="24423" y="311159"/>
                      <a:pt x="27371" y="320253"/>
                    </a:cubicBezTo>
                    <a:cubicBezTo>
                      <a:pt x="31684" y="313657"/>
                      <a:pt x="35781" y="306271"/>
                      <a:pt x="39861" y="298094"/>
                    </a:cubicBezTo>
                    <a:cubicBezTo>
                      <a:pt x="43959" y="289917"/>
                      <a:pt x="47822" y="281165"/>
                      <a:pt x="51453" y="271963"/>
                    </a:cubicBezTo>
                    <a:lnTo>
                      <a:pt x="51453" y="388527"/>
                    </a:lnTo>
                    <a:lnTo>
                      <a:pt x="107470" y="388527"/>
                    </a:lnTo>
                    <a:lnTo>
                      <a:pt x="107470" y="217995"/>
                    </a:lnTo>
                    <a:cubicBezTo>
                      <a:pt x="110759" y="224932"/>
                      <a:pt x="113832" y="231635"/>
                      <a:pt x="116564" y="237997"/>
                    </a:cubicBezTo>
                    <a:cubicBezTo>
                      <a:pt x="119295" y="244359"/>
                      <a:pt x="121559" y="250272"/>
                      <a:pt x="123501" y="255609"/>
                    </a:cubicBezTo>
                    <a:lnTo>
                      <a:pt x="158293" y="214724"/>
                    </a:lnTo>
                    <a:close/>
                    <a:moveTo>
                      <a:pt x="192260" y="92032"/>
                    </a:moveTo>
                    <a:lnTo>
                      <a:pt x="248277" y="92032"/>
                    </a:lnTo>
                    <a:lnTo>
                      <a:pt x="248277" y="72821"/>
                    </a:lnTo>
                    <a:lnTo>
                      <a:pt x="287131" y="72821"/>
                    </a:lnTo>
                    <a:lnTo>
                      <a:pt x="287131" y="92014"/>
                    </a:lnTo>
                    <a:lnTo>
                      <a:pt x="344730" y="92014"/>
                    </a:lnTo>
                    <a:lnTo>
                      <a:pt x="344730" y="72821"/>
                    </a:lnTo>
                    <a:lnTo>
                      <a:pt x="384842" y="72821"/>
                    </a:lnTo>
                    <a:lnTo>
                      <a:pt x="384842" y="24549"/>
                    </a:lnTo>
                    <a:lnTo>
                      <a:pt x="344730" y="24549"/>
                    </a:lnTo>
                    <a:lnTo>
                      <a:pt x="344730" y="0"/>
                    </a:lnTo>
                    <a:lnTo>
                      <a:pt x="287131" y="0"/>
                    </a:lnTo>
                    <a:lnTo>
                      <a:pt x="287131" y="24531"/>
                    </a:lnTo>
                    <a:lnTo>
                      <a:pt x="248277" y="24531"/>
                    </a:lnTo>
                    <a:lnTo>
                      <a:pt x="248277" y="0"/>
                    </a:lnTo>
                    <a:lnTo>
                      <a:pt x="192260" y="0"/>
                    </a:lnTo>
                    <a:lnTo>
                      <a:pt x="192260" y="24531"/>
                    </a:lnTo>
                    <a:lnTo>
                      <a:pt x="150907" y="24531"/>
                    </a:lnTo>
                    <a:lnTo>
                      <a:pt x="150907" y="72821"/>
                    </a:lnTo>
                    <a:lnTo>
                      <a:pt x="192260" y="72821"/>
                    </a:lnTo>
                    <a:lnTo>
                      <a:pt x="192260" y="92032"/>
                    </a:lnTo>
                    <a:close/>
                  </a:path>
                </a:pathLst>
              </a:custGeom>
              <a:solidFill>
                <a:srgbClr val="000000"/>
              </a:solidFill>
              <a:ln w="1794" cap="flat">
                <a:noFill/>
                <a:prstDash val="solid"/>
                <a:miter/>
              </a:ln>
            </p:spPr>
            <p:txBody>
              <a:bodyPr rtlCol="0" anchor="ctr"/>
              <a:lstStyle/>
              <a:p>
                <a:endParaRPr lang="zh-CN" altLang="en-US"/>
              </a:p>
            </p:txBody>
          </p:sp>
          <p:sp>
            <p:nvSpPr>
              <p:cNvPr id="10" name="任意多边形: 形状 9"/>
              <p:cNvSpPr/>
              <p:nvPr userDrawn="1"/>
            </p:nvSpPr>
            <p:spPr>
              <a:xfrm>
                <a:off x="3480148" y="3420876"/>
                <a:ext cx="396829" cy="390287"/>
              </a:xfrm>
              <a:custGeom>
                <a:avLst/>
                <a:gdLst>
                  <a:gd name="connsiteX0" fmla="*/ 340992 w 396829"/>
                  <a:gd name="connsiteY0" fmla="*/ 106823 h 390287"/>
                  <a:gd name="connsiteX1" fmla="*/ 330802 w 396829"/>
                  <a:gd name="connsiteY1" fmla="*/ 108530 h 390287"/>
                  <a:gd name="connsiteX2" fmla="*/ 221930 w 396829"/>
                  <a:gd name="connsiteY2" fmla="*/ 108530 h 390287"/>
                  <a:gd name="connsiteX3" fmla="*/ 221930 w 396829"/>
                  <a:gd name="connsiteY3" fmla="*/ 76253 h 390287"/>
                  <a:gd name="connsiteX4" fmla="*/ 308931 w 396829"/>
                  <a:gd name="connsiteY4" fmla="*/ 66962 h 390287"/>
                  <a:gd name="connsiteX5" fmla="*/ 388347 w 396829"/>
                  <a:gd name="connsiteY5" fmla="*/ 47355 h 390287"/>
                  <a:gd name="connsiteX6" fmla="*/ 347911 w 396829"/>
                  <a:gd name="connsiteY6" fmla="*/ 0 h 390287"/>
                  <a:gd name="connsiteX7" fmla="*/ 264307 w 396829"/>
                  <a:gd name="connsiteY7" fmla="*/ 19265 h 390287"/>
                  <a:gd name="connsiteX8" fmla="*/ 164386 w 396829"/>
                  <a:gd name="connsiteY8" fmla="*/ 27766 h 390287"/>
                  <a:gd name="connsiteX9" fmla="*/ 164386 w 396829"/>
                  <a:gd name="connsiteY9" fmla="*/ 123608 h 390287"/>
                  <a:gd name="connsiteX10" fmla="*/ 161780 w 396829"/>
                  <a:gd name="connsiteY10" fmla="*/ 198945 h 390287"/>
                  <a:gd name="connsiteX11" fmla="*/ 147960 w 396829"/>
                  <a:gd name="connsiteY11" fmla="*/ 281416 h 390287"/>
                  <a:gd name="connsiteX12" fmla="*/ 114209 w 396829"/>
                  <a:gd name="connsiteY12" fmla="*/ 356412 h 390287"/>
                  <a:gd name="connsiteX13" fmla="*/ 139926 w 396829"/>
                  <a:gd name="connsiteY13" fmla="*/ 371705 h 390287"/>
                  <a:gd name="connsiteX14" fmla="*/ 163146 w 396829"/>
                  <a:gd name="connsiteY14" fmla="*/ 390288 h 390287"/>
                  <a:gd name="connsiteX15" fmla="*/ 176283 w 396829"/>
                  <a:gd name="connsiteY15" fmla="*/ 368758 h 390287"/>
                  <a:gd name="connsiteX16" fmla="*/ 187264 w 396829"/>
                  <a:gd name="connsiteY16" fmla="*/ 345090 h 390287"/>
                  <a:gd name="connsiteX17" fmla="*/ 203456 w 396829"/>
                  <a:gd name="connsiteY17" fmla="*/ 366494 h 390287"/>
                  <a:gd name="connsiteX18" fmla="*/ 216593 w 396829"/>
                  <a:gd name="connsiteY18" fmla="*/ 387898 h 390287"/>
                  <a:gd name="connsiteX19" fmla="*/ 255340 w 396829"/>
                  <a:gd name="connsiteY19" fmla="*/ 364553 h 390287"/>
                  <a:gd name="connsiteX20" fmla="*/ 288767 w 396829"/>
                  <a:gd name="connsiteY20" fmla="*/ 336014 h 390287"/>
                  <a:gd name="connsiteX21" fmla="*/ 357759 w 396829"/>
                  <a:gd name="connsiteY21" fmla="*/ 389479 h 390287"/>
                  <a:gd name="connsiteX22" fmla="*/ 375425 w 396829"/>
                  <a:gd name="connsiteY22" fmla="*/ 362288 h 390287"/>
                  <a:gd name="connsiteX23" fmla="*/ 396830 w 396829"/>
                  <a:gd name="connsiteY23" fmla="*/ 338494 h 390287"/>
                  <a:gd name="connsiteX24" fmla="*/ 357526 w 396829"/>
                  <a:gd name="connsiteY24" fmla="*/ 316856 h 390287"/>
                  <a:gd name="connsiteX25" fmla="*/ 325914 w 396829"/>
                  <a:gd name="connsiteY25" fmla="*/ 287509 h 390287"/>
                  <a:gd name="connsiteX26" fmla="*/ 358766 w 396829"/>
                  <a:gd name="connsiteY26" fmla="*/ 212172 h 390287"/>
                  <a:gd name="connsiteX27" fmla="*/ 378139 w 396829"/>
                  <a:gd name="connsiteY27" fmla="*/ 117013 h 390287"/>
                  <a:gd name="connsiteX28" fmla="*/ 340992 w 396829"/>
                  <a:gd name="connsiteY28" fmla="*/ 106823 h 390287"/>
                  <a:gd name="connsiteX29" fmla="*/ 313693 w 396829"/>
                  <a:gd name="connsiteY29" fmla="*/ 161079 h 390287"/>
                  <a:gd name="connsiteX30" fmla="*/ 290474 w 396829"/>
                  <a:gd name="connsiteY30" fmla="*/ 230862 h 390287"/>
                  <a:gd name="connsiteX31" fmla="*/ 277445 w 396829"/>
                  <a:gd name="connsiteY31" fmla="*/ 197220 h 390287"/>
                  <a:gd name="connsiteX32" fmla="*/ 267596 w 396829"/>
                  <a:gd name="connsiteY32" fmla="*/ 161079 h 390287"/>
                  <a:gd name="connsiteX33" fmla="*/ 313693 w 396829"/>
                  <a:gd name="connsiteY33" fmla="*/ 161079 h 390287"/>
                  <a:gd name="connsiteX34" fmla="*/ 191343 w 396829"/>
                  <a:gd name="connsiteY34" fmla="*/ 334414 h 390287"/>
                  <a:gd name="connsiteX35" fmla="*/ 210950 w 396829"/>
                  <a:gd name="connsiteY35" fmla="*/ 259994 h 390287"/>
                  <a:gd name="connsiteX36" fmla="*/ 219900 w 396829"/>
                  <a:gd name="connsiteY36" fmla="*/ 184765 h 390287"/>
                  <a:gd name="connsiteX37" fmla="*/ 235301 w 396829"/>
                  <a:gd name="connsiteY37" fmla="*/ 238123 h 390287"/>
                  <a:gd name="connsiteX38" fmla="*/ 255358 w 396829"/>
                  <a:gd name="connsiteY38" fmla="*/ 285478 h 390287"/>
                  <a:gd name="connsiteX39" fmla="*/ 225794 w 396829"/>
                  <a:gd name="connsiteY39" fmla="*/ 313352 h 390287"/>
                  <a:gd name="connsiteX40" fmla="*/ 191343 w 396829"/>
                  <a:gd name="connsiteY40" fmla="*/ 334414 h 390287"/>
                  <a:gd name="connsiteX41" fmla="*/ 159965 w 396829"/>
                  <a:gd name="connsiteY41" fmla="*/ 207535 h 390287"/>
                  <a:gd name="connsiteX42" fmla="*/ 146486 w 396829"/>
                  <a:gd name="connsiteY42" fmla="*/ 185898 h 390287"/>
                  <a:gd name="connsiteX43" fmla="*/ 127005 w 396829"/>
                  <a:gd name="connsiteY43" fmla="*/ 155885 h 390287"/>
                  <a:gd name="connsiteX44" fmla="*/ 111370 w 396829"/>
                  <a:gd name="connsiteY44" fmla="*/ 133349 h 390287"/>
                  <a:gd name="connsiteX45" fmla="*/ 111370 w 396829"/>
                  <a:gd name="connsiteY45" fmla="*/ 129269 h 390287"/>
                  <a:gd name="connsiteX46" fmla="*/ 152147 w 396829"/>
                  <a:gd name="connsiteY46" fmla="*/ 129269 h 390287"/>
                  <a:gd name="connsiteX47" fmla="*/ 152147 w 396829"/>
                  <a:gd name="connsiteY47" fmla="*/ 74672 h 390287"/>
                  <a:gd name="connsiteX48" fmla="*/ 111370 w 396829"/>
                  <a:gd name="connsiteY48" fmla="*/ 74672 h 390287"/>
                  <a:gd name="connsiteX49" fmla="*/ 111370 w 396829"/>
                  <a:gd name="connsiteY49" fmla="*/ 0 h 390287"/>
                  <a:gd name="connsiteX50" fmla="*/ 56305 w 396829"/>
                  <a:gd name="connsiteY50" fmla="*/ 0 h 390287"/>
                  <a:gd name="connsiteX51" fmla="*/ 56305 w 396829"/>
                  <a:gd name="connsiteY51" fmla="*/ 74654 h 390287"/>
                  <a:gd name="connsiteX52" fmla="*/ 10657 w 396829"/>
                  <a:gd name="connsiteY52" fmla="*/ 74654 h 390287"/>
                  <a:gd name="connsiteX53" fmla="*/ 10657 w 396829"/>
                  <a:gd name="connsiteY53" fmla="*/ 129251 h 390287"/>
                  <a:gd name="connsiteX54" fmla="*/ 54723 w 396829"/>
                  <a:gd name="connsiteY54" fmla="*/ 129251 h 390287"/>
                  <a:gd name="connsiteX55" fmla="*/ 41011 w 396829"/>
                  <a:gd name="connsiteY55" fmla="*/ 177163 h 390287"/>
                  <a:gd name="connsiteX56" fmla="*/ 22428 w 396829"/>
                  <a:gd name="connsiteY56" fmla="*/ 222811 h 390287"/>
                  <a:gd name="connsiteX57" fmla="*/ 0 w 396829"/>
                  <a:gd name="connsiteY57" fmla="*/ 258503 h 390287"/>
                  <a:gd name="connsiteX58" fmla="*/ 14054 w 396829"/>
                  <a:gd name="connsiteY58" fmla="*/ 288515 h 390287"/>
                  <a:gd name="connsiteX59" fmla="*/ 25376 w 396829"/>
                  <a:gd name="connsiteY59" fmla="*/ 318869 h 390287"/>
                  <a:gd name="connsiteX60" fmla="*/ 41694 w 396829"/>
                  <a:gd name="connsiteY60" fmla="*/ 286125 h 390287"/>
                  <a:gd name="connsiteX61" fmla="*/ 56305 w 396829"/>
                  <a:gd name="connsiteY61" fmla="*/ 245455 h 390287"/>
                  <a:gd name="connsiteX62" fmla="*/ 56305 w 396829"/>
                  <a:gd name="connsiteY62" fmla="*/ 387395 h 390287"/>
                  <a:gd name="connsiteX63" fmla="*/ 111370 w 396829"/>
                  <a:gd name="connsiteY63" fmla="*/ 387395 h 390287"/>
                  <a:gd name="connsiteX64" fmla="*/ 111370 w 396829"/>
                  <a:gd name="connsiteY64" fmla="*/ 208739 h 390287"/>
                  <a:gd name="connsiteX65" fmla="*/ 119744 w 396829"/>
                  <a:gd name="connsiteY65" fmla="*/ 231402 h 390287"/>
                  <a:gd name="connsiteX66" fmla="*/ 126088 w 396829"/>
                  <a:gd name="connsiteY66" fmla="*/ 251224 h 390287"/>
                  <a:gd name="connsiteX67" fmla="*/ 159965 w 396829"/>
                  <a:gd name="connsiteY67" fmla="*/ 207535 h 390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96829" h="390287">
                    <a:moveTo>
                      <a:pt x="340992" y="106823"/>
                    </a:moveTo>
                    <a:lnTo>
                      <a:pt x="330802" y="108530"/>
                    </a:lnTo>
                    <a:lnTo>
                      <a:pt x="221930" y="108530"/>
                    </a:lnTo>
                    <a:lnTo>
                      <a:pt x="221930" y="76253"/>
                    </a:lnTo>
                    <a:cubicBezTo>
                      <a:pt x="251152" y="74672"/>
                      <a:pt x="280158" y="71617"/>
                      <a:pt x="308931" y="66962"/>
                    </a:cubicBezTo>
                    <a:cubicBezTo>
                      <a:pt x="337703" y="62433"/>
                      <a:pt x="364103" y="55856"/>
                      <a:pt x="388347" y="47355"/>
                    </a:cubicBezTo>
                    <a:lnTo>
                      <a:pt x="347911" y="0"/>
                    </a:lnTo>
                    <a:cubicBezTo>
                      <a:pt x="324692" y="8267"/>
                      <a:pt x="296818" y="14719"/>
                      <a:pt x="264307" y="19265"/>
                    </a:cubicBezTo>
                    <a:cubicBezTo>
                      <a:pt x="231797" y="23686"/>
                      <a:pt x="198496" y="26508"/>
                      <a:pt x="164386" y="27766"/>
                    </a:cubicBezTo>
                    <a:lnTo>
                      <a:pt x="164386" y="123608"/>
                    </a:lnTo>
                    <a:cubicBezTo>
                      <a:pt x="164619" y="146270"/>
                      <a:pt x="163703" y="171413"/>
                      <a:pt x="161780" y="198945"/>
                    </a:cubicBezTo>
                    <a:cubicBezTo>
                      <a:pt x="159749" y="226477"/>
                      <a:pt x="155094" y="253884"/>
                      <a:pt x="147960" y="281416"/>
                    </a:cubicBezTo>
                    <a:cubicBezTo>
                      <a:pt x="140717" y="308823"/>
                      <a:pt x="129503" y="333875"/>
                      <a:pt x="114209" y="356412"/>
                    </a:cubicBezTo>
                    <a:cubicBezTo>
                      <a:pt x="121577" y="359700"/>
                      <a:pt x="130060" y="364786"/>
                      <a:pt x="139926" y="371705"/>
                    </a:cubicBezTo>
                    <a:cubicBezTo>
                      <a:pt x="149793" y="378624"/>
                      <a:pt x="157485" y="384843"/>
                      <a:pt x="163146" y="390288"/>
                    </a:cubicBezTo>
                    <a:cubicBezTo>
                      <a:pt x="167908" y="383603"/>
                      <a:pt x="172203" y="376360"/>
                      <a:pt x="176283" y="368758"/>
                    </a:cubicBezTo>
                    <a:cubicBezTo>
                      <a:pt x="180362" y="361156"/>
                      <a:pt x="183993" y="353231"/>
                      <a:pt x="187264" y="345090"/>
                    </a:cubicBezTo>
                    <a:cubicBezTo>
                      <a:pt x="192709" y="351433"/>
                      <a:pt x="198136" y="358568"/>
                      <a:pt x="203456" y="366494"/>
                    </a:cubicBezTo>
                    <a:cubicBezTo>
                      <a:pt x="208775" y="374311"/>
                      <a:pt x="213196" y="381446"/>
                      <a:pt x="216593" y="387898"/>
                    </a:cubicBezTo>
                    <a:cubicBezTo>
                      <a:pt x="230413" y="380871"/>
                      <a:pt x="243335" y="373179"/>
                      <a:pt x="255340" y="364553"/>
                    </a:cubicBezTo>
                    <a:cubicBezTo>
                      <a:pt x="267237" y="355944"/>
                      <a:pt x="278451" y="346419"/>
                      <a:pt x="288767" y="336014"/>
                    </a:cubicBezTo>
                    <a:cubicBezTo>
                      <a:pt x="307116" y="357759"/>
                      <a:pt x="329993" y="375551"/>
                      <a:pt x="357759" y="389479"/>
                    </a:cubicBezTo>
                    <a:cubicBezTo>
                      <a:pt x="362073" y="381105"/>
                      <a:pt x="367949" y="372029"/>
                      <a:pt x="375425" y="362288"/>
                    </a:cubicBezTo>
                    <a:cubicBezTo>
                      <a:pt x="382902" y="352548"/>
                      <a:pt x="390036" y="344622"/>
                      <a:pt x="396830" y="338494"/>
                    </a:cubicBezTo>
                    <a:cubicBezTo>
                      <a:pt x="382434" y="332599"/>
                      <a:pt x="369297" y="325357"/>
                      <a:pt x="357526" y="316856"/>
                    </a:cubicBezTo>
                    <a:cubicBezTo>
                      <a:pt x="345862" y="308356"/>
                      <a:pt x="335205" y="298507"/>
                      <a:pt x="325914" y="287509"/>
                    </a:cubicBezTo>
                    <a:cubicBezTo>
                      <a:pt x="339177" y="265530"/>
                      <a:pt x="350050" y="240495"/>
                      <a:pt x="358766" y="212172"/>
                    </a:cubicBezTo>
                    <a:cubicBezTo>
                      <a:pt x="367374" y="183957"/>
                      <a:pt x="373826" y="152237"/>
                      <a:pt x="378139" y="117013"/>
                    </a:cubicBezTo>
                    <a:lnTo>
                      <a:pt x="340992" y="106823"/>
                    </a:lnTo>
                    <a:close/>
                    <a:moveTo>
                      <a:pt x="313693" y="161079"/>
                    </a:moveTo>
                    <a:cubicBezTo>
                      <a:pt x="307924" y="186347"/>
                      <a:pt x="300215" y="209566"/>
                      <a:pt x="290474" y="230862"/>
                    </a:cubicBezTo>
                    <a:cubicBezTo>
                      <a:pt x="285604" y="219990"/>
                      <a:pt x="281183" y="208775"/>
                      <a:pt x="277445" y="197220"/>
                    </a:cubicBezTo>
                    <a:cubicBezTo>
                      <a:pt x="273707" y="185556"/>
                      <a:pt x="270418" y="173551"/>
                      <a:pt x="267596" y="161079"/>
                    </a:cubicBezTo>
                    <a:lnTo>
                      <a:pt x="313693" y="161079"/>
                    </a:lnTo>
                    <a:close/>
                    <a:moveTo>
                      <a:pt x="191343" y="334414"/>
                    </a:moveTo>
                    <a:cubicBezTo>
                      <a:pt x="199951" y="310620"/>
                      <a:pt x="206529" y="285927"/>
                      <a:pt x="210950" y="259994"/>
                    </a:cubicBezTo>
                    <a:cubicBezTo>
                      <a:pt x="215371" y="234169"/>
                      <a:pt x="218318" y="209135"/>
                      <a:pt x="219900" y="184765"/>
                    </a:cubicBezTo>
                    <a:cubicBezTo>
                      <a:pt x="224321" y="203564"/>
                      <a:pt x="229533" y="221355"/>
                      <a:pt x="235301" y="238123"/>
                    </a:cubicBezTo>
                    <a:cubicBezTo>
                      <a:pt x="241196" y="254998"/>
                      <a:pt x="247881" y="270741"/>
                      <a:pt x="255358" y="285478"/>
                    </a:cubicBezTo>
                    <a:cubicBezTo>
                      <a:pt x="246408" y="295901"/>
                      <a:pt x="236559" y="305193"/>
                      <a:pt x="225794" y="313352"/>
                    </a:cubicBezTo>
                    <a:cubicBezTo>
                      <a:pt x="215029" y="321493"/>
                      <a:pt x="203582" y="328520"/>
                      <a:pt x="191343" y="334414"/>
                    </a:cubicBezTo>
                    <a:close/>
                    <a:moveTo>
                      <a:pt x="159965" y="207535"/>
                    </a:moveTo>
                    <a:cubicBezTo>
                      <a:pt x="157359" y="203114"/>
                      <a:pt x="152830" y="195872"/>
                      <a:pt x="146486" y="185898"/>
                    </a:cubicBezTo>
                    <a:cubicBezTo>
                      <a:pt x="140142" y="175923"/>
                      <a:pt x="133690" y="165967"/>
                      <a:pt x="127005" y="155885"/>
                    </a:cubicBezTo>
                    <a:cubicBezTo>
                      <a:pt x="120320" y="145803"/>
                      <a:pt x="115108" y="138327"/>
                      <a:pt x="111370" y="133349"/>
                    </a:cubicBezTo>
                    <a:lnTo>
                      <a:pt x="111370" y="129269"/>
                    </a:lnTo>
                    <a:lnTo>
                      <a:pt x="152147" y="129269"/>
                    </a:lnTo>
                    <a:lnTo>
                      <a:pt x="152147" y="74672"/>
                    </a:lnTo>
                    <a:lnTo>
                      <a:pt x="111370" y="74672"/>
                    </a:lnTo>
                    <a:lnTo>
                      <a:pt x="111370" y="0"/>
                    </a:lnTo>
                    <a:lnTo>
                      <a:pt x="56305" y="0"/>
                    </a:lnTo>
                    <a:lnTo>
                      <a:pt x="56305" y="74654"/>
                    </a:lnTo>
                    <a:lnTo>
                      <a:pt x="10657" y="74654"/>
                    </a:lnTo>
                    <a:lnTo>
                      <a:pt x="10657" y="129251"/>
                    </a:lnTo>
                    <a:lnTo>
                      <a:pt x="54723" y="129251"/>
                    </a:lnTo>
                    <a:cubicBezTo>
                      <a:pt x="50985" y="144994"/>
                      <a:pt x="46456" y="160971"/>
                      <a:pt x="41011" y="177163"/>
                    </a:cubicBezTo>
                    <a:cubicBezTo>
                      <a:pt x="35566" y="193482"/>
                      <a:pt x="29348" y="208650"/>
                      <a:pt x="22428" y="222811"/>
                    </a:cubicBezTo>
                    <a:cubicBezTo>
                      <a:pt x="15509" y="237081"/>
                      <a:pt x="8033" y="248978"/>
                      <a:pt x="0" y="258503"/>
                    </a:cubicBezTo>
                    <a:cubicBezTo>
                      <a:pt x="4529" y="267003"/>
                      <a:pt x="9183" y="276959"/>
                      <a:pt x="14054" y="288515"/>
                    </a:cubicBezTo>
                    <a:cubicBezTo>
                      <a:pt x="18924" y="300179"/>
                      <a:pt x="22662" y="310261"/>
                      <a:pt x="25376" y="318869"/>
                    </a:cubicBezTo>
                    <a:cubicBezTo>
                      <a:pt x="31037" y="309578"/>
                      <a:pt x="36482" y="298705"/>
                      <a:pt x="41694" y="286125"/>
                    </a:cubicBezTo>
                    <a:cubicBezTo>
                      <a:pt x="47014" y="273671"/>
                      <a:pt x="51776" y="260066"/>
                      <a:pt x="56305" y="245455"/>
                    </a:cubicBezTo>
                    <a:lnTo>
                      <a:pt x="56305" y="387395"/>
                    </a:lnTo>
                    <a:lnTo>
                      <a:pt x="111370" y="387395"/>
                    </a:lnTo>
                    <a:lnTo>
                      <a:pt x="111370" y="208739"/>
                    </a:lnTo>
                    <a:cubicBezTo>
                      <a:pt x="114425" y="216557"/>
                      <a:pt x="117264" y="224141"/>
                      <a:pt x="119744" y="231402"/>
                    </a:cubicBezTo>
                    <a:cubicBezTo>
                      <a:pt x="122350" y="238644"/>
                      <a:pt x="124381" y="245222"/>
                      <a:pt x="126088" y="251224"/>
                    </a:cubicBezTo>
                    <a:lnTo>
                      <a:pt x="159965" y="207535"/>
                    </a:lnTo>
                    <a:close/>
                  </a:path>
                </a:pathLst>
              </a:custGeom>
              <a:solidFill>
                <a:srgbClr val="000000"/>
              </a:solidFill>
              <a:ln w="1794" cap="flat">
                <a:noFill/>
                <a:prstDash val="solid"/>
                <a:miter/>
              </a:ln>
            </p:spPr>
            <p:txBody>
              <a:bodyPr rtlCol="0" anchor="ctr"/>
              <a:lstStyle/>
              <a:p>
                <a:endParaRPr lang="zh-CN" altLang="en-US"/>
              </a:p>
            </p:txBody>
          </p:sp>
          <p:grpSp>
            <p:nvGrpSpPr>
              <p:cNvPr id="11" name="组合 10"/>
              <p:cNvGrpSpPr/>
              <p:nvPr userDrawn="1"/>
            </p:nvGrpSpPr>
            <p:grpSpPr>
              <a:xfrm>
                <a:off x="2038610" y="3870398"/>
                <a:ext cx="413489" cy="89750"/>
                <a:chOff x="8686551" y="964247"/>
                <a:chExt cx="413489" cy="89750"/>
              </a:xfrm>
            </p:grpSpPr>
            <p:sp>
              <p:nvSpPr>
                <p:cNvPr id="30" name="任意多边形: 形状 29"/>
                <p:cNvSpPr/>
                <p:nvPr/>
              </p:nvSpPr>
              <p:spPr>
                <a:xfrm>
                  <a:off x="8686551" y="964247"/>
                  <a:ext cx="120678" cy="87629"/>
                </a:xfrm>
                <a:custGeom>
                  <a:avLst/>
                  <a:gdLst>
                    <a:gd name="connsiteX0" fmla="*/ 24351 w 120678"/>
                    <a:gd name="connsiteY0" fmla="*/ 87629 h 87629"/>
                    <a:gd name="connsiteX1" fmla="*/ 41730 w 120678"/>
                    <a:gd name="connsiteY1" fmla="*/ 87629 h 87629"/>
                    <a:gd name="connsiteX2" fmla="*/ 53897 w 120678"/>
                    <a:gd name="connsiteY2" fmla="*/ 40706 h 87629"/>
                    <a:gd name="connsiteX3" fmla="*/ 57006 w 120678"/>
                    <a:gd name="connsiteY3" fmla="*/ 28054 h 87629"/>
                    <a:gd name="connsiteX4" fmla="*/ 59863 w 120678"/>
                    <a:gd name="connsiteY4" fmla="*/ 15150 h 87629"/>
                    <a:gd name="connsiteX5" fmla="*/ 60726 w 120678"/>
                    <a:gd name="connsiteY5" fmla="*/ 15150 h 87629"/>
                    <a:gd name="connsiteX6" fmla="*/ 63583 w 120678"/>
                    <a:gd name="connsiteY6" fmla="*/ 28054 h 87629"/>
                    <a:gd name="connsiteX7" fmla="*/ 66692 w 120678"/>
                    <a:gd name="connsiteY7" fmla="*/ 40346 h 87629"/>
                    <a:gd name="connsiteX8" fmla="*/ 79470 w 120678"/>
                    <a:gd name="connsiteY8" fmla="*/ 87629 h 87629"/>
                    <a:gd name="connsiteX9" fmla="*/ 97226 w 120678"/>
                    <a:gd name="connsiteY9" fmla="*/ 87629 h 87629"/>
                    <a:gd name="connsiteX10" fmla="*/ 120679 w 120678"/>
                    <a:gd name="connsiteY10" fmla="*/ 0 h 87629"/>
                    <a:gd name="connsiteX11" fmla="*/ 106895 w 120678"/>
                    <a:gd name="connsiteY11" fmla="*/ 0 h 87629"/>
                    <a:gd name="connsiteX12" fmla="*/ 93991 w 120678"/>
                    <a:gd name="connsiteY12" fmla="*/ 50644 h 87629"/>
                    <a:gd name="connsiteX13" fmla="*/ 91259 w 120678"/>
                    <a:gd name="connsiteY13" fmla="*/ 63062 h 87629"/>
                    <a:gd name="connsiteX14" fmla="*/ 88402 w 120678"/>
                    <a:gd name="connsiteY14" fmla="*/ 75229 h 87629"/>
                    <a:gd name="connsiteX15" fmla="*/ 87773 w 120678"/>
                    <a:gd name="connsiteY15" fmla="*/ 75229 h 87629"/>
                    <a:gd name="connsiteX16" fmla="*/ 84790 w 120678"/>
                    <a:gd name="connsiteY16" fmla="*/ 63062 h 87629"/>
                    <a:gd name="connsiteX17" fmla="*/ 81681 w 120678"/>
                    <a:gd name="connsiteY17" fmla="*/ 50644 h 87629"/>
                    <a:gd name="connsiteX18" fmla="*/ 67896 w 120678"/>
                    <a:gd name="connsiteY18" fmla="*/ 0 h 87629"/>
                    <a:gd name="connsiteX19" fmla="*/ 53627 w 120678"/>
                    <a:gd name="connsiteY19" fmla="*/ 0 h 87629"/>
                    <a:gd name="connsiteX20" fmla="*/ 40094 w 120678"/>
                    <a:gd name="connsiteY20" fmla="*/ 50644 h 87629"/>
                    <a:gd name="connsiteX21" fmla="*/ 36985 w 120678"/>
                    <a:gd name="connsiteY21" fmla="*/ 62936 h 87629"/>
                    <a:gd name="connsiteX22" fmla="*/ 34002 w 120678"/>
                    <a:gd name="connsiteY22" fmla="*/ 75229 h 87629"/>
                    <a:gd name="connsiteX23" fmla="*/ 33265 w 120678"/>
                    <a:gd name="connsiteY23" fmla="*/ 75229 h 87629"/>
                    <a:gd name="connsiteX24" fmla="*/ 30785 w 120678"/>
                    <a:gd name="connsiteY24" fmla="*/ 63062 h 87629"/>
                    <a:gd name="connsiteX25" fmla="*/ 28054 w 120678"/>
                    <a:gd name="connsiteY25" fmla="*/ 50644 h 87629"/>
                    <a:gd name="connsiteX26" fmla="*/ 15024 w 120678"/>
                    <a:gd name="connsiteY26" fmla="*/ 0 h 87629"/>
                    <a:gd name="connsiteX27" fmla="*/ 0 w 120678"/>
                    <a:gd name="connsiteY27" fmla="*/ 0 h 87629"/>
                    <a:gd name="connsiteX28" fmla="*/ 24351 w 120678"/>
                    <a:gd name="connsiteY28" fmla="*/ 87629 h 87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0678" h="87629">
                      <a:moveTo>
                        <a:pt x="24351" y="87629"/>
                      </a:moveTo>
                      <a:lnTo>
                        <a:pt x="41730" y="87629"/>
                      </a:lnTo>
                      <a:lnTo>
                        <a:pt x="53897" y="40706"/>
                      </a:lnTo>
                      <a:cubicBezTo>
                        <a:pt x="55011" y="36482"/>
                        <a:pt x="56125" y="32259"/>
                        <a:pt x="57006" y="28054"/>
                      </a:cubicBezTo>
                      <a:lnTo>
                        <a:pt x="59863" y="15150"/>
                      </a:lnTo>
                      <a:lnTo>
                        <a:pt x="60726" y="15150"/>
                      </a:lnTo>
                      <a:lnTo>
                        <a:pt x="63583" y="28054"/>
                      </a:lnTo>
                      <a:cubicBezTo>
                        <a:pt x="64572" y="32151"/>
                        <a:pt x="65578" y="36249"/>
                        <a:pt x="66692" y="40346"/>
                      </a:cubicBezTo>
                      <a:lnTo>
                        <a:pt x="79470" y="87629"/>
                      </a:lnTo>
                      <a:lnTo>
                        <a:pt x="97226" y="87629"/>
                      </a:lnTo>
                      <a:lnTo>
                        <a:pt x="120679" y="0"/>
                      </a:lnTo>
                      <a:lnTo>
                        <a:pt x="106895" y="0"/>
                      </a:lnTo>
                      <a:lnTo>
                        <a:pt x="93991" y="50644"/>
                      </a:lnTo>
                      <a:lnTo>
                        <a:pt x="91259" y="63062"/>
                      </a:lnTo>
                      <a:lnTo>
                        <a:pt x="88402" y="75229"/>
                      </a:lnTo>
                      <a:lnTo>
                        <a:pt x="87773" y="75229"/>
                      </a:lnTo>
                      <a:lnTo>
                        <a:pt x="84790" y="63062"/>
                      </a:lnTo>
                      <a:lnTo>
                        <a:pt x="81681" y="50644"/>
                      </a:lnTo>
                      <a:lnTo>
                        <a:pt x="67896" y="0"/>
                      </a:lnTo>
                      <a:lnTo>
                        <a:pt x="53627" y="0"/>
                      </a:lnTo>
                      <a:lnTo>
                        <a:pt x="40094" y="50644"/>
                      </a:lnTo>
                      <a:cubicBezTo>
                        <a:pt x="38980" y="54741"/>
                        <a:pt x="37866" y="58839"/>
                        <a:pt x="36985" y="62936"/>
                      </a:cubicBezTo>
                      <a:lnTo>
                        <a:pt x="34002" y="75229"/>
                      </a:lnTo>
                      <a:lnTo>
                        <a:pt x="33265" y="75229"/>
                      </a:lnTo>
                      <a:lnTo>
                        <a:pt x="30785" y="63062"/>
                      </a:lnTo>
                      <a:lnTo>
                        <a:pt x="28054" y="50644"/>
                      </a:lnTo>
                      <a:lnTo>
                        <a:pt x="15024" y="0"/>
                      </a:lnTo>
                      <a:lnTo>
                        <a:pt x="0" y="0"/>
                      </a:lnTo>
                      <a:lnTo>
                        <a:pt x="24351" y="87629"/>
                      </a:lnTo>
                      <a:close/>
                    </a:path>
                  </a:pathLst>
                </a:custGeom>
                <a:solidFill>
                  <a:srgbClr val="999999"/>
                </a:solidFill>
                <a:ln w="6350" cap="flat">
                  <a:solidFill>
                    <a:srgbClr val="999999"/>
                  </a:solidFill>
                  <a:prstDash val="solid"/>
                  <a:miter/>
                </a:ln>
              </p:spPr>
              <p:txBody>
                <a:bodyPr rtlCol="0" anchor="ctr"/>
                <a:lstStyle/>
                <a:p>
                  <a:endParaRPr lang="zh-CN" altLang="en-US"/>
                </a:p>
              </p:txBody>
            </p:sp>
            <p:sp>
              <p:nvSpPr>
                <p:cNvPr id="31" name="任意多边形: 形状 30"/>
                <p:cNvSpPr/>
                <p:nvPr/>
              </p:nvSpPr>
              <p:spPr>
                <a:xfrm>
                  <a:off x="8810681" y="964247"/>
                  <a:ext cx="120678" cy="87629"/>
                </a:xfrm>
                <a:custGeom>
                  <a:avLst/>
                  <a:gdLst>
                    <a:gd name="connsiteX0" fmla="*/ 24351 w 120678"/>
                    <a:gd name="connsiteY0" fmla="*/ 87629 h 87629"/>
                    <a:gd name="connsiteX1" fmla="*/ 41730 w 120678"/>
                    <a:gd name="connsiteY1" fmla="*/ 87629 h 87629"/>
                    <a:gd name="connsiteX2" fmla="*/ 53897 w 120678"/>
                    <a:gd name="connsiteY2" fmla="*/ 40706 h 87629"/>
                    <a:gd name="connsiteX3" fmla="*/ 57006 w 120678"/>
                    <a:gd name="connsiteY3" fmla="*/ 28054 h 87629"/>
                    <a:gd name="connsiteX4" fmla="*/ 59863 w 120678"/>
                    <a:gd name="connsiteY4" fmla="*/ 15150 h 87629"/>
                    <a:gd name="connsiteX5" fmla="*/ 60726 w 120678"/>
                    <a:gd name="connsiteY5" fmla="*/ 15150 h 87629"/>
                    <a:gd name="connsiteX6" fmla="*/ 63583 w 120678"/>
                    <a:gd name="connsiteY6" fmla="*/ 28054 h 87629"/>
                    <a:gd name="connsiteX7" fmla="*/ 66692 w 120678"/>
                    <a:gd name="connsiteY7" fmla="*/ 40346 h 87629"/>
                    <a:gd name="connsiteX8" fmla="*/ 79470 w 120678"/>
                    <a:gd name="connsiteY8" fmla="*/ 87629 h 87629"/>
                    <a:gd name="connsiteX9" fmla="*/ 97226 w 120678"/>
                    <a:gd name="connsiteY9" fmla="*/ 87629 h 87629"/>
                    <a:gd name="connsiteX10" fmla="*/ 120679 w 120678"/>
                    <a:gd name="connsiteY10" fmla="*/ 0 h 87629"/>
                    <a:gd name="connsiteX11" fmla="*/ 106895 w 120678"/>
                    <a:gd name="connsiteY11" fmla="*/ 0 h 87629"/>
                    <a:gd name="connsiteX12" fmla="*/ 93991 w 120678"/>
                    <a:gd name="connsiteY12" fmla="*/ 50644 h 87629"/>
                    <a:gd name="connsiteX13" fmla="*/ 91259 w 120678"/>
                    <a:gd name="connsiteY13" fmla="*/ 63062 h 87629"/>
                    <a:gd name="connsiteX14" fmla="*/ 88402 w 120678"/>
                    <a:gd name="connsiteY14" fmla="*/ 75229 h 87629"/>
                    <a:gd name="connsiteX15" fmla="*/ 87773 w 120678"/>
                    <a:gd name="connsiteY15" fmla="*/ 75229 h 87629"/>
                    <a:gd name="connsiteX16" fmla="*/ 84790 w 120678"/>
                    <a:gd name="connsiteY16" fmla="*/ 63062 h 87629"/>
                    <a:gd name="connsiteX17" fmla="*/ 81681 w 120678"/>
                    <a:gd name="connsiteY17" fmla="*/ 50644 h 87629"/>
                    <a:gd name="connsiteX18" fmla="*/ 67896 w 120678"/>
                    <a:gd name="connsiteY18" fmla="*/ 0 h 87629"/>
                    <a:gd name="connsiteX19" fmla="*/ 53627 w 120678"/>
                    <a:gd name="connsiteY19" fmla="*/ 0 h 87629"/>
                    <a:gd name="connsiteX20" fmla="*/ 40094 w 120678"/>
                    <a:gd name="connsiteY20" fmla="*/ 50644 h 87629"/>
                    <a:gd name="connsiteX21" fmla="*/ 36985 w 120678"/>
                    <a:gd name="connsiteY21" fmla="*/ 62936 h 87629"/>
                    <a:gd name="connsiteX22" fmla="*/ 34002 w 120678"/>
                    <a:gd name="connsiteY22" fmla="*/ 75229 h 87629"/>
                    <a:gd name="connsiteX23" fmla="*/ 33265 w 120678"/>
                    <a:gd name="connsiteY23" fmla="*/ 75229 h 87629"/>
                    <a:gd name="connsiteX24" fmla="*/ 30785 w 120678"/>
                    <a:gd name="connsiteY24" fmla="*/ 63062 h 87629"/>
                    <a:gd name="connsiteX25" fmla="*/ 28054 w 120678"/>
                    <a:gd name="connsiteY25" fmla="*/ 50644 h 87629"/>
                    <a:gd name="connsiteX26" fmla="*/ 15024 w 120678"/>
                    <a:gd name="connsiteY26" fmla="*/ 0 h 87629"/>
                    <a:gd name="connsiteX27" fmla="*/ 0 w 120678"/>
                    <a:gd name="connsiteY27" fmla="*/ 0 h 87629"/>
                    <a:gd name="connsiteX28" fmla="*/ 24351 w 120678"/>
                    <a:gd name="connsiteY28" fmla="*/ 87629 h 87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0678" h="87629">
                      <a:moveTo>
                        <a:pt x="24351" y="87629"/>
                      </a:moveTo>
                      <a:lnTo>
                        <a:pt x="41730" y="87629"/>
                      </a:lnTo>
                      <a:lnTo>
                        <a:pt x="53897" y="40706"/>
                      </a:lnTo>
                      <a:cubicBezTo>
                        <a:pt x="55011" y="36482"/>
                        <a:pt x="56125" y="32259"/>
                        <a:pt x="57006" y="28054"/>
                      </a:cubicBezTo>
                      <a:lnTo>
                        <a:pt x="59863" y="15150"/>
                      </a:lnTo>
                      <a:lnTo>
                        <a:pt x="60726" y="15150"/>
                      </a:lnTo>
                      <a:lnTo>
                        <a:pt x="63583" y="28054"/>
                      </a:lnTo>
                      <a:cubicBezTo>
                        <a:pt x="64572" y="32151"/>
                        <a:pt x="65578" y="36249"/>
                        <a:pt x="66692" y="40346"/>
                      </a:cubicBezTo>
                      <a:lnTo>
                        <a:pt x="79470" y="87629"/>
                      </a:lnTo>
                      <a:lnTo>
                        <a:pt x="97226" y="87629"/>
                      </a:lnTo>
                      <a:lnTo>
                        <a:pt x="120679" y="0"/>
                      </a:lnTo>
                      <a:lnTo>
                        <a:pt x="106895" y="0"/>
                      </a:lnTo>
                      <a:lnTo>
                        <a:pt x="93991" y="50644"/>
                      </a:lnTo>
                      <a:lnTo>
                        <a:pt x="91259" y="63062"/>
                      </a:lnTo>
                      <a:lnTo>
                        <a:pt x="88402" y="75229"/>
                      </a:lnTo>
                      <a:lnTo>
                        <a:pt x="87773" y="75229"/>
                      </a:lnTo>
                      <a:lnTo>
                        <a:pt x="84790" y="63062"/>
                      </a:lnTo>
                      <a:lnTo>
                        <a:pt x="81681" y="50644"/>
                      </a:lnTo>
                      <a:lnTo>
                        <a:pt x="67896" y="0"/>
                      </a:lnTo>
                      <a:lnTo>
                        <a:pt x="53627" y="0"/>
                      </a:lnTo>
                      <a:lnTo>
                        <a:pt x="40094" y="50644"/>
                      </a:lnTo>
                      <a:cubicBezTo>
                        <a:pt x="38980" y="54741"/>
                        <a:pt x="37866" y="58839"/>
                        <a:pt x="36985" y="62936"/>
                      </a:cubicBezTo>
                      <a:lnTo>
                        <a:pt x="34002" y="75229"/>
                      </a:lnTo>
                      <a:lnTo>
                        <a:pt x="33265" y="75229"/>
                      </a:lnTo>
                      <a:lnTo>
                        <a:pt x="30785" y="63062"/>
                      </a:lnTo>
                      <a:lnTo>
                        <a:pt x="28054" y="50644"/>
                      </a:lnTo>
                      <a:lnTo>
                        <a:pt x="15024" y="0"/>
                      </a:lnTo>
                      <a:lnTo>
                        <a:pt x="0" y="0"/>
                      </a:lnTo>
                      <a:lnTo>
                        <a:pt x="24351" y="87629"/>
                      </a:lnTo>
                      <a:close/>
                    </a:path>
                  </a:pathLst>
                </a:custGeom>
                <a:solidFill>
                  <a:srgbClr val="999999"/>
                </a:solidFill>
                <a:ln w="6350" cap="flat">
                  <a:solidFill>
                    <a:srgbClr val="999999"/>
                  </a:solidFill>
                  <a:prstDash val="solid"/>
                  <a:miter/>
                </a:ln>
              </p:spPr>
              <p:txBody>
                <a:bodyPr rtlCol="0" anchor="ctr"/>
                <a:lstStyle/>
                <a:p>
                  <a:endParaRPr lang="zh-CN" altLang="en-US"/>
                </a:p>
              </p:txBody>
            </p:sp>
            <p:sp>
              <p:nvSpPr>
                <p:cNvPr id="32" name="任意多边形: 形状 31"/>
                <p:cNvSpPr/>
                <p:nvPr/>
              </p:nvSpPr>
              <p:spPr>
                <a:xfrm>
                  <a:off x="8947228" y="964247"/>
                  <a:ext cx="120678" cy="87629"/>
                </a:xfrm>
                <a:custGeom>
                  <a:avLst/>
                  <a:gdLst>
                    <a:gd name="connsiteX0" fmla="*/ 24351 w 120678"/>
                    <a:gd name="connsiteY0" fmla="*/ 87629 h 87629"/>
                    <a:gd name="connsiteX1" fmla="*/ 41730 w 120678"/>
                    <a:gd name="connsiteY1" fmla="*/ 87629 h 87629"/>
                    <a:gd name="connsiteX2" fmla="*/ 53897 w 120678"/>
                    <a:gd name="connsiteY2" fmla="*/ 40706 h 87629"/>
                    <a:gd name="connsiteX3" fmla="*/ 57006 w 120678"/>
                    <a:gd name="connsiteY3" fmla="*/ 28054 h 87629"/>
                    <a:gd name="connsiteX4" fmla="*/ 59863 w 120678"/>
                    <a:gd name="connsiteY4" fmla="*/ 15150 h 87629"/>
                    <a:gd name="connsiteX5" fmla="*/ 60726 w 120678"/>
                    <a:gd name="connsiteY5" fmla="*/ 15150 h 87629"/>
                    <a:gd name="connsiteX6" fmla="*/ 63583 w 120678"/>
                    <a:gd name="connsiteY6" fmla="*/ 28054 h 87629"/>
                    <a:gd name="connsiteX7" fmla="*/ 66692 w 120678"/>
                    <a:gd name="connsiteY7" fmla="*/ 40346 h 87629"/>
                    <a:gd name="connsiteX8" fmla="*/ 79470 w 120678"/>
                    <a:gd name="connsiteY8" fmla="*/ 87629 h 87629"/>
                    <a:gd name="connsiteX9" fmla="*/ 97226 w 120678"/>
                    <a:gd name="connsiteY9" fmla="*/ 87629 h 87629"/>
                    <a:gd name="connsiteX10" fmla="*/ 120679 w 120678"/>
                    <a:gd name="connsiteY10" fmla="*/ 0 h 87629"/>
                    <a:gd name="connsiteX11" fmla="*/ 106895 w 120678"/>
                    <a:gd name="connsiteY11" fmla="*/ 0 h 87629"/>
                    <a:gd name="connsiteX12" fmla="*/ 93991 w 120678"/>
                    <a:gd name="connsiteY12" fmla="*/ 50644 h 87629"/>
                    <a:gd name="connsiteX13" fmla="*/ 91259 w 120678"/>
                    <a:gd name="connsiteY13" fmla="*/ 63062 h 87629"/>
                    <a:gd name="connsiteX14" fmla="*/ 88402 w 120678"/>
                    <a:gd name="connsiteY14" fmla="*/ 75229 h 87629"/>
                    <a:gd name="connsiteX15" fmla="*/ 87773 w 120678"/>
                    <a:gd name="connsiteY15" fmla="*/ 75229 h 87629"/>
                    <a:gd name="connsiteX16" fmla="*/ 84790 w 120678"/>
                    <a:gd name="connsiteY16" fmla="*/ 63062 h 87629"/>
                    <a:gd name="connsiteX17" fmla="*/ 81681 w 120678"/>
                    <a:gd name="connsiteY17" fmla="*/ 50644 h 87629"/>
                    <a:gd name="connsiteX18" fmla="*/ 67897 w 120678"/>
                    <a:gd name="connsiteY18" fmla="*/ 0 h 87629"/>
                    <a:gd name="connsiteX19" fmla="*/ 53627 w 120678"/>
                    <a:gd name="connsiteY19" fmla="*/ 0 h 87629"/>
                    <a:gd name="connsiteX20" fmla="*/ 40094 w 120678"/>
                    <a:gd name="connsiteY20" fmla="*/ 50644 h 87629"/>
                    <a:gd name="connsiteX21" fmla="*/ 36985 w 120678"/>
                    <a:gd name="connsiteY21" fmla="*/ 62936 h 87629"/>
                    <a:gd name="connsiteX22" fmla="*/ 34002 w 120678"/>
                    <a:gd name="connsiteY22" fmla="*/ 75229 h 87629"/>
                    <a:gd name="connsiteX23" fmla="*/ 33265 w 120678"/>
                    <a:gd name="connsiteY23" fmla="*/ 75229 h 87629"/>
                    <a:gd name="connsiteX24" fmla="*/ 30785 w 120678"/>
                    <a:gd name="connsiteY24" fmla="*/ 63062 h 87629"/>
                    <a:gd name="connsiteX25" fmla="*/ 28054 w 120678"/>
                    <a:gd name="connsiteY25" fmla="*/ 50644 h 87629"/>
                    <a:gd name="connsiteX26" fmla="*/ 15024 w 120678"/>
                    <a:gd name="connsiteY26" fmla="*/ 0 h 87629"/>
                    <a:gd name="connsiteX27" fmla="*/ 0 w 120678"/>
                    <a:gd name="connsiteY27" fmla="*/ 0 h 87629"/>
                    <a:gd name="connsiteX28" fmla="*/ 24351 w 120678"/>
                    <a:gd name="connsiteY28" fmla="*/ 87629 h 87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0678" h="87629">
                      <a:moveTo>
                        <a:pt x="24351" y="87629"/>
                      </a:moveTo>
                      <a:lnTo>
                        <a:pt x="41730" y="87629"/>
                      </a:lnTo>
                      <a:lnTo>
                        <a:pt x="53897" y="40706"/>
                      </a:lnTo>
                      <a:cubicBezTo>
                        <a:pt x="55011" y="36482"/>
                        <a:pt x="56125" y="32259"/>
                        <a:pt x="57006" y="28054"/>
                      </a:cubicBezTo>
                      <a:lnTo>
                        <a:pt x="59863" y="15150"/>
                      </a:lnTo>
                      <a:lnTo>
                        <a:pt x="60726" y="15150"/>
                      </a:lnTo>
                      <a:lnTo>
                        <a:pt x="63583" y="28054"/>
                      </a:lnTo>
                      <a:cubicBezTo>
                        <a:pt x="64572" y="32151"/>
                        <a:pt x="65578" y="36249"/>
                        <a:pt x="66692" y="40346"/>
                      </a:cubicBezTo>
                      <a:lnTo>
                        <a:pt x="79470" y="87629"/>
                      </a:lnTo>
                      <a:lnTo>
                        <a:pt x="97226" y="87629"/>
                      </a:lnTo>
                      <a:lnTo>
                        <a:pt x="120679" y="0"/>
                      </a:lnTo>
                      <a:lnTo>
                        <a:pt x="106895" y="0"/>
                      </a:lnTo>
                      <a:lnTo>
                        <a:pt x="93991" y="50644"/>
                      </a:lnTo>
                      <a:lnTo>
                        <a:pt x="91259" y="63062"/>
                      </a:lnTo>
                      <a:lnTo>
                        <a:pt x="88402" y="75229"/>
                      </a:lnTo>
                      <a:lnTo>
                        <a:pt x="87773" y="75229"/>
                      </a:lnTo>
                      <a:lnTo>
                        <a:pt x="84790" y="63062"/>
                      </a:lnTo>
                      <a:lnTo>
                        <a:pt x="81681" y="50644"/>
                      </a:lnTo>
                      <a:lnTo>
                        <a:pt x="67897" y="0"/>
                      </a:lnTo>
                      <a:lnTo>
                        <a:pt x="53627" y="0"/>
                      </a:lnTo>
                      <a:lnTo>
                        <a:pt x="40094" y="50644"/>
                      </a:lnTo>
                      <a:cubicBezTo>
                        <a:pt x="38980" y="54741"/>
                        <a:pt x="37866" y="58839"/>
                        <a:pt x="36985" y="62936"/>
                      </a:cubicBezTo>
                      <a:lnTo>
                        <a:pt x="34002" y="75229"/>
                      </a:lnTo>
                      <a:lnTo>
                        <a:pt x="33265" y="75229"/>
                      </a:lnTo>
                      <a:lnTo>
                        <a:pt x="30785" y="63062"/>
                      </a:lnTo>
                      <a:lnTo>
                        <a:pt x="28054" y="50644"/>
                      </a:lnTo>
                      <a:lnTo>
                        <a:pt x="15024" y="0"/>
                      </a:lnTo>
                      <a:lnTo>
                        <a:pt x="0" y="0"/>
                      </a:lnTo>
                      <a:lnTo>
                        <a:pt x="24351" y="87629"/>
                      </a:lnTo>
                      <a:close/>
                    </a:path>
                  </a:pathLst>
                </a:custGeom>
                <a:solidFill>
                  <a:srgbClr val="999999"/>
                </a:solidFill>
                <a:ln w="6350" cap="flat">
                  <a:solidFill>
                    <a:srgbClr val="999999"/>
                  </a:solidFill>
                  <a:prstDash val="solid"/>
                  <a:miter/>
                </a:ln>
              </p:spPr>
              <p:txBody>
                <a:bodyPr rtlCol="0" anchor="ctr"/>
                <a:lstStyle/>
                <a:p>
                  <a:endParaRPr lang="zh-CN" altLang="en-US"/>
                </a:p>
              </p:txBody>
            </p:sp>
            <p:sp>
              <p:nvSpPr>
                <p:cNvPr id="33" name="任意多边形: 形状 32"/>
                <p:cNvSpPr/>
                <p:nvPr/>
              </p:nvSpPr>
              <p:spPr>
                <a:xfrm>
                  <a:off x="9078816" y="1031389"/>
                  <a:ext cx="21224" cy="22608"/>
                </a:xfrm>
                <a:custGeom>
                  <a:avLst/>
                  <a:gdLst>
                    <a:gd name="connsiteX0" fmla="*/ 10675 w 21224"/>
                    <a:gd name="connsiteY0" fmla="*/ 22608 h 22608"/>
                    <a:gd name="connsiteX1" fmla="*/ 18115 w 21224"/>
                    <a:gd name="connsiteY1" fmla="*/ 19499 h 22608"/>
                    <a:gd name="connsiteX2" fmla="*/ 21224 w 21224"/>
                    <a:gd name="connsiteY2" fmla="*/ 11430 h 22608"/>
                    <a:gd name="connsiteX3" fmla="*/ 18115 w 21224"/>
                    <a:gd name="connsiteY3" fmla="*/ 3235 h 22608"/>
                    <a:gd name="connsiteX4" fmla="*/ 10675 w 21224"/>
                    <a:gd name="connsiteY4" fmla="*/ 0 h 22608"/>
                    <a:gd name="connsiteX5" fmla="*/ 3109 w 21224"/>
                    <a:gd name="connsiteY5" fmla="*/ 3235 h 22608"/>
                    <a:gd name="connsiteX6" fmla="*/ 0 w 21224"/>
                    <a:gd name="connsiteY6" fmla="*/ 11430 h 22608"/>
                    <a:gd name="connsiteX7" fmla="*/ 3109 w 21224"/>
                    <a:gd name="connsiteY7" fmla="*/ 19499 h 22608"/>
                    <a:gd name="connsiteX8" fmla="*/ 10675 w 21224"/>
                    <a:gd name="connsiteY8" fmla="*/ 22608 h 22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24" h="22608">
                      <a:moveTo>
                        <a:pt x="10675" y="22608"/>
                      </a:moveTo>
                      <a:cubicBezTo>
                        <a:pt x="13658" y="22482"/>
                        <a:pt x="16138" y="21494"/>
                        <a:pt x="18115" y="19499"/>
                      </a:cubicBezTo>
                      <a:cubicBezTo>
                        <a:pt x="20110" y="17504"/>
                        <a:pt x="21224" y="14791"/>
                        <a:pt x="21224" y="11430"/>
                      </a:cubicBezTo>
                      <a:cubicBezTo>
                        <a:pt x="21224" y="8069"/>
                        <a:pt x="20110" y="5356"/>
                        <a:pt x="18115" y="3235"/>
                      </a:cubicBezTo>
                      <a:cubicBezTo>
                        <a:pt x="16120" y="1132"/>
                        <a:pt x="13640" y="0"/>
                        <a:pt x="10675" y="0"/>
                      </a:cubicBezTo>
                      <a:cubicBezTo>
                        <a:pt x="7692" y="0"/>
                        <a:pt x="5212" y="1114"/>
                        <a:pt x="3109" y="3235"/>
                      </a:cubicBezTo>
                      <a:cubicBezTo>
                        <a:pt x="1114" y="5338"/>
                        <a:pt x="126" y="8069"/>
                        <a:pt x="0" y="11430"/>
                      </a:cubicBezTo>
                      <a:cubicBezTo>
                        <a:pt x="126" y="14773"/>
                        <a:pt x="1114" y="17504"/>
                        <a:pt x="3109" y="19499"/>
                      </a:cubicBezTo>
                      <a:cubicBezTo>
                        <a:pt x="5212" y="21476"/>
                        <a:pt x="7692" y="22482"/>
                        <a:pt x="10675" y="22608"/>
                      </a:cubicBezTo>
                      <a:close/>
                    </a:path>
                  </a:pathLst>
                </a:custGeom>
                <a:solidFill>
                  <a:srgbClr val="999999"/>
                </a:solidFill>
                <a:ln w="6350" cap="flat">
                  <a:solidFill>
                    <a:srgbClr val="999999"/>
                  </a:solidFill>
                  <a:prstDash val="solid"/>
                  <a:miter/>
                </a:ln>
              </p:spPr>
              <p:txBody>
                <a:bodyPr rtlCol="0" anchor="ctr"/>
                <a:lstStyle/>
                <a:p>
                  <a:endParaRPr lang="zh-CN" altLang="en-US"/>
                </a:p>
              </p:txBody>
            </p:sp>
          </p:grpSp>
          <p:grpSp>
            <p:nvGrpSpPr>
              <p:cNvPr id="12" name="组合 11"/>
              <p:cNvGrpSpPr/>
              <p:nvPr userDrawn="1"/>
            </p:nvGrpSpPr>
            <p:grpSpPr>
              <a:xfrm>
                <a:off x="2487485" y="3830214"/>
                <a:ext cx="173892" cy="129934"/>
                <a:chOff x="9130663" y="924063"/>
                <a:chExt cx="173892" cy="129934"/>
              </a:xfrm>
            </p:grpSpPr>
            <p:sp>
              <p:nvSpPr>
                <p:cNvPr id="28" name="任意多边形: 形状 27"/>
                <p:cNvSpPr/>
                <p:nvPr/>
              </p:nvSpPr>
              <p:spPr>
                <a:xfrm>
                  <a:off x="9130663" y="933588"/>
                  <a:ext cx="76343" cy="120409"/>
                </a:xfrm>
                <a:custGeom>
                  <a:avLst/>
                  <a:gdLst>
                    <a:gd name="connsiteX0" fmla="*/ 37614 w 76343"/>
                    <a:gd name="connsiteY0" fmla="*/ 120409 h 120409"/>
                    <a:gd name="connsiteX1" fmla="*/ 56610 w 76343"/>
                    <a:gd name="connsiteY1" fmla="*/ 115575 h 120409"/>
                    <a:gd name="connsiteX2" fmla="*/ 70754 w 76343"/>
                    <a:gd name="connsiteY2" fmla="*/ 101791 h 120409"/>
                    <a:gd name="connsiteX3" fmla="*/ 76343 w 76343"/>
                    <a:gd name="connsiteY3" fmla="*/ 79704 h 120409"/>
                    <a:gd name="connsiteX4" fmla="*/ 65920 w 76343"/>
                    <a:gd name="connsiteY4" fmla="*/ 51147 h 120409"/>
                    <a:gd name="connsiteX5" fmla="*/ 40723 w 76343"/>
                    <a:gd name="connsiteY5" fmla="*/ 42089 h 120409"/>
                    <a:gd name="connsiteX6" fmla="*/ 31163 w 76343"/>
                    <a:gd name="connsiteY6" fmla="*/ 43455 h 120409"/>
                    <a:gd name="connsiteX7" fmla="*/ 23093 w 76343"/>
                    <a:gd name="connsiteY7" fmla="*/ 46798 h 120409"/>
                    <a:gd name="connsiteX8" fmla="*/ 26077 w 76343"/>
                    <a:gd name="connsiteY8" fmla="*/ 12544 h 120409"/>
                    <a:gd name="connsiteX9" fmla="*/ 70754 w 76343"/>
                    <a:gd name="connsiteY9" fmla="*/ 12544 h 120409"/>
                    <a:gd name="connsiteX10" fmla="*/ 70754 w 76343"/>
                    <a:gd name="connsiteY10" fmla="*/ 0 h 120409"/>
                    <a:gd name="connsiteX11" fmla="*/ 13155 w 76343"/>
                    <a:gd name="connsiteY11" fmla="*/ 0 h 120409"/>
                    <a:gd name="connsiteX12" fmla="*/ 9435 w 76343"/>
                    <a:gd name="connsiteY12" fmla="*/ 55352 h 120409"/>
                    <a:gd name="connsiteX13" fmla="*/ 17378 w 76343"/>
                    <a:gd name="connsiteY13" fmla="*/ 60187 h 120409"/>
                    <a:gd name="connsiteX14" fmla="*/ 26688 w 76343"/>
                    <a:gd name="connsiteY14" fmla="*/ 54975 h 120409"/>
                    <a:gd name="connsiteX15" fmla="*/ 36985 w 76343"/>
                    <a:gd name="connsiteY15" fmla="*/ 53232 h 120409"/>
                    <a:gd name="connsiteX16" fmla="*/ 54867 w 76343"/>
                    <a:gd name="connsiteY16" fmla="*/ 60312 h 120409"/>
                    <a:gd name="connsiteX17" fmla="*/ 61570 w 76343"/>
                    <a:gd name="connsiteY17" fmla="*/ 80171 h 120409"/>
                    <a:gd name="connsiteX18" fmla="*/ 54130 w 76343"/>
                    <a:gd name="connsiteY18" fmla="*/ 100659 h 120409"/>
                    <a:gd name="connsiteX19" fmla="*/ 36374 w 76343"/>
                    <a:gd name="connsiteY19" fmla="*/ 108099 h 120409"/>
                    <a:gd name="connsiteX20" fmla="*/ 19247 w 76343"/>
                    <a:gd name="connsiteY20" fmla="*/ 104127 h 120409"/>
                    <a:gd name="connsiteX21" fmla="*/ 7332 w 76343"/>
                    <a:gd name="connsiteY21" fmla="*/ 95069 h 120409"/>
                    <a:gd name="connsiteX22" fmla="*/ 0 w 76343"/>
                    <a:gd name="connsiteY22" fmla="*/ 104756 h 120409"/>
                    <a:gd name="connsiteX23" fmla="*/ 14898 w 76343"/>
                    <a:gd name="connsiteY23" fmla="*/ 115557 h 120409"/>
                    <a:gd name="connsiteX24" fmla="*/ 37614 w 76343"/>
                    <a:gd name="connsiteY24" fmla="*/ 120409 h 12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6343" h="120409">
                      <a:moveTo>
                        <a:pt x="37614" y="120409"/>
                      </a:moveTo>
                      <a:cubicBezTo>
                        <a:pt x="44444" y="120409"/>
                        <a:pt x="50770" y="118792"/>
                        <a:pt x="56610" y="115575"/>
                      </a:cubicBezTo>
                      <a:cubicBezTo>
                        <a:pt x="62451" y="112466"/>
                        <a:pt x="67160" y="107883"/>
                        <a:pt x="70754" y="101791"/>
                      </a:cubicBezTo>
                      <a:cubicBezTo>
                        <a:pt x="74348" y="95824"/>
                        <a:pt x="76217" y="88384"/>
                        <a:pt x="76343" y="79704"/>
                      </a:cubicBezTo>
                      <a:cubicBezTo>
                        <a:pt x="76091" y="66800"/>
                        <a:pt x="72623" y="57239"/>
                        <a:pt x="65920" y="51147"/>
                      </a:cubicBezTo>
                      <a:cubicBezTo>
                        <a:pt x="59216" y="45055"/>
                        <a:pt x="50770" y="42089"/>
                        <a:pt x="40723" y="42089"/>
                      </a:cubicBezTo>
                      <a:cubicBezTo>
                        <a:pt x="37255" y="42215"/>
                        <a:pt x="34020" y="42593"/>
                        <a:pt x="31163" y="43455"/>
                      </a:cubicBezTo>
                      <a:cubicBezTo>
                        <a:pt x="28431" y="44192"/>
                        <a:pt x="25699" y="45324"/>
                        <a:pt x="23093" y="46798"/>
                      </a:cubicBezTo>
                      <a:lnTo>
                        <a:pt x="26077" y="12544"/>
                      </a:lnTo>
                      <a:lnTo>
                        <a:pt x="70754" y="12544"/>
                      </a:lnTo>
                      <a:lnTo>
                        <a:pt x="70754" y="0"/>
                      </a:lnTo>
                      <a:lnTo>
                        <a:pt x="13155" y="0"/>
                      </a:lnTo>
                      <a:lnTo>
                        <a:pt x="9435" y="55352"/>
                      </a:lnTo>
                      <a:lnTo>
                        <a:pt x="17378" y="60187"/>
                      </a:lnTo>
                      <a:cubicBezTo>
                        <a:pt x="20613" y="57958"/>
                        <a:pt x="23704" y="56215"/>
                        <a:pt x="26688" y="54975"/>
                      </a:cubicBezTo>
                      <a:cubicBezTo>
                        <a:pt x="29797" y="53861"/>
                        <a:pt x="33140" y="53232"/>
                        <a:pt x="36985" y="53232"/>
                      </a:cubicBezTo>
                      <a:cubicBezTo>
                        <a:pt x="44551" y="53358"/>
                        <a:pt x="50518" y="55712"/>
                        <a:pt x="54867" y="60312"/>
                      </a:cubicBezTo>
                      <a:cubicBezTo>
                        <a:pt x="59216" y="65021"/>
                        <a:pt x="61445" y="71617"/>
                        <a:pt x="61570" y="80171"/>
                      </a:cubicBezTo>
                      <a:cubicBezTo>
                        <a:pt x="61319" y="88851"/>
                        <a:pt x="58839" y="95681"/>
                        <a:pt x="54130" y="100659"/>
                      </a:cubicBezTo>
                      <a:cubicBezTo>
                        <a:pt x="49422" y="105493"/>
                        <a:pt x="43455" y="108099"/>
                        <a:pt x="36374" y="108099"/>
                      </a:cubicBezTo>
                      <a:cubicBezTo>
                        <a:pt x="29545" y="107973"/>
                        <a:pt x="23830" y="106607"/>
                        <a:pt x="19247" y="104127"/>
                      </a:cubicBezTo>
                      <a:cubicBezTo>
                        <a:pt x="14647" y="101647"/>
                        <a:pt x="10675" y="98538"/>
                        <a:pt x="7332" y="95069"/>
                      </a:cubicBezTo>
                      <a:lnTo>
                        <a:pt x="0" y="104756"/>
                      </a:lnTo>
                      <a:cubicBezTo>
                        <a:pt x="3972" y="108854"/>
                        <a:pt x="8932" y="112448"/>
                        <a:pt x="14898" y="115557"/>
                      </a:cubicBezTo>
                      <a:cubicBezTo>
                        <a:pt x="20991" y="118666"/>
                        <a:pt x="28557" y="120284"/>
                        <a:pt x="37614" y="120409"/>
                      </a:cubicBezTo>
                      <a:close/>
                    </a:path>
                  </a:pathLst>
                </a:custGeom>
                <a:solidFill>
                  <a:srgbClr val="FF5200"/>
                </a:solidFill>
                <a:ln w="6350" cap="flat">
                  <a:solidFill>
                    <a:srgbClr val="FF5200"/>
                  </a:solidFill>
                  <a:prstDash val="solid"/>
                  <a:miter/>
                </a:ln>
              </p:spPr>
              <p:txBody>
                <a:bodyPr rtlCol="0" anchor="ctr"/>
                <a:lstStyle/>
                <a:p>
                  <a:endParaRPr lang="zh-CN" altLang="en-US"/>
                </a:p>
              </p:txBody>
            </p:sp>
            <p:sp>
              <p:nvSpPr>
                <p:cNvPr id="29" name="任意多边形: 形状 28"/>
                <p:cNvSpPr/>
                <p:nvPr/>
              </p:nvSpPr>
              <p:spPr>
                <a:xfrm>
                  <a:off x="9239624" y="924063"/>
                  <a:ext cx="64931" cy="126897"/>
                </a:xfrm>
                <a:custGeom>
                  <a:avLst/>
                  <a:gdLst>
                    <a:gd name="connsiteX0" fmla="*/ 18 w 64931"/>
                    <a:gd name="connsiteY0" fmla="*/ 118289 h 118288"/>
                    <a:gd name="connsiteX1" fmla="*/ 64931 w 64931"/>
                    <a:gd name="connsiteY1" fmla="*/ 118289 h 118288"/>
                    <a:gd name="connsiteX2" fmla="*/ 64931 w 64931"/>
                    <a:gd name="connsiteY2" fmla="*/ 105996 h 118288"/>
                    <a:gd name="connsiteX3" fmla="*/ 41227 w 64931"/>
                    <a:gd name="connsiteY3" fmla="*/ 105996 h 118288"/>
                    <a:gd name="connsiteX4" fmla="*/ 41227 w 64931"/>
                    <a:gd name="connsiteY4" fmla="*/ 0 h 118288"/>
                    <a:gd name="connsiteX5" fmla="*/ 29923 w 64931"/>
                    <a:gd name="connsiteY5" fmla="*/ 0 h 118288"/>
                    <a:gd name="connsiteX6" fmla="*/ 19122 w 64931"/>
                    <a:gd name="connsiteY6" fmla="*/ 4834 h 118288"/>
                    <a:gd name="connsiteX7" fmla="*/ 5337 w 64931"/>
                    <a:gd name="connsiteY7" fmla="*/ 8429 h 118288"/>
                    <a:gd name="connsiteX8" fmla="*/ 5337 w 64931"/>
                    <a:gd name="connsiteY8" fmla="*/ 17738 h 118288"/>
                    <a:gd name="connsiteX9" fmla="*/ 26310 w 64931"/>
                    <a:gd name="connsiteY9" fmla="*/ 17738 h 118288"/>
                    <a:gd name="connsiteX10" fmla="*/ 26310 w 64931"/>
                    <a:gd name="connsiteY10" fmla="*/ 105996 h 118288"/>
                    <a:gd name="connsiteX11" fmla="*/ 0 w 64931"/>
                    <a:gd name="connsiteY11" fmla="*/ 105996 h 118288"/>
                    <a:gd name="connsiteX12" fmla="*/ 0 w 64931"/>
                    <a:gd name="connsiteY12" fmla="*/ 118289 h 1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931" h="118288">
                      <a:moveTo>
                        <a:pt x="18" y="118289"/>
                      </a:moveTo>
                      <a:lnTo>
                        <a:pt x="64931" y="118289"/>
                      </a:lnTo>
                      <a:lnTo>
                        <a:pt x="64931" y="105996"/>
                      </a:lnTo>
                      <a:lnTo>
                        <a:pt x="41227" y="105996"/>
                      </a:lnTo>
                      <a:lnTo>
                        <a:pt x="41227" y="0"/>
                      </a:lnTo>
                      <a:lnTo>
                        <a:pt x="29923" y="0"/>
                      </a:lnTo>
                      <a:cubicBezTo>
                        <a:pt x="26688" y="1869"/>
                        <a:pt x="23093" y="3469"/>
                        <a:pt x="19122" y="4834"/>
                      </a:cubicBezTo>
                      <a:cubicBezTo>
                        <a:pt x="15150" y="6200"/>
                        <a:pt x="10549" y="7440"/>
                        <a:pt x="5337" y="8429"/>
                      </a:cubicBezTo>
                      <a:lnTo>
                        <a:pt x="5337" y="17738"/>
                      </a:lnTo>
                      <a:lnTo>
                        <a:pt x="26310" y="17738"/>
                      </a:lnTo>
                      <a:lnTo>
                        <a:pt x="26310" y="105996"/>
                      </a:lnTo>
                      <a:lnTo>
                        <a:pt x="0" y="105996"/>
                      </a:lnTo>
                      <a:lnTo>
                        <a:pt x="0" y="118289"/>
                      </a:lnTo>
                      <a:close/>
                    </a:path>
                  </a:pathLst>
                </a:custGeom>
                <a:solidFill>
                  <a:srgbClr val="FF5200"/>
                </a:solidFill>
                <a:ln w="6350" cap="flat">
                  <a:solidFill>
                    <a:srgbClr val="FF5200"/>
                  </a:solidFill>
                  <a:prstDash val="solid"/>
                  <a:miter/>
                </a:ln>
              </p:spPr>
              <p:txBody>
                <a:bodyPr rtlCol="0" anchor="ctr"/>
                <a:lstStyle/>
                <a:p>
                  <a:endParaRPr lang="zh-CN" altLang="en-US"/>
                </a:p>
              </p:txBody>
            </p:sp>
          </p:grpSp>
          <p:grpSp>
            <p:nvGrpSpPr>
              <p:cNvPr id="13" name="组合 12"/>
              <p:cNvGrpSpPr/>
              <p:nvPr userDrawn="1"/>
            </p:nvGrpSpPr>
            <p:grpSpPr>
              <a:xfrm>
                <a:off x="2698897" y="3829531"/>
                <a:ext cx="804243" cy="165482"/>
                <a:chOff x="9323023" y="923380"/>
                <a:chExt cx="804243" cy="165482"/>
              </a:xfrm>
            </p:grpSpPr>
            <p:sp>
              <p:nvSpPr>
                <p:cNvPr id="20" name="任意多边形: 形状 19"/>
                <p:cNvSpPr/>
                <p:nvPr/>
              </p:nvSpPr>
              <p:spPr>
                <a:xfrm>
                  <a:off x="9323023" y="961965"/>
                  <a:ext cx="76594" cy="126897"/>
                </a:xfrm>
                <a:custGeom>
                  <a:avLst/>
                  <a:gdLst>
                    <a:gd name="connsiteX0" fmla="*/ 36123 w 76594"/>
                    <a:gd name="connsiteY0" fmla="*/ 79740 h 126897"/>
                    <a:gd name="connsiteX1" fmla="*/ 26185 w 76594"/>
                    <a:gd name="connsiteY1" fmla="*/ 77745 h 126897"/>
                    <a:gd name="connsiteX2" fmla="*/ 14647 w 76594"/>
                    <a:gd name="connsiteY2" fmla="*/ 70538 h 126897"/>
                    <a:gd name="connsiteX3" fmla="*/ 14647 w 76594"/>
                    <a:gd name="connsiteY3" fmla="*/ 24495 h 126897"/>
                    <a:gd name="connsiteX4" fmla="*/ 26813 w 76594"/>
                    <a:gd name="connsiteY4" fmla="*/ 15563 h 126897"/>
                    <a:gd name="connsiteX5" fmla="*/ 38225 w 76594"/>
                    <a:gd name="connsiteY5" fmla="*/ 12454 h 126897"/>
                    <a:gd name="connsiteX6" fmla="*/ 55981 w 76594"/>
                    <a:gd name="connsiteY6" fmla="*/ 21386 h 126897"/>
                    <a:gd name="connsiteX7" fmla="*/ 61319 w 76594"/>
                    <a:gd name="connsiteY7" fmla="*/ 44839 h 126897"/>
                    <a:gd name="connsiteX8" fmla="*/ 54112 w 76594"/>
                    <a:gd name="connsiteY8" fmla="*/ 70538 h 126897"/>
                    <a:gd name="connsiteX9" fmla="*/ 36123 w 76594"/>
                    <a:gd name="connsiteY9" fmla="*/ 79740 h 126897"/>
                    <a:gd name="connsiteX10" fmla="*/ 0 w 76594"/>
                    <a:gd name="connsiteY10" fmla="*/ 126897 h 126897"/>
                    <a:gd name="connsiteX11" fmla="*/ 14647 w 76594"/>
                    <a:gd name="connsiteY11" fmla="*/ 126897 h 126897"/>
                    <a:gd name="connsiteX12" fmla="*/ 14647 w 76594"/>
                    <a:gd name="connsiteY12" fmla="*/ 97100 h 126897"/>
                    <a:gd name="connsiteX13" fmla="*/ 14269 w 76594"/>
                    <a:gd name="connsiteY13" fmla="*/ 81824 h 126897"/>
                    <a:gd name="connsiteX14" fmla="*/ 26436 w 76594"/>
                    <a:gd name="connsiteY14" fmla="*/ 89265 h 126897"/>
                    <a:gd name="connsiteX15" fmla="*/ 38477 w 76594"/>
                    <a:gd name="connsiteY15" fmla="*/ 91996 h 126897"/>
                    <a:gd name="connsiteX16" fmla="*/ 57347 w 76594"/>
                    <a:gd name="connsiteY16" fmla="*/ 86407 h 126897"/>
                    <a:gd name="connsiteX17" fmla="*/ 71257 w 76594"/>
                    <a:gd name="connsiteY17" fmla="*/ 70269 h 126897"/>
                    <a:gd name="connsiteX18" fmla="*/ 76595 w 76594"/>
                    <a:gd name="connsiteY18" fmla="*/ 44695 h 126897"/>
                    <a:gd name="connsiteX19" fmla="*/ 67663 w 76594"/>
                    <a:gd name="connsiteY19" fmla="*/ 12293 h 126897"/>
                    <a:gd name="connsiteX20" fmla="*/ 41712 w 76594"/>
                    <a:gd name="connsiteY20" fmla="*/ 0 h 126897"/>
                    <a:gd name="connsiteX21" fmla="*/ 26939 w 76594"/>
                    <a:gd name="connsiteY21" fmla="*/ 3720 h 126897"/>
                    <a:gd name="connsiteX22" fmla="*/ 13784 w 76594"/>
                    <a:gd name="connsiteY22" fmla="*/ 12293 h 126897"/>
                    <a:gd name="connsiteX23" fmla="*/ 13281 w 76594"/>
                    <a:gd name="connsiteY23" fmla="*/ 12293 h 126897"/>
                    <a:gd name="connsiteX24" fmla="*/ 12041 w 76594"/>
                    <a:gd name="connsiteY24" fmla="*/ 2246 h 126897"/>
                    <a:gd name="connsiteX25" fmla="*/ 0 w 76594"/>
                    <a:gd name="connsiteY25" fmla="*/ 2246 h 126897"/>
                    <a:gd name="connsiteX26" fmla="*/ 0 w 76594"/>
                    <a:gd name="connsiteY26" fmla="*/ 126897 h 12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6594" h="126897">
                      <a:moveTo>
                        <a:pt x="36123" y="79740"/>
                      </a:moveTo>
                      <a:cubicBezTo>
                        <a:pt x="33140" y="79866"/>
                        <a:pt x="29797" y="79111"/>
                        <a:pt x="26185" y="77745"/>
                      </a:cubicBezTo>
                      <a:cubicBezTo>
                        <a:pt x="22464" y="76253"/>
                        <a:pt x="18618" y="73899"/>
                        <a:pt x="14647" y="70538"/>
                      </a:cubicBezTo>
                      <a:lnTo>
                        <a:pt x="14647" y="24495"/>
                      </a:lnTo>
                      <a:cubicBezTo>
                        <a:pt x="18870" y="20649"/>
                        <a:pt x="22968" y="17540"/>
                        <a:pt x="26813" y="15563"/>
                      </a:cubicBezTo>
                      <a:cubicBezTo>
                        <a:pt x="30659" y="13461"/>
                        <a:pt x="34505" y="12454"/>
                        <a:pt x="38225" y="12454"/>
                      </a:cubicBezTo>
                      <a:cubicBezTo>
                        <a:pt x="46421" y="12580"/>
                        <a:pt x="52369" y="15563"/>
                        <a:pt x="55981" y="21386"/>
                      </a:cubicBezTo>
                      <a:cubicBezTo>
                        <a:pt x="59576" y="27227"/>
                        <a:pt x="61319" y="35045"/>
                        <a:pt x="61319" y="44839"/>
                      </a:cubicBezTo>
                      <a:cubicBezTo>
                        <a:pt x="61193" y="55892"/>
                        <a:pt x="58713" y="64446"/>
                        <a:pt x="54112" y="70538"/>
                      </a:cubicBezTo>
                      <a:cubicBezTo>
                        <a:pt x="49512" y="76631"/>
                        <a:pt x="43455" y="79614"/>
                        <a:pt x="36123" y="79740"/>
                      </a:cubicBezTo>
                      <a:close/>
                      <a:moveTo>
                        <a:pt x="0" y="126897"/>
                      </a:moveTo>
                      <a:lnTo>
                        <a:pt x="14647" y="126897"/>
                      </a:lnTo>
                      <a:lnTo>
                        <a:pt x="14647" y="97100"/>
                      </a:lnTo>
                      <a:lnTo>
                        <a:pt x="14269" y="81824"/>
                      </a:lnTo>
                      <a:cubicBezTo>
                        <a:pt x="18241" y="85059"/>
                        <a:pt x="22339" y="87539"/>
                        <a:pt x="26436" y="89265"/>
                      </a:cubicBezTo>
                      <a:cubicBezTo>
                        <a:pt x="30534" y="91134"/>
                        <a:pt x="34505" y="91996"/>
                        <a:pt x="38477" y="91996"/>
                      </a:cubicBezTo>
                      <a:cubicBezTo>
                        <a:pt x="45306" y="91996"/>
                        <a:pt x="51632" y="90127"/>
                        <a:pt x="57347" y="86407"/>
                      </a:cubicBezTo>
                      <a:cubicBezTo>
                        <a:pt x="63062" y="82687"/>
                        <a:pt x="67645" y="77350"/>
                        <a:pt x="71257" y="70269"/>
                      </a:cubicBezTo>
                      <a:cubicBezTo>
                        <a:pt x="74726" y="63314"/>
                        <a:pt x="76469" y="54759"/>
                        <a:pt x="76595" y="44695"/>
                      </a:cubicBezTo>
                      <a:cubicBezTo>
                        <a:pt x="76595" y="31037"/>
                        <a:pt x="73611" y="20236"/>
                        <a:pt x="67663" y="12293"/>
                      </a:cubicBezTo>
                      <a:cubicBezTo>
                        <a:pt x="61696" y="4223"/>
                        <a:pt x="53142" y="126"/>
                        <a:pt x="41712" y="0"/>
                      </a:cubicBezTo>
                      <a:cubicBezTo>
                        <a:pt x="36626" y="126"/>
                        <a:pt x="31666" y="1366"/>
                        <a:pt x="26939" y="3720"/>
                      </a:cubicBezTo>
                      <a:cubicBezTo>
                        <a:pt x="22231" y="6074"/>
                        <a:pt x="17756" y="8932"/>
                        <a:pt x="13784" y="12293"/>
                      </a:cubicBezTo>
                      <a:lnTo>
                        <a:pt x="13281" y="12293"/>
                      </a:lnTo>
                      <a:lnTo>
                        <a:pt x="12041" y="2246"/>
                      </a:lnTo>
                      <a:lnTo>
                        <a:pt x="0" y="2246"/>
                      </a:lnTo>
                      <a:lnTo>
                        <a:pt x="0" y="126897"/>
                      </a:lnTo>
                      <a:close/>
                    </a:path>
                  </a:pathLst>
                </a:custGeom>
                <a:solidFill>
                  <a:srgbClr val="003399"/>
                </a:solidFill>
                <a:ln w="6350" cap="flat">
                  <a:solidFill>
                    <a:srgbClr val="003399"/>
                  </a:solidFill>
                  <a:prstDash val="solid"/>
                  <a:miter/>
                </a:ln>
              </p:spPr>
              <p:txBody>
                <a:bodyPr rtlCol="0" anchor="ctr"/>
                <a:lstStyle/>
                <a:p>
                  <a:endParaRPr lang="zh-CN" altLang="en-US"/>
                </a:p>
              </p:txBody>
            </p:sp>
            <p:sp>
              <p:nvSpPr>
                <p:cNvPr id="21" name="任意多边形: 形状 20"/>
                <p:cNvSpPr/>
                <p:nvPr/>
              </p:nvSpPr>
              <p:spPr>
                <a:xfrm>
                  <a:off x="9429477" y="961965"/>
                  <a:ext cx="76594" cy="126897"/>
                </a:xfrm>
                <a:custGeom>
                  <a:avLst/>
                  <a:gdLst>
                    <a:gd name="connsiteX0" fmla="*/ 36123 w 76594"/>
                    <a:gd name="connsiteY0" fmla="*/ 79740 h 126897"/>
                    <a:gd name="connsiteX1" fmla="*/ 26185 w 76594"/>
                    <a:gd name="connsiteY1" fmla="*/ 77745 h 126897"/>
                    <a:gd name="connsiteX2" fmla="*/ 14647 w 76594"/>
                    <a:gd name="connsiteY2" fmla="*/ 70538 h 126897"/>
                    <a:gd name="connsiteX3" fmla="*/ 14647 w 76594"/>
                    <a:gd name="connsiteY3" fmla="*/ 24495 h 126897"/>
                    <a:gd name="connsiteX4" fmla="*/ 26813 w 76594"/>
                    <a:gd name="connsiteY4" fmla="*/ 15563 h 126897"/>
                    <a:gd name="connsiteX5" fmla="*/ 38225 w 76594"/>
                    <a:gd name="connsiteY5" fmla="*/ 12454 h 126897"/>
                    <a:gd name="connsiteX6" fmla="*/ 55981 w 76594"/>
                    <a:gd name="connsiteY6" fmla="*/ 21386 h 126897"/>
                    <a:gd name="connsiteX7" fmla="*/ 61319 w 76594"/>
                    <a:gd name="connsiteY7" fmla="*/ 44839 h 126897"/>
                    <a:gd name="connsiteX8" fmla="*/ 54112 w 76594"/>
                    <a:gd name="connsiteY8" fmla="*/ 70538 h 126897"/>
                    <a:gd name="connsiteX9" fmla="*/ 36123 w 76594"/>
                    <a:gd name="connsiteY9" fmla="*/ 79740 h 126897"/>
                    <a:gd name="connsiteX10" fmla="*/ 0 w 76594"/>
                    <a:gd name="connsiteY10" fmla="*/ 126897 h 126897"/>
                    <a:gd name="connsiteX11" fmla="*/ 14647 w 76594"/>
                    <a:gd name="connsiteY11" fmla="*/ 126897 h 126897"/>
                    <a:gd name="connsiteX12" fmla="*/ 14647 w 76594"/>
                    <a:gd name="connsiteY12" fmla="*/ 97100 h 126897"/>
                    <a:gd name="connsiteX13" fmla="*/ 14269 w 76594"/>
                    <a:gd name="connsiteY13" fmla="*/ 81824 h 126897"/>
                    <a:gd name="connsiteX14" fmla="*/ 26436 w 76594"/>
                    <a:gd name="connsiteY14" fmla="*/ 89265 h 126897"/>
                    <a:gd name="connsiteX15" fmla="*/ 38477 w 76594"/>
                    <a:gd name="connsiteY15" fmla="*/ 91996 h 126897"/>
                    <a:gd name="connsiteX16" fmla="*/ 57347 w 76594"/>
                    <a:gd name="connsiteY16" fmla="*/ 86407 h 126897"/>
                    <a:gd name="connsiteX17" fmla="*/ 71257 w 76594"/>
                    <a:gd name="connsiteY17" fmla="*/ 70269 h 126897"/>
                    <a:gd name="connsiteX18" fmla="*/ 76595 w 76594"/>
                    <a:gd name="connsiteY18" fmla="*/ 44695 h 126897"/>
                    <a:gd name="connsiteX19" fmla="*/ 67663 w 76594"/>
                    <a:gd name="connsiteY19" fmla="*/ 12293 h 126897"/>
                    <a:gd name="connsiteX20" fmla="*/ 41712 w 76594"/>
                    <a:gd name="connsiteY20" fmla="*/ 0 h 126897"/>
                    <a:gd name="connsiteX21" fmla="*/ 26939 w 76594"/>
                    <a:gd name="connsiteY21" fmla="*/ 3720 h 126897"/>
                    <a:gd name="connsiteX22" fmla="*/ 13784 w 76594"/>
                    <a:gd name="connsiteY22" fmla="*/ 12293 h 126897"/>
                    <a:gd name="connsiteX23" fmla="*/ 13281 w 76594"/>
                    <a:gd name="connsiteY23" fmla="*/ 12293 h 126897"/>
                    <a:gd name="connsiteX24" fmla="*/ 12041 w 76594"/>
                    <a:gd name="connsiteY24" fmla="*/ 2246 h 126897"/>
                    <a:gd name="connsiteX25" fmla="*/ 0 w 76594"/>
                    <a:gd name="connsiteY25" fmla="*/ 2246 h 126897"/>
                    <a:gd name="connsiteX26" fmla="*/ 0 w 76594"/>
                    <a:gd name="connsiteY26" fmla="*/ 126897 h 12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6594" h="126897">
                      <a:moveTo>
                        <a:pt x="36123" y="79740"/>
                      </a:moveTo>
                      <a:cubicBezTo>
                        <a:pt x="33140" y="79866"/>
                        <a:pt x="29797" y="79111"/>
                        <a:pt x="26185" y="77745"/>
                      </a:cubicBezTo>
                      <a:cubicBezTo>
                        <a:pt x="22464" y="76253"/>
                        <a:pt x="18618" y="73899"/>
                        <a:pt x="14647" y="70538"/>
                      </a:cubicBezTo>
                      <a:lnTo>
                        <a:pt x="14647" y="24495"/>
                      </a:lnTo>
                      <a:cubicBezTo>
                        <a:pt x="18870" y="20649"/>
                        <a:pt x="22968" y="17540"/>
                        <a:pt x="26813" y="15563"/>
                      </a:cubicBezTo>
                      <a:cubicBezTo>
                        <a:pt x="30659" y="13461"/>
                        <a:pt x="34505" y="12454"/>
                        <a:pt x="38225" y="12454"/>
                      </a:cubicBezTo>
                      <a:cubicBezTo>
                        <a:pt x="46420" y="12580"/>
                        <a:pt x="52369" y="15563"/>
                        <a:pt x="55981" y="21386"/>
                      </a:cubicBezTo>
                      <a:cubicBezTo>
                        <a:pt x="59576" y="27227"/>
                        <a:pt x="61319" y="35045"/>
                        <a:pt x="61319" y="44839"/>
                      </a:cubicBezTo>
                      <a:cubicBezTo>
                        <a:pt x="61193" y="55892"/>
                        <a:pt x="58713" y="64446"/>
                        <a:pt x="54112" y="70538"/>
                      </a:cubicBezTo>
                      <a:cubicBezTo>
                        <a:pt x="49530" y="76631"/>
                        <a:pt x="43437" y="79614"/>
                        <a:pt x="36123" y="79740"/>
                      </a:cubicBezTo>
                      <a:close/>
                      <a:moveTo>
                        <a:pt x="0" y="126897"/>
                      </a:moveTo>
                      <a:lnTo>
                        <a:pt x="14647" y="126897"/>
                      </a:lnTo>
                      <a:lnTo>
                        <a:pt x="14647" y="97100"/>
                      </a:lnTo>
                      <a:lnTo>
                        <a:pt x="14269" y="81824"/>
                      </a:lnTo>
                      <a:cubicBezTo>
                        <a:pt x="18241" y="85059"/>
                        <a:pt x="22339" y="87539"/>
                        <a:pt x="26436" y="89265"/>
                      </a:cubicBezTo>
                      <a:cubicBezTo>
                        <a:pt x="30534" y="91134"/>
                        <a:pt x="34505" y="91996"/>
                        <a:pt x="38477" y="91996"/>
                      </a:cubicBezTo>
                      <a:cubicBezTo>
                        <a:pt x="45306" y="91996"/>
                        <a:pt x="51632" y="90127"/>
                        <a:pt x="57347" y="86407"/>
                      </a:cubicBezTo>
                      <a:cubicBezTo>
                        <a:pt x="63062" y="82687"/>
                        <a:pt x="67645" y="77350"/>
                        <a:pt x="71257" y="70269"/>
                      </a:cubicBezTo>
                      <a:cubicBezTo>
                        <a:pt x="74726" y="63314"/>
                        <a:pt x="76469" y="54759"/>
                        <a:pt x="76595" y="44695"/>
                      </a:cubicBezTo>
                      <a:cubicBezTo>
                        <a:pt x="76595" y="31037"/>
                        <a:pt x="73611" y="20236"/>
                        <a:pt x="67663" y="12293"/>
                      </a:cubicBezTo>
                      <a:cubicBezTo>
                        <a:pt x="61696" y="4223"/>
                        <a:pt x="53142" y="126"/>
                        <a:pt x="41712" y="0"/>
                      </a:cubicBezTo>
                      <a:cubicBezTo>
                        <a:pt x="36626" y="126"/>
                        <a:pt x="31666" y="1366"/>
                        <a:pt x="26939" y="3720"/>
                      </a:cubicBezTo>
                      <a:cubicBezTo>
                        <a:pt x="22231" y="6074"/>
                        <a:pt x="17756" y="8932"/>
                        <a:pt x="13784" y="12293"/>
                      </a:cubicBezTo>
                      <a:lnTo>
                        <a:pt x="13281" y="12293"/>
                      </a:lnTo>
                      <a:lnTo>
                        <a:pt x="12041" y="2246"/>
                      </a:lnTo>
                      <a:lnTo>
                        <a:pt x="0" y="2246"/>
                      </a:lnTo>
                      <a:lnTo>
                        <a:pt x="0" y="126897"/>
                      </a:lnTo>
                      <a:close/>
                    </a:path>
                  </a:pathLst>
                </a:custGeom>
                <a:solidFill>
                  <a:srgbClr val="003399"/>
                </a:solidFill>
                <a:ln w="6350" cap="flat">
                  <a:solidFill>
                    <a:srgbClr val="003399"/>
                  </a:solidFill>
                  <a:prstDash val="solid"/>
                  <a:miter/>
                </a:ln>
              </p:spPr>
              <p:txBody>
                <a:bodyPr rtlCol="0" anchor="ctr"/>
                <a:lstStyle/>
                <a:p>
                  <a:endParaRPr lang="zh-CN" altLang="en-US"/>
                </a:p>
              </p:txBody>
            </p:sp>
            <p:sp>
              <p:nvSpPr>
                <p:cNvPr id="22" name="任意多边形: 形状 21"/>
                <p:cNvSpPr/>
                <p:nvPr/>
              </p:nvSpPr>
              <p:spPr>
                <a:xfrm>
                  <a:off x="9527744" y="939788"/>
                  <a:ext cx="54256" cy="114209"/>
                </a:xfrm>
                <a:custGeom>
                  <a:avLst/>
                  <a:gdLst>
                    <a:gd name="connsiteX0" fmla="*/ 38118 w 54256"/>
                    <a:gd name="connsiteY0" fmla="*/ 114209 h 114209"/>
                    <a:gd name="connsiteX1" fmla="*/ 46313 w 54256"/>
                    <a:gd name="connsiteY1" fmla="*/ 113221 h 114209"/>
                    <a:gd name="connsiteX2" fmla="*/ 54256 w 54256"/>
                    <a:gd name="connsiteY2" fmla="*/ 110992 h 114209"/>
                    <a:gd name="connsiteX3" fmla="*/ 51273 w 54256"/>
                    <a:gd name="connsiteY3" fmla="*/ 100066 h 114209"/>
                    <a:gd name="connsiteX4" fmla="*/ 46438 w 54256"/>
                    <a:gd name="connsiteY4" fmla="*/ 101557 h 114209"/>
                    <a:gd name="connsiteX5" fmla="*/ 41352 w 54256"/>
                    <a:gd name="connsiteY5" fmla="*/ 102294 h 114209"/>
                    <a:gd name="connsiteX6" fmla="*/ 30803 w 54256"/>
                    <a:gd name="connsiteY6" fmla="*/ 97819 h 114209"/>
                    <a:gd name="connsiteX7" fmla="*/ 27820 w 54256"/>
                    <a:gd name="connsiteY7" fmla="*/ 85275 h 114209"/>
                    <a:gd name="connsiteX8" fmla="*/ 27820 w 54256"/>
                    <a:gd name="connsiteY8" fmla="*/ 36374 h 114209"/>
                    <a:gd name="connsiteX9" fmla="*/ 51524 w 54256"/>
                    <a:gd name="connsiteY9" fmla="*/ 36374 h 114209"/>
                    <a:gd name="connsiteX10" fmla="*/ 51524 w 54256"/>
                    <a:gd name="connsiteY10" fmla="*/ 24459 h 114209"/>
                    <a:gd name="connsiteX11" fmla="*/ 27820 w 54256"/>
                    <a:gd name="connsiteY11" fmla="*/ 24459 h 114209"/>
                    <a:gd name="connsiteX12" fmla="*/ 27820 w 54256"/>
                    <a:gd name="connsiteY12" fmla="*/ 0 h 114209"/>
                    <a:gd name="connsiteX13" fmla="*/ 15527 w 54256"/>
                    <a:gd name="connsiteY13" fmla="*/ 0 h 114209"/>
                    <a:gd name="connsiteX14" fmla="*/ 13784 w 54256"/>
                    <a:gd name="connsiteY14" fmla="*/ 24459 h 114209"/>
                    <a:gd name="connsiteX15" fmla="*/ 0 w 54256"/>
                    <a:gd name="connsiteY15" fmla="*/ 25322 h 114209"/>
                    <a:gd name="connsiteX16" fmla="*/ 0 w 54256"/>
                    <a:gd name="connsiteY16" fmla="*/ 36374 h 114209"/>
                    <a:gd name="connsiteX17" fmla="*/ 13029 w 54256"/>
                    <a:gd name="connsiteY17" fmla="*/ 36374 h 114209"/>
                    <a:gd name="connsiteX18" fmla="*/ 13029 w 54256"/>
                    <a:gd name="connsiteY18" fmla="*/ 85023 h 114209"/>
                    <a:gd name="connsiteX19" fmla="*/ 18618 w 54256"/>
                    <a:gd name="connsiteY19" fmla="*/ 106122 h 114209"/>
                    <a:gd name="connsiteX20" fmla="*/ 38118 w 54256"/>
                    <a:gd name="connsiteY20" fmla="*/ 114209 h 11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256" h="114209">
                      <a:moveTo>
                        <a:pt x="38118" y="114209"/>
                      </a:moveTo>
                      <a:cubicBezTo>
                        <a:pt x="40723" y="114209"/>
                        <a:pt x="43455" y="113832"/>
                        <a:pt x="46313" y="113221"/>
                      </a:cubicBezTo>
                      <a:cubicBezTo>
                        <a:pt x="49044" y="112592"/>
                        <a:pt x="51650" y="111855"/>
                        <a:pt x="54256" y="110992"/>
                      </a:cubicBezTo>
                      <a:lnTo>
                        <a:pt x="51273" y="100066"/>
                      </a:lnTo>
                      <a:cubicBezTo>
                        <a:pt x="49781" y="100569"/>
                        <a:pt x="48164" y="101054"/>
                        <a:pt x="46438" y="101557"/>
                      </a:cubicBezTo>
                      <a:cubicBezTo>
                        <a:pt x="44569" y="102060"/>
                        <a:pt x="42970" y="102294"/>
                        <a:pt x="41352" y="102294"/>
                      </a:cubicBezTo>
                      <a:cubicBezTo>
                        <a:pt x="36267" y="102294"/>
                        <a:pt x="32780" y="100802"/>
                        <a:pt x="30803" y="97819"/>
                      </a:cubicBezTo>
                      <a:cubicBezTo>
                        <a:pt x="28700" y="94962"/>
                        <a:pt x="27694" y="90738"/>
                        <a:pt x="27820" y="85275"/>
                      </a:cubicBezTo>
                      <a:lnTo>
                        <a:pt x="27820" y="36374"/>
                      </a:lnTo>
                      <a:lnTo>
                        <a:pt x="51524" y="36374"/>
                      </a:lnTo>
                      <a:lnTo>
                        <a:pt x="51524" y="24459"/>
                      </a:lnTo>
                      <a:lnTo>
                        <a:pt x="27820" y="24459"/>
                      </a:lnTo>
                      <a:lnTo>
                        <a:pt x="27820" y="0"/>
                      </a:lnTo>
                      <a:lnTo>
                        <a:pt x="15527" y="0"/>
                      </a:lnTo>
                      <a:lnTo>
                        <a:pt x="13784" y="24459"/>
                      </a:lnTo>
                      <a:lnTo>
                        <a:pt x="0" y="25322"/>
                      </a:lnTo>
                      <a:lnTo>
                        <a:pt x="0" y="36374"/>
                      </a:lnTo>
                      <a:lnTo>
                        <a:pt x="13029" y="36374"/>
                      </a:lnTo>
                      <a:lnTo>
                        <a:pt x="13029" y="85023"/>
                      </a:lnTo>
                      <a:cubicBezTo>
                        <a:pt x="12904" y="93829"/>
                        <a:pt x="14773" y="100910"/>
                        <a:pt x="18618" y="106122"/>
                      </a:cubicBezTo>
                      <a:cubicBezTo>
                        <a:pt x="22339" y="111352"/>
                        <a:pt x="28808" y="114083"/>
                        <a:pt x="38118" y="114209"/>
                      </a:cubicBezTo>
                      <a:close/>
                    </a:path>
                  </a:pathLst>
                </a:custGeom>
                <a:solidFill>
                  <a:srgbClr val="003399"/>
                </a:solidFill>
                <a:ln w="6350" cap="flat">
                  <a:solidFill>
                    <a:srgbClr val="003399"/>
                  </a:solidFill>
                  <a:prstDash val="solid"/>
                  <a:miter/>
                </a:ln>
              </p:spPr>
              <p:txBody>
                <a:bodyPr rtlCol="0" anchor="ctr"/>
                <a:lstStyle/>
                <a:p>
                  <a:endParaRPr lang="zh-CN" altLang="en-US"/>
                </a:p>
              </p:txBody>
            </p:sp>
            <p:sp>
              <p:nvSpPr>
                <p:cNvPr id="23" name="任意多边形: 形状 22"/>
                <p:cNvSpPr/>
                <p:nvPr/>
              </p:nvSpPr>
              <p:spPr>
                <a:xfrm>
                  <a:off x="9607474" y="962019"/>
                  <a:ext cx="120804" cy="89875"/>
                </a:xfrm>
                <a:custGeom>
                  <a:avLst/>
                  <a:gdLst>
                    <a:gd name="connsiteX0" fmla="*/ 36 w 120804"/>
                    <a:gd name="connsiteY0" fmla="*/ 89858 h 89875"/>
                    <a:gd name="connsiteX1" fmla="*/ 14683 w 120804"/>
                    <a:gd name="connsiteY1" fmla="*/ 89858 h 89875"/>
                    <a:gd name="connsiteX2" fmla="*/ 14683 w 120804"/>
                    <a:gd name="connsiteY2" fmla="*/ 26310 h 89875"/>
                    <a:gd name="connsiteX3" fmla="*/ 26220 w 120804"/>
                    <a:gd name="connsiteY3" fmla="*/ 16138 h 89875"/>
                    <a:gd name="connsiteX4" fmla="*/ 36770 w 120804"/>
                    <a:gd name="connsiteY4" fmla="*/ 12904 h 89875"/>
                    <a:gd name="connsiteX5" fmla="*/ 49062 w 120804"/>
                    <a:gd name="connsiteY5" fmla="*/ 18367 h 89875"/>
                    <a:gd name="connsiteX6" fmla="*/ 53034 w 120804"/>
                    <a:gd name="connsiteY6" fmla="*/ 36249 h 89875"/>
                    <a:gd name="connsiteX7" fmla="*/ 53034 w 120804"/>
                    <a:gd name="connsiteY7" fmla="*/ 89876 h 89875"/>
                    <a:gd name="connsiteX8" fmla="*/ 67807 w 120804"/>
                    <a:gd name="connsiteY8" fmla="*/ 89876 h 89875"/>
                    <a:gd name="connsiteX9" fmla="*/ 67807 w 120804"/>
                    <a:gd name="connsiteY9" fmla="*/ 26310 h 89875"/>
                    <a:gd name="connsiteX10" fmla="*/ 79344 w 120804"/>
                    <a:gd name="connsiteY10" fmla="*/ 16138 h 89875"/>
                    <a:gd name="connsiteX11" fmla="*/ 89894 w 120804"/>
                    <a:gd name="connsiteY11" fmla="*/ 12904 h 89875"/>
                    <a:gd name="connsiteX12" fmla="*/ 102186 w 120804"/>
                    <a:gd name="connsiteY12" fmla="*/ 18367 h 89875"/>
                    <a:gd name="connsiteX13" fmla="*/ 106158 w 120804"/>
                    <a:gd name="connsiteY13" fmla="*/ 36249 h 89875"/>
                    <a:gd name="connsiteX14" fmla="*/ 106158 w 120804"/>
                    <a:gd name="connsiteY14" fmla="*/ 89876 h 89875"/>
                    <a:gd name="connsiteX15" fmla="*/ 120805 w 120804"/>
                    <a:gd name="connsiteY15" fmla="*/ 89876 h 89875"/>
                    <a:gd name="connsiteX16" fmla="*/ 120805 w 120804"/>
                    <a:gd name="connsiteY16" fmla="*/ 34398 h 89875"/>
                    <a:gd name="connsiteX17" fmla="*/ 114353 w 120804"/>
                    <a:gd name="connsiteY17" fmla="*/ 8824 h 89875"/>
                    <a:gd name="connsiteX18" fmla="*/ 94243 w 120804"/>
                    <a:gd name="connsiteY18" fmla="*/ 18 h 89875"/>
                    <a:gd name="connsiteX19" fmla="*/ 79219 w 120804"/>
                    <a:gd name="connsiteY19" fmla="*/ 4727 h 89875"/>
                    <a:gd name="connsiteX20" fmla="*/ 65308 w 120804"/>
                    <a:gd name="connsiteY20" fmla="*/ 16767 h 89875"/>
                    <a:gd name="connsiteX21" fmla="*/ 56862 w 120804"/>
                    <a:gd name="connsiteY21" fmla="*/ 4475 h 89875"/>
                    <a:gd name="connsiteX22" fmla="*/ 41101 w 120804"/>
                    <a:gd name="connsiteY22" fmla="*/ 0 h 89875"/>
                    <a:gd name="connsiteX23" fmla="*/ 26328 w 120804"/>
                    <a:gd name="connsiteY23" fmla="*/ 4349 h 89875"/>
                    <a:gd name="connsiteX24" fmla="*/ 13784 w 120804"/>
                    <a:gd name="connsiteY24" fmla="*/ 15024 h 89875"/>
                    <a:gd name="connsiteX25" fmla="*/ 13281 w 120804"/>
                    <a:gd name="connsiteY25" fmla="*/ 15024 h 89875"/>
                    <a:gd name="connsiteX26" fmla="*/ 12041 w 120804"/>
                    <a:gd name="connsiteY26" fmla="*/ 2246 h 89875"/>
                    <a:gd name="connsiteX27" fmla="*/ 0 w 120804"/>
                    <a:gd name="connsiteY27" fmla="*/ 2246 h 89875"/>
                    <a:gd name="connsiteX28" fmla="*/ 0 w 120804"/>
                    <a:gd name="connsiteY28" fmla="*/ 89858 h 89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0804" h="89875">
                      <a:moveTo>
                        <a:pt x="36" y="89858"/>
                      </a:moveTo>
                      <a:lnTo>
                        <a:pt x="14683" y="89858"/>
                      </a:lnTo>
                      <a:lnTo>
                        <a:pt x="14683" y="26310"/>
                      </a:lnTo>
                      <a:cubicBezTo>
                        <a:pt x="18654" y="21710"/>
                        <a:pt x="22626" y="18367"/>
                        <a:pt x="26220" y="16138"/>
                      </a:cubicBezTo>
                      <a:cubicBezTo>
                        <a:pt x="29941" y="14036"/>
                        <a:pt x="33427" y="12904"/>
                        <a:pt x="36770" y="12904"/>
                      </a:cubicBezTo>
                      <a:cubicBezTo>
                        <a:pt x="42359" y="12778"/>
                        <a:pt x="46456" y="14647"/>
                        <a:pt x="49062" y="18367"/>
                      </a:cubicBezTo>
                      <a:cubicBezTo>
                        <a:pt x="51794" y="22087"/>
                        <a:pt x="53160" y="28054"/>
                        <a:pt x="53034" y="36249"/>
                      </a:cubicBezTo>
                      <a:lnTo>
                        <a:pt x="53034" y="89876"/>
                      </a:lnTo>
                      <a:lnTo>
                        <a:pt x="67807" y="89876"/>
                      </a:lnTo>
                      <a:lnTo>
                        <a:pt x="67807" y="26310"/>
                      </a:lnTo>
                      <a:cubicBezTo>
                        <a:pt x="71904" y="21710"/>
                        <a:pt x="75750" y="18367"/>
                        <a:pt x="79344" y="16138"/>
                      </a:cubicBezTo>
                      <a:cubicBezTo>
                        <a:pt x="82939" y="14036"/>
                        <a:pt x="86551" y="12904"/>
                        <a:pt x="89894" y="12904"/>
                      </a:cubicBezTo>
                      <a:cubicBezTo>
                        <a:pt x="95357" y="12778"/>
                        <a:pt x="99580" y="14647"/>
                        <a:pt x="102186" y="18367"/>
                      </a:cubicBezTo>
                      <a:cubicBezTo>
                        <a:pt x="104918" y="22087"/>
                        <a:pt x="106158" y="28054"/>
                        <a:pt x="106158" y="36249"/>
                      </a:cubicBezTo>
                      <a:lnTo>
                        <a:pt x="106158" y="89876"/>
                      </a:lnTo>
                      <a:lnTo>
                        <a:pt x="120805" y="89876"/>
                      </a:lnTo>
                      <a:lnTo>
                        <a:pt x="120805" y="34398"/>
                      </a:lnTo>
                      <a:cubicBezTo>
                        <a:pt x="120805" y="23093"/>
                        <a:pt x="118702" y="14539"/>
                        <a:pt x="114353" y="8824"/>
                      </a:cubicBezTo>
                      <a:cubicBezTo>
                        <a:pt x="109878" y="2983"/>
                        <a:pt x="103175" y="18"/>
                        <a:pt x="94243" y="18"/>
                      </a:cubicBezTo>
                      <a:cubicBezTo>
                        <a:pt x="88905" y="144"/>
                        <a:pt x="83945" y="1635"/>
                        <a:pt x="79219" y="4727"/>
                      </a:cubicBezTo>
                      <a:cubicBezTo>
                        <a:pt x="74384" y="7710"/>
                        <a:pt x="69784" y="11807"/>
                        <a:pt x="65308" y="16767"/>
                      </a:cubicBezTo>
                      <a:cubicBezTo>
                        <a:pt x="63565" y="11556"/>
                        <a:pt x="60834" y="7458"/>
                        <a:pt x="56862" y="4475"/>
                      </a:cubicBezTo>
                      <a:cubicBezTo>
                        <a:pt x="53016" y="1617"/>
                        <a:pt x="47804" y="0"/>
                        <a:pt x="41101" y="0"/>
                      </a:cubicBezTo>
                      <a:cubicBezTo>
                        <a:pt x="35889" y="126"/>
                        <a:pt x="30929" y="1492"/>
                        <a:pt x="26328" y="4349"/>
                      </a:cubicBezTo>
                      <a:cubicBezTo>
                        <a:pt x="21853" y="7207"/>
                        <a:pt x="17648" y="10675"/>
                        <a:pt x="13784" y="15024"/>
                      </a:cubicBezTo>
                      <a:lnTo>
                        <a:pt x="13281" y="15024"/>
                      </a:lnTo>
                      <a:lnTo>
                        <a:pt x="12041" y="2246"/>
                      </a:lnTo>
                      <a:lnTo>
                        <a:pt x="0" y="2246"/>
                      </a:lnTo>
                      <a:lnTo>
                        <a:pt x="0" y="89858"/>
                      </a:lnTo>
                      <a:close/>
                    </a:path>
                  </a:pathLst>
                </a:custGeom>
                <a:solidFill>
                  <a:srgbClr val="003399"/>
                </a:solidFill>
                <a:ln w="6350" cap="flat">
                  <a:solidFill>
                    <a:srgbClr val="003399"/>
                  </a:solidFill>
                  <a:prstDash val="solid"/>
                  <a:miter/>
                </a:ln>
              </p:spPr>
              <p:txBody>
                <a:bodyPr rtlCol="0" anchor="ctr"/>
                <a:lstStyle/>
                <a:p>
                  <a:endParaRPr lang="zh-CN" altLang="en-US"/>
                </a:p>
              </p:txBody>
            </p:sp>
            <p:sp>
              <p:nvSpPr>
                <p:cNvPr id="24" name="任意多边形: 形状 23"/>
                <p:cNvSpPr/>
                <p:nvPr/>
              </p:nvSpPr>
              <p:spPr>
                <a:xfrm>
                  <a:off x="9755012" y="962037"/>
                  <a:ext cx="81321" cy="91960"/>
                </a:xfrm>
                <a:custGeom>
                  <a:avLst/>
                  <a:gdLst>
                    <a:gd name="connsiteX0" fmla="*/ 40723 w 81321"/>
                    <a:gd name="connsiteY0" fmla="*/ 79668 h 91960"/>
                    <a:gd name="connsiteX1" fmla="*/ 22356 w 81321"/>
                    <a:gd name="connsiteY1" fmla="*/ 70484 h 91960"/>
                    <a:gd name="connsiteX2" fmla="*/ 15402 w 81321"/>
                    <a:gd name="connsiteY2" fmla="*/ 46151 h 91960"/>
                    <a:gd name="connsiteX3" fmla="*/ 22356 w 81321"/>
                    <a:gd name="connsiteY3" fmla="*/ 21566 h 91960"/>
                    <a:gd name="connsiteX4" fmla="*/ 40723 w 81321"/>
                    <a:gd name="connsiteY4" fmla="*/ 12257 h 91960"/>
                    <a:gd name="connsiteX5" fmla="*/ 59090 w 81321"/>
                    <a:gd name="connsiteY5" fmla="*/ 21566 h 91960"/>
                    <a:gd name="connsiteX6" fmla="*/ 66171 w 81321"/>
                    <a:gd name="connsiteY6" fmla="*/ 46151 h 91960"/>
                    <a:gd name="connsiteX7" fmla="*/ 59090 w 81321"/>
                    <a:gd name="connsiteY7" fmla="*/ 70484 h 91960"/>
                    <a:gd name="connsiteX8" fmla="*/ 40723 w 81321"/>
                    <a:gd name="connsiteY8" fmla="*/ 79668 h 91960"/>
                    <a:gd name="connsiteX9" fmla="*/ 40723 w 81321"/>
                    <a:gd name="connsiteY9" fmla="*/ 91960 h 91960"/>
                    <a:gd name="connsiteX10" fmla="*/ 60834 w 81321"/>
                    <a:gd name="connsiteY10" fmla="*/ 86497 h 91960"/>
                    <a:gd name="connsiteX11" fmla="*/ 75606 w 81321"/>
                    <a:gd name="connsiteY11" fmla="*/ 70862 h 91960"/>
                    <a:gd name="connsiteX12" fmla="*/ 81321 w 81321"/>
                    <a:gd name="connsiteY12" fmla="*/ 46169 h 91960"/>
                    <a:gd name="connsiteX13" fmla="*/ 75606 w 81321"/>
                    <a:gd name="connsiteY13" fmla="*/ 21224 h 91960"/>
                    <a:gd name="connsiteX14" fmla="*/ 60834 w 81321"/>
                    <a:gd name="connsiteY14" fmla="*/ 5463 h 91960"/>
                    <a:gd name="connsiteX15" fmla="*/ 40723 w 81321"/>
                    <a:gd name="connsiteY15" fmla="*/ 0 h 91960"/>
                    <a:gd name="connsiteX16" fmla="*/ 20613 w 81321"/>
                    <a:gd name="connsiteY16" fmla="*/ 5463 h 91960"/>
                    <a:gd name="connsiteX17" fmla="*/ 5841 w 81321"/>
                    <a:gd name="connsiteY17" fmla="*/ 21224 h 91960"/>
                    <a:gd name="connsiteX18" fmla="*/ 0 w 81321"/>
                    <a:gd name="connsiteY18" fmla="*/ 46169 h 91960"/>
                    <a:gd name="connsiteX19" fmla="*/ 5841 w 81321"/>
                    <a:gd name="connsiteY19" fmla="*/ 70862 h 91960"/>
                    <a:gd name="connsiteX20" fmla="*/ 20613 w 81321"/>
                    <a:gd name="connsiteY20" fmla="*/ 86497 h 91960"/>
                    <a:gd name="connsiteX21" fmla="*/ 40723 w 81321"/>
                    <a:gd name="connsiteY21" fmla="*/ 91960 h 9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1321" h="91960">
                      <a:moveTo>
                        <a:pt x="40723" y="79668"/>
                      </a:moveTo>
                      <a:cubicBezTo>
                        <a:pt x="33032" y="79542"/>
                        <a:pt x="26939" y="76433"/>
                        <a:pt x="22356" y="70484"/>
                      </a:cubicBezTo>
                      <a:cubicBezTo>
                        <a:pt x="17756" y="64410"/>
                        <a:pt x="15527" y="56341"/>
                        <a:pt x="15402" y="46151"/>
                      </a:cubicBezTo>
                      <a:cubicBezTo>
                        <a:pt x="15527" y="35853"/>
                        <a:pt x="17756" y="27658"/>
                        <a:pt x="22356" y="21566"/>
                      </a:cubicBezTo>
                      <a:cubicBezTo>
                        <a:pt x="26957" y="15473"/>
                        <a:pt x="33032" y="12382"/>
                        <a:pt x="40723" y="12257"/>
                      </a:cubicBezTo>
                      <a:cubicBezTo>
                        <a:pt x="48415" y="12382"/>
                        <a:pt x="54508" y="15491"/>
                        <a:pt x="59090" y="21566"/>
                      </a:cubicBezTo>
                      <a:cubicBezTo>
                        <a:pt x="63691" y="27640"/>
                        <a:pt x="66045" y="35835"/>
                        <a:pt x="66171" y="46151"/>
                      </a:cubicBezTo>
                      <a:cubicBezTo>
                        <a:pt x="66045" y="56323"/>
                        <a:pt x="63691" y="64392"/>
                        <a:pt x="59090" y="70484"/>
                      </a:cubicBezTo>
                      <a:cubicBezTo>
                        <a:pt x="54508" y="76433"/>
                        <a:pt x="48415" y="79542"/>
                        <a:pt x="40723" y="79668"/>
                      </a:cubicBezTo>
                      <a:close/>
                      <a:moveTo>
                        <a:pt x="40723" y="91960"/>
                      </a:moveTo>
                      <a:cubicBezTo>
                        <a:pt x="47930" y="91960"/>
                        <a:pt x="54633" y="90091"/>
                        <a:pt x="60834" y="86497"/>
                      </a:cubicBezTo>
                      <a:cubicBezTo>
                        <a:pt x="66908" y="82903"/>
                        <a:pt x="71886" y="77691"/>
                        <a:pt x="75606" y="70862"/>
                      </a:cubicBezTo>
                      <a:cubicBezTo>
                        <a:pt x="79326" y="64158"/>
                        <a:pt x="81321" y="55838"/>
                        <a:pt x="81321" y="46169"/>
                      </a:cubicBezTo>
                      <a:cubicBezTo>
                        <a:pt x="81321" y="36356"/>
                        <a:pt x="79326" y="28054"/>
                        <a:pt x="75606" y="21224"/>
                      </a:cubicBezTo>
                      <a:cubicBezTo>
                        <a:pt x="71886" y="14269"/>
                        <a:pt x="66926" y="9058"/>
                        <a:pt x="60834" y="5463"/>
                      </a:cubicBezTo>
                      <a:cubicBezTo>
                        <a:pt x="54633" y="1869"/>
                        <a:pt x="47930" y="0"/>
                        <a:pt x="40723" y="0"/>
                      </a:cubicBezTo>
                      <a:cubicBezTo>
                        <a:pt x="33409" y="0"/>
                        <a:pt x="26706" y="1869"/>
                        <a:pt x="20613" y="5463"/>
                      </a:cubicBezTo>
                      <a:cubicBezTo>
                        <a:pt x="14539" y="9058"/>
                        <a:pt x="9561" y="14269"/>
                        <a:pt x="5841" y="21224"/>
                      </a:cubicBezTo>
                      <a:cubicBezTo>
                        <a:pt x="2121" y="28054"/>
                        <a:pt x="126" y="36374"/>
                        <a:pt x="0" y="46169"/>
                      </a:cubicBezTo>
                      <a:cubicBezTo>
                        <a:pt x="126" y="55856"/>
                        <a:pt x="2103" y="64158"/>
                        <a:pt x="5841" y="70862"/>
                      </a:cubicBezTo>
                      <a:cubicBezTo>
                        <a:pt x="9561" y="77691"/>
                        <a:pt x="14521" y="82903"/>
                        <a:pt x="20613" y="86497"/>
                      </a:cubicBezTo>
                      <a:cubicBezTo>
                        <a:pt x="26706" y="90091"/>
                        <a:pt x="33409" y="91960"/>
                        <a:pt x="40723" y="91960"/>
                      </a:cubicBezTo>
                      <a:close/>
                    </a:path>
                  </a:pathLst>
                </a:custGeom>
                <a:solidFill>
                  <a:srgbClr val="003399"/>
                </a:solidFill>
                <a:ln w="6350" cap="flat">
                  <a:solidFill>
                    <a:srgbClr val="003399"/>
                  </a:solidFill>
                  <a:prstDash val="solid"/>
                  <a:miter/>
                </a:ln>
              </p:spPr>
              <p:txBody>
                <a:bodyPr rtlCol="0" anchor="ctr"/>
                <a:lstStyle/>
                <a:p>
                  <a:endParaRPr lang="zh-CN" altLang="en-US"/>
                </a:p>
              </p:txBody>
            </p:sp>
            <p:sp>
              <p:nvSpPr>
                <p:cNvPr id="25" name="任意多边形: 形状 24"/>
                <p:cNvSpPr/>
                <p:nvPr/>
              </p:nvSpPr>
              <p:spPr>
                <a:xfrm>
                  <a:off x="9863443" y="923380"/>
                  <a:ext cx="76558" cy="130617"/>
                </a:xfrm>
                <a:custGeom>
                  <a:avLst/>
                  <a:gdLst>
                    <a:gd name="connsiteX0" fmla="*/ 36087 w 76558"/>
                    <a:gd name="connsiteY0" fmla="*/ 118325 h 130617"/>
                    <a:gd name="connsiteX1" fmla="*/ 26041 w 76558"/>
                    <a:gd name="connsiteY1" fmla="*/ 116330 h 130617"/>
                    <a:gd name="connsiteX2" fmla="*/ 14629 w 76558"/>
                    <a:gd name="connsiteY2" fmla="*/ 109123 h 130617"/>
                    <a:gd name="connsiteX3" fmla="*/ 14629 w 76558"/>
                    <a:gd name="connsiteY3" fmla="*/ 63080 h 130617"/>
                    <a:gd name="connsiteX4" fmla="*/ 26795 w 76558"/>
                    <a:gd name="connsiteY4" fmla="*/ 54148 h 130617"/>
                    <a:gd name="connsiteX5" fmla="*/ 38207 w 76558"/>
                    <a:gd name="connsiteY5" fmla="*/ 51039 h 130617"/>
                    <a:gd name="connsiteX6" fmla="*/ 55963 w 76558"/>
                    <a:gd name="connsiteY6" fmla="*/ 59971 h 130617"/>
                    <a:gd name="connsiteX7" fmla="*/ 61301 w 76558"/>
                    <a:gd name="connsiteY7" fmla="*/ 83424 h 130617"/>
                    <a:gd name="connsiteX8" fmla="*/ 54094 w 76558"/>
                    <a:gd name="connsiteY8" fmla="*/ 109123 h 130617"/>
                    <a:gd name="connsiteX9" fmla="*/ 36087 w 76558"/>
                    <a:gd name="connsiteY9" fmla="*/ 118325 h 130617"/>
                    <a:gd name="connsiteX10" fmla="*/ 38441 w 76558"/>
                    <a:gd name="connsiteY10" fmla="*/ 130617 h 130617"/>
                    <a:gd name="connsiteX11" fmla="*/ 57311 w 76558"/>
                    <a:gd name="connsiteY11" fmla="*/ 125028 h 130617"/>
                    <a:gd name="connsiteX12" fmla="*/ 71221 w 76558"/>
                    <a:gd name="connsiteY12" fmla="*/ 108890 h 130617"/>
                    <a:gd name="connsiteX13" fmla="*/ 76559 w 76558"/>
                    <a:gd name="connsiteY13" fmla="*/ 83190 h 130617"/>
                    <a:gd name="connsiteX14" fmla="*/ 67627 w 76558"/>
                    <a:gd name="connsiteY14" fmla="*/ 50788 h 130617"/>
                    <a:gd name="connsiteX15" fmla="*/ 41568 w 76558"/>
                    <a:gd name="connsiteY15" fmla="*/ 38621 h 130617"/>
                    <a:gd name="connsiteX16" fmla="*/ 27173 w 76558"/>
                    <a:gd name="connsiteY16" fmla="*/ 42215 h 130617"/>
                    <a:gd name="connsiteX17" fmla="*/ 14144 w 76558"/>
                    <a:gd name="connsiteY17" fmla="*/ 51021 h 130617"/>
                    <a:gd name="connsiteX18" fmla="*/ 14647 w 76558"/>
                    <a:gd name="connsiteY18" fmla="*/ 35260 h 130617"/>
                    <a:gd name="connsiteX19" fmla="*/ 14647 w 76558"/>
                    <a:gd name="connsiteY19" fmla="*/ 0 h 130617"/>
                    <a:gd name="connsiteX20" fmla="*/ 0 w 76558"/>
                    <a:gd name="connsiteY20" fmla="*/ 0 h 130617"/>
                    <a:gd name="connsiteX21" fmla="*/ 0 w 76558"/>
                    <a:gd name="connsiteY21" fmla="*/ 128479 h 130617"/>
                    <a:gd name="connsiteX22" fmla="*/ 11664 w 76558"/>
                    <a:gd name="connsiteY22" fmla="*/ 128479 h 130617"/>
                    <a:gd name="connsiteX23" fmla="*/ 13029 w 76558"/>
                    <a:gd name="connsiteY23" fmla="*/ 119421 h 130617"/>
                    <a:gd name="connsiteX24" fmla="*/ 13532 w 76558"/>
                    <a:gd name="connsiteY24" fmla="*/ 119421 h 130617"/>
                    <a:gd name="connsiteX25" fmla="*/ 25951 w 76558"/>
                    <a:gd name="connsiteY25" fmla="*/ 127616 h 130617"/>
                    <a:gd name="connsiteX26" fmla="*/ 38441 w 76558"/>
                    <a:gd name="connsiteY26" fmla="*/ 130617 h 13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6558" h="130617">
                      <a:moveTo>
                        <a:pt x="36087" y="118325"/>
                      </a:moveTo>
                      <a:cubicBezTo>
                        <a:pt x="33103" y="118450"/>
                        <a:pt x="29761" y="117696"/>
                        <a:pt x="26041" y="116330"/>
                      </a:cubicBezTo>
                      <a:cubicBezTo>
                        <a:pt x="22321" y="114838"/>
                        <a:pt x="18475" y="112484"/>
                        <a:pt x="14629" y="109123"/>
                      </a:cubicBezTo>
                      <a:lnTo>
                        <a:pt x="14629" y="63080"/>
                      </a:lnTo>
                      <a:cubicBezTo>
                        <a:pt x="18852" y="59234"/>
                        <a:pt x="22824" y="56125"/>
                        <a:pt x="26795" y="54148"/>
                      </a:cubicBezTo>
                      <a:cubicBezTo>
                        <a:pt x="30641" y="52046"/>
                        <a:pt x="34487" y="51039"/>
                        <a:pt x="38207" y="51039"/>
                      </a:cubicBezTo>
                      <a:cubicBezTo>
                        <a:pt x="46402" y="51165"/>
                        <a:pt x="52351" y="54148"/>
                        <a:pt x="55963" y="59971"/>
                      </a:cubicBezTo>
                      <a:cubicBezTo>
                        <a:pt x="59557" y="65812"/>
                        <a:pt x="61301" y="73629"/>
                        <a:pt x="61301" y="83424"/>
                      </a:cubicBezTo>
                      <a:cubicBezTo>
                        <a:pt x="61175" y="94476"/>
                        <a:pt x="58695" y="103031"/>
                        <a:pt x="54094" y="109123"/>
                      </a:cubicBezTo>
                      <a:cubicBezTo>
                        <a:pt x="49493" y="115216"/>
                        <a:pt x="43401" y="118199"/>
                        <a:pt x="36087" y="118325"/>
                      </a:cubicBezTo>
                      <a:close/>
                      <a:moveTo>
                        <a:pt x="38441" y="130617"/>
                      </a:moveTo>
                      <a:cubicBezTo>
                        <a:pt x="45270" y="130617"/>
                        <a:pt x="51596" y="128748"/>
                        <a:pt x="57311" y="125028"/>
                      </a:cubicBezTo>
                      <a:cubicBezTo>
                        <a:pt x="63026" y="121308"/>
                        <a:pt x="67609" y="115970"/>
                        <a:pt x="71221" y="108890"/>
                      </a:cubicBezTo>
                      <a:cubicBezTo>
                        <a:pt x="74690" y="101809"/>
                        <a:pt x="76433" y="93254"/>
                        <a:pt x="76559" y="83190"/>
                      </a:cubicBezTo>
                      <a:cubicBezTo>
                        <a:pt x="76559" y="69532"/>
                        <a:pt x="73575" y="58857"/>
                        <a:pt x="67627" y="50788"/>
                      </a:cubicBezTo>
                      <a:cubicBezTo>
                        <a:pt x="61660" y="42844"/>
                        <a:pt x="52980" y="38747"/>
                        <a:pt x="41568" y="38621"/>
                      </a:cubicBezTo>
                      <a:cubicBezTo>
                        <a:pt x="36734" y="38747"/>
                        <a:pt x="31881" y="39861"/>
                        <a:pt x="27173" y="42215"/>
                      </a:cubicBezTo>
                      <a:cubicBezTo>
                        <a:pt x="22464" y="44569"/>
                        <a:pt x="18115" y="47427"/>
                        <a:pt x="14144" y="51021"/>
                      </a:cubicBezTo>
                      <a:lnTo>
                        <a:pt x="14647" y="35260"/>
                      </a:lnTo>
                      <a:lnTo>
                        <a:pt x="14647" y="0"/>
                      </a:lnTo>
                      <a:lnTo>
                        <a:pt x="0" y="0"/>
                      </a:lnTo>
                      <a:lnTo>
                        <a:pt x="0" y="128479"/>
                      </a:lnTo>
                      <a:lnTo>
                        <a:pt x="11664" y="128479"/>
                      </a:lnTo>
                      <a:lnTo>
                        <a:pt x="13029" y="119421"/>
                      </a:lnTo>
                      <a:lnTo>
                        <a:pt x="13532" y="119421"/>
                      </a:lnTo>
                      <a:cubicBezTo>
                        <a:pt x="17378" y="123015"/>
                        <a:pt x="21602" y="125747"/>
                        <a:pt x="25951" y="127616"/>
                      </a:cubicBezTo>
                      <a:cubicBezTo>
                        <a:pt x="30120" y="129611"/>
                        <a:pt x="34344" y="130617"/>
                        <a:pt x="38441" y="130617"/>
                      </a:cubicBezTo>
                      <a:close/>
                    </a:path>
                  </a:pathLst>
                </a:custGeom>
                <a:solidFill>
                  <a:srgbClr val="003399"/>
                </a:solidFill>
                <a:ln w="6350" cap="flat">
                  <a:solidFill>
                    <a:srgbClr val="003399"/>
                  </a:solidFill>
                  <a:prstDash val="solid"/>
                  <a:miter/>
                </a:ln>
              </p:spPr>
              <p:txBody>
                <a:bodyPr rtlCol="0" anchor="ctr"/>
                <a:lstStyle/>
                <a:p>
                  <a:endParaRPr lang="zh-CN" altLang="en-US"/>
                </a:p>
              </p:txBody>
            </p:sp>
            <p:sp>
              <p:nvSpPr>
                <p:cNvPr id="26" name="任意多边形: 形状 25"/>
                <p:cNvSpPr/>
                <p:nvPr/>
              </p:nvSpPr>
              <p:spPr>
                <a:xfrm>
                  <a:off x="9959492" y="962019"/>
                  <a:ext cx="68651" cy="91978"/>
                </a:xfrm>
                <a:custGeom>
                  <a:avLst/>
                  <a:gdLst>
                    <a:gd name="connsiteX0" fmla="*/ 29922 w 68651"/>
                    <a:gd name="connsiteY0" fmla="*/ 80171 h 91978"/>
                    <a:gd name="connsiteX1" fmla="*/ 18870 w 68651"/>
                    <a:gd name="connsiteY1" fmla="*/ 76936 h 91978"/>
                    <a:gd name="connsiteX2" fmla="*/ 14395 w 68651"/>
                    <a:gd name="connsiteY2" fmla="*/ 66135 h 91978"/>
                    <a:gd name="connsiteX3" fmla="*/ 23075 w 68651"/>
                    <a:gd name="connsiteY3" fmla="*/ 52117 h 91978"/>
                    <a:gd name="connsiteX4" fmla="*/ 53986 w 68651"/>
                    <a:gd name="connsiteY4" fmla="*/ 44048 h 91978"/>
                    <a:gd name="connsiteX5" fmla="*/ 53986 w 68651"/>
                    <a:gd name="connsiteY5" fmla="*/ 68508 h 91978"/>
                    <a:gd name="connsiteX6" fmla="*/ 41945 w 68651"/>
                    <a:gd name="connsiteY6" fmla="*/ 77188 h 91978"/>
                    <a:gd name="connsiteX7" fmla="*/ 29922 w 68651"/>
                    <a:gd name="connsiteY7" fmla="*/ 80171 h 91978"/>
                    <a:gd name="connsiteX8" fmla="*/ 25699 w 68651"/>
                    <a:gd name="connsiteY8" fmla="*/ 91978 h 91978"/>
                    <a:gd name="connsiteX9" fmla="*/ 41083 w 68651"/>
                    <a:gd name="connsiteY9" fmla="*/ 88258 h 91978"/>
                    <a:gd name="connsiteX10" fmla="*/ 54741 w 68651"/>
                    <a:gd name="connsiteY10" fmla="*/ 79452 h 91978"/>
                    <a:gd name="connsiteX11" fmla="*/ 55244 w 68651"/>
                    <a:gd name="connsiteY11" fmla="*/ 79452 h 91978"/>
                    <a:gd name="connsiteX12" fmla="*/ 56484 w 68651"/>
                    <a:gd name="connsiteY12" fmla="*/ 89876 h 91978"/>
                    <a:gd name="connsiteX13" fmla="*/ 68651 w 68651"/>
                    <a:gd name="connsiteY13" fmla="*/ 89876 h 91978"/>
                    <a:gd name="connsiteX14" fmla="*/ 68651 w 68651"/>
                    <a:gd name="connsiteY14" fmla="*/ 35997 h 91978"/>
                    <a:gd name="connsiteX15" fmla="*/ 61445 w 68651"/>
                    <a:gd name="connsiteY15" fmla="*/ 9938 h 91978"/>
                    <a:gd name="connsiteX16" fmla="*/ 38351 w 68651"/>
                    <a:gd name="connsiteY16" fmla="*/ 0 h 91978"/>
                    <a:gd name="connsiteX17" fmla="*/ 18744 w 68651"/>
                    <a:gd name="connsiteY17" fmla="*/ 3720 h 91978"/>
                    <a:gd name="connsiteX18" fmla="*/ 3720 w 68651"/>
                    <a:gd name="connsiteY18" fmla="*/ 11412 h 91978"/>
                    <a:gd name="connsiteX19" fmla="*/ 9561 w 68651"/>
                    <a:gd name="connsiteY19" fmla="*/ 21584 h 91978"/>
                    <a:gd name="connsiteX20" fmla="*/ 21476 w 68651"/>
                    <a:gd name="connsiteY20" fmla="*/ 15132 h 91978"/>
                    <a:gd name="connsiteX21" fmla="*/ 35871 w 68651"/>
                    <a:gd name="connsiteY21" fmla="*/ 12275 h 91978"/>
                    <a:gd name="connsiteX22" fmla="*/ 50266 w 68651"/>
                    <a:gd name="connsiteY22" fmla="*/ 19104 h 91978"/>
                    <a:gd name="connsiteX23" fmla="*/ 53986 w 68651"/>
                    <a:gd name="connsiteY23" fmla="*/ 34380 h 91978"/>
                    <a:gd name="connsiteX24" fmla="*/ 13029 w 68651"/>
                    <a:gd name="connsiteY24" fmla="*/ 45180 h 91978"/>
                    <a:gd name="connsiteX25" fmla="*/ 0 w 68651"/>
                    <a:gd name="connsiteY25" fmla="*/ 67160 h 91978"/>
                    <a:gd name="connsiteX26" fmla="*/ 7332 w 68651"/>
                    <a:gd name="connsiteY26" fmla="*/ 85527 h 91978"/>
                    <a:gd name="connsiteX27" fmla="*/ 25699 w 68651"/>
                    <a:gd name="connsiteY27" fmla="*/ 91978 h 91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8651" h="91978">
                      <a:moveTo>
                        <a:pt x="29922" y="80171"/>
                      </a:moveTo>
                      <a:cubicBezTo>
                        <a:pt x="25448" y="80171"/>
                        <a:pt x="21728" y="79183"/>
                        <a:pt x="18870" y="76936"/>
                      </a:cubicBezTo>
                      <a:cubicBezTo>
                        <a:pt x="16012" y="74708"/>
                        <a:pt x="14521" y="71095"/>
                        <a:pt x="14395" y="66135"/>
                      </a:cubicBezTo>
                      <a:cubicBezTo>
                        <a:pt x="14144" y="60420"/>
                        <a:pt x="17127" y="55838"/>
                        <a:pt x="23075" y="52117"/>
                      </a:cubicBezTo>
                      <a:cubicBezTo>
                        <a:pt x="29042" y="48523"/>
                        <a:pt x="39339" y="45792"/>
                        <a:pt x="53986" y="44048"/>
                      </a:cubicBezTo>
                      <a:lnTo>
                        <a:pt x="53986" y="68508"/>
                      </a:lnTo>
                      <a:cubicBezTo>
                        <a:pt x="49763" y="72353"/>
                        <a:pt x="45666" y="75211"/>
                        <a:pt x="41945" y="77188"/>
                      </a:cubicBezTo>
                      <a:cubicBezTo>
                        <a:pt x="38118" y="79183"/>
                        <a:pt x="34146" y="80171"/>
                        <a:pt x="29922" y="80171"/>
                      </a:cubicBezTo>
                      <a:close/>
                      <a:moveTo>
                        <a:pt x="25699" y="91978"/>
                      </a:moveTo>
                      <a:cubicBezTo>
                        <a:pt x="31163" y="91853"/>
                        <a:pt x="36248" y="90613"/>
                        <a:pt x="41083" y="88258"/>
                      </a:cubicBezTo>
                      <a:cubicBezTo>
                        <a:pt x="46043" y="85904"/>
                        <a:pt x="50518" y="82921"/>
                        <a:pt x="54741" y="79452"/>
                      </a:cubicBezTo>
                      <a:lnTo>
                        <a:pt x="55244" y="79452"/>
                      </a:lnTo>
                      <a:lnTo>
                        <a:pt x="56484" y="89876"/>
                      </a:lnTo>
                      <a:lnTo>
                        <a:pt x="68651" y="89876"/>
                      </a:lnTo>
                      <a:lnTo>
                        <a:pt x="68651" y="35997"/>
                      </a:lnTo>
                      <a:cubicBezTo>
                        <a:pt x="68651" y="24945"/>
                        <a:pt x="66297" y="16264"/>
                        <a:pt x="61445" y="9938"/>
                      </a:cubicBezTo>
                      <a:cubicBezTo>
                        <a:pt x="56610" y="3486"/>
                        <a:pt x="48900" y="126"/>
                        <a:pt x="38351" y="0"/>
                      </a:cubicBezTo>
                      <a:cubicBezTo>
                        <a:pt x="31145" y="126"/>
                        <a:pt x="24693" y="1366"/>
                        <a:pt x="18744" y="3720"/>
                      </a:cubicBezTo>
                      <a:cubicBezTo>
                        <a:pt x="12903" y="6200"/>
                        <a:pt x="7818" y="8680"/>
                        <a:pt x="3720" y="11412"/>
                      </a:cubicBezTo>
                      <a:lnTo>
                        <a:pt x="9561" y="21584"/>
                      </a:lnTo>
                      <a:cubicBezTo>
                        <a:pt x="13029" y="19104"/>
                        <a:pt x="17001" y="16983"/>
                        <a:pt x="21476" y="15132"/>
                      </a:cubicBezTo>
                      <a:cubicBezTo>
                        <a:pt x="25951" y="13263"/>
                        <a:pt x="30785" y="12275"/>
                        <a:pt x="35871" y="12275"/>
                      </a:cubicBezTo>
                      <a:cubicBezTo>
                        <a:pt x="42952" y="12400"/>
                        <a:pt x="47660" y="14755"/>
                        <a:pt x="50266" y="19104"/>
                      </a:cubicBezTo>
                      <a:cubicBezTo>
                        <a:pt x="52872" y="23327"/>
                        <a:pt x="54112" y="28413"/>
                        <a:pt x="53986" y="34380"/>
                      </a:cubicBezTo>
                      <a:cubicBezTo>
                        <a:pt x="35368" y="36374"/>
                        <a:pt x="21710" y="39969"/>
                        <a:pt x="13029" y="45180"/>
                      </a:cubicBezTo>
                      <a:cubicBezTo>
                        <a:pt x="4349" y="50392"/>
                        <a:pt x="0" y="57725"/>
                        <a:pt x="0" y="67160"/>
                      </a:cubicBezTo>
                      <a:cubicBezTo>
                        <a:pt x="251" y="75103"/>
                        <a:pt x="2606" y="81177"/>
                        <a:pt x="7332" y="85527"/>
                      </a:cubicBezTo>
                      <a:cubicBezTo>
                        <a:pt x="12059" y="89732"/>
                        <a:pt x="18259" y="91853"/>
                        <a:pt x="25699" y="91978"/>
                      </a:cubicBezTo>
                      <a:close/>
                    </a:path>
                  </a:pathLst>
                </a:custGeom>
                <a:solidFill>
                  <a:srgbClr val="003399"/>
                </a:solidFill>
                <a:ln w="6350" cap="flat">
                  <a:solidFill>
                    <a:srgbClr val="003399"/>
                  </a:solidFill>
                  <a:prstDash val="solid"/>
                  <a:miter/>
                </a:ln>
              </p:spPr>
              <p:txBody>
                <a:bodyPr rtlCol="0" anchor="ctr"/>
                <a:lstStyle/>
                <a:p>
                  <a:endParaRPr lang="zh-CN" altLang="en-US"/>
                </a:p>
              </p:txBody>
            </p:sp>
            <p:sp>
              <p:nvSpPr>
                <p:cNvPr id="27" name="任意多边形: 形状 26"/>
                <p:cNvSpPr/>
                <p:nvPr/>
              </p:nvSpPr>
              <p:spPr>
                <a:xfrm>
                  <a:off x="10057249" y="962055"/>
                  <a:ext cx="70017" cy="89857"/>
                </a:xfrm>
                <a:custGeom>
                  <a:avLst/>
                  <a:gdLst>
                    <a:gd name="connsiteX0" fmla="*/ 0 w 70017"/>
                    <a:gd name="connsiteY0" fmla="*/ 89822 h 89857"/>
                    <a:gd name="connsiteX1" fmla="*/ 14647 w 70017"/>
                    <a:gd name="connsiteY1" fmla="*/ 89822 h 89857"/>
                    <a:gd name="connsiteX2" fmla="*/ 14647 w 70017"/>
                    <a:gd name="connsiteY2" fmla="*/ 26274 h 89857"/>
                    <a:gd name="connsiteX3" fmla="*/ 26562 w 70017"/>
                    <a:gd name="connsiteY3" fmla="*/ 16228 h 89857"/>
                    <a:gd name="connsiteX4" fmla="*/ 38729 w 70017"/>
                    <a:gd name="connsiteY4" fmla="*/ 12886 h 89857"/>
                    <a:gd name="connsiteX5" fmla="*/ 51399 w 70017"/>
                    <a:gd name="connsiteY5" fmla="*/ 18349 h 89857"/>
                    <a:gd name="connsiteX6" fmla="*/ 55370 w 70017"/>
                    <a:gd name="connsiteY6" fmla="*/ 36231 h 89857"/>
                    <a:gd name="connsiteX7" fmla="*/ 55370 w 70017"/>
                    <a:gd name="connsiteY7" fmla="*/ 89858 h 89857"/>
                    <a:gd name="connsiteX8" fmla="*/ 70017 w 70017"/>
                    <a:gd name="connsiteY8" fmla="*/ 89858 h 89857"/>
                    <a:gd name="connsiteX9" fmla="*/ 70017 w 70017"/>
                    <a:gd name="connsiteY9" fmla="*/ 34380 h 89857"/>
                    <a:gd name="connsiteX10" fmla="*/ 63439 w 70017"/>
                    <a:gd name="connsiteY10" fmla="*/ 8806 h 89857"/>
                    <a:gd name="connsiteX11" fmla="*/ 43203 w 70017"/>
                    <a:gd name="connsiteY11" fmla="*/ 0 h 89857"/>
                    <a:gd name="connsiteX12" fmla="*/ 27191 w 70017"/>
                    <a:gd name="connsiteY12" fmla="*/ 4349 h 89857"/>
                    <a:gd name="connsiteX13" fmla="*/ 13784 w 70017"/>
                    <a:gd name="connsiteY13" fmla="*/ 14773 h 89857"/>
                    <a:gd name="connsiteX14" fmla="*/ 13281 w 70017"/>
                    <a:gd name="connsiteY14" fmla="*/ 14773 h 89857"/>
                    <a:gd name="connsiteX15" fmla="*/ 12041 w 70017"/>
                    <a:gd name="connsiteY15" fmla="*/ 2229 h 89857"/>
                    <a:gd name="connsiteX16" fmla="*/ 0 w 70017"/>
                    <a:gd name="connsiteY16" fmla="*/ 2229 h 89857"/>
                    <a:gd name="connsiteX17" fmla="*/ 0 w 70017"/>
                    <a:gd name="connsiteY17" fmla="*/ 89822 h 89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0017" h="89857">
                      <a:moveTo>
                        <a:pt x="0" y="89822"/>
                      </a:moveTo>
                      <a:lnTo>
                        <a:pt x="14647" y="89822"/>
                      </a:lnTo>
                      <a:lnTo>
                        <a:pt x="14647" y="26274"/>
                      </a:lnTo>
                      <a:cubicBezTo>
                        <a:pt x="18996" y="21799"/>
                        <a:pt x="22967" y="18457"/>
                        <a:pt x="26562" y="16228"/>
                      </a:cubicBezTo>
                      <a:cubicBezTo>
                        <a:pt x="30282" y="14000"/>
                        <a:pt x="34254" y="12886"/>
                        <a:pt x="38729" y="12886"/>
                      </a:cubicBezTo>
                      <a:cubicBezTo>
                        <a:pt x="44444" y="12760"/>
                        <a:pt x="48667" y="14629"/>
                        <a:pt x="51399" y="18349"/>
                      </a:cubicBezTo>
                      <a:cubicBezTo>
                        <a:pt x="54004" y="22069"/>
                        <a:pt x="55370" y="28036"/>
                        <a:pt x="55370" y="36231"/>
                      </a:cubicBezTo>
                      <a:lnTo>
                        <a:pt x="55370" y="89858"/>
                      </a:lnTo>
                      <a:lnTo>
                        <a:pt x="70017" y="89858"/>
                      </a:lnTo>
                      <a:lnTo>
                        <a:pt x="70017" y="34380"/>
                      </a:lnTo>
                      <a:cubicBezTo>
                        <a:pt x="70017" y="23076"/>
                        <a:pt x="67914" y="14521"/>
                        <a:pt x="63439" y="8806"/>
                      </a:cubicBezTo>
                      <a:cubicBezTo>
                        <a:pt x="59090" y="2965"/>
                        <a:pt x="52387" y="0"/>
                        <a:pt x="43203" y="0"/>
                      </a:cubicBezTo>
                      <a:cubicBezTo>
                        <a:pt x="37237" y="126"/>
                        <a:pt x="31899" y="1492"/>
                        <a:pt x="27191" y="4349"/>
                      </a:cubicBezTo>
                      <a:cubicBezTo>
                        <a:pt x="22482" y="7081"/>
                        <a:pt x="18007" y="10549"/>
                        <a:pt x="13784" y="14773"/>
                      </a:cubicBezTo>
                      <a:lnTo>
                        <a:pt x="13281" y="14773"/>
                      </a:lnTo>
                      <a:lnTo>
                        <a:pt x="12041" y="2229"/>
                      </a:lnTo>
                      <a:lnTo>
                        <a:pt x="0" y="2229"/>
                      </a:lnTo>
                      <a:lnTo>
                        <a:pt x="0" y="89822"/>
                      </a:lnTo>
                      <a:close/>
                    </a:path>
                  </a:pathLst>
                </a:custGeom>
                <a:solidFill>
                  <a:srgbClr val="003399"/>
                </a:solidFill>
                <a:ln w="6350" cap="flat">
                  <a:solidFill>
                    <a:srgbClr val="003399"/>
                  </a:solidFill>
                  <a:prstDash val="solid"/>
                  <a:miter/>
                </a:ln>
              </p:spPr>
              <p:txBody>
                <a:bodyPr rtlCol="0" anchor="ctr"/>
                <a:lstStyle/>
                <a:p>
                  <a:endParaRPr lang="zh-CN" altLang="en-US" dirty="0"/>
                </a:p>
              </p:txBody>
            </p:sp>
          </p:grpSp>
          <p:grpSp>
            <p:nvGrpSpPr>
              <p:cNvPr id="14" name="组合 13"/>
              <p:cNvGrpSpPr/>
              <p:nvPr userDrawn="1"/>
            </p:nvGrpSpPr>
            <p:grpSpPr>
              <a:xfrm>
                <a:off x="3550756" y="3868116"/>
                <a:ext cx="359700" cy="92032"/>
                <a:chOff x="10146307" y="961965"/>
                <a:chExt cx="359700" cy="92032"/>
              </a:xfrm>
            </p:grpSpPr>
            <p:sp>
              <p:nvSpPr>
                <p:cNvPr id="16" name="任意多边形: 形状 15"/>
                <p:cNvSpPr/>
                <p:nvPr/>
              </p:nvSpPr>
              <p:spPr>
                <a:xfrm>
                  <a:off x="10146307" y="1031389"/>
                  <a:ext cx="21224" cy="22608"/>
                </a:xfrm>
                <a:custGeom>
                  <a:avLst/>
                  <a:gdLst>
                    <a:gd name="connsiteX0" fmla="*/ 10675 w 21224"/>
                    <a:gd name="connsiteY0" fmla="*/ 22608 h 22608"/>
                    <a:gd name="connsiteX1" fmla="*/ 18115 w 21224"/>
                    <a:gd name="connsiteY1" fmla="*/ 19499 h 22608"/>
                    <a:gd name="connsiteX2" fmla="*/ 21224 w 21224"/>
                    <a:gd name="connsiteY2" fmla="*/ 11430 h 22608"/>
                    <a:gd name="connsiteX3" fmla="*/ 18115 w 21224"/>
                    <a:gd name="connsiteY3" fmla="*/ 3235 h 22608"/>
                    <a:gd name="connsiteX4" fmla="*/ 10675 w 21224"/>
                    <a:gd name="connsiteY4" fmla="*/ 0 h 22608"/>
                    <a:gd name="connsiteX5" fmla="*/ 3109 w 21224"/>
                    <a:gd name="connsiteY5" fmla="*/ 3235 h 22608"/>
                    <a:gd name="connsiteX6" fmla="*/ 0 w 21224"/>
                    <a:gd name="connsiteY6" fmla="*/ 11430 h 22608"/>
                    <a:gd name="connsiteX7" fmla="*/ 3109 w 21224"/>
                    <a:gd name="connsiteY7" fmla="*/ 19499 h 22608"/>
                    <a:gd name="connsiteX8" fmla="*/ 10675 w 21224"/>
                    <a:gd name="connsiteY8" fmla="*/ 22608 h 22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24" h="22608">
                      <a:moveTo>
                        <a:pt x="10675" y="22608"/>
                      </a:moveTo>
                      <a:cubicBezTo>
                        <a:pt x="13659" y="22482"/>
                        <a:pt x="16139" y="21494"/>
                        <a:pt x="18115" y="19499"/>
                      </a:cubicBezTo>
                      <a:cubicBezTo>
                        <a:pt x="20110" y="17504"/>
                        <a:pt x="21224" y="14791"/>
                        <a:pt x="21224" y="11430"/>
                      </a:cubicBezTo>
                      <a:cubicBezTo>
                        <a:pt x="21224" y="8069"/>
                        <a:pt x="20110" y="5356"/>
                        <a:pt x="18115" y="3235"/>
                      </a:cubicBezTo>
                      <a:cubicBezTo>
                        <a:pt x="16139" y="1132"/>
                        <a:pt x="13641" y="0"/>
                        <a:pt x="10675" y="0"/>
                      </a:cubicBezTo>
                      <a:cubicBezTo>
                        <a:pt x="7710" y="0"/>
                        <a:pt x="5212" y="1114"/>
                        <a:pt x="3109" y="3235"/>
                      </a:cubicBezTo>
                      <a:cubicBezTo>
                        <a:pt x="1114" y="5338"/>
                        <a:pt x="126" y="8069"/>
                        <a:pt x="0" y="11430"/>
                      </a:cubicBezTo>
                      <a:cubicBezTo>
                        <a:pt x="126" y="14773"/>
                        <a:pt x="1114" y="17504"/>
                        <a:pt x="3109" y="19499"/>
                      </a:cubicBezTo>
                      <a:cubicBezTo>
                        <a:pt x="5212" y="21476"/>
                        <a:pt x="7692" y="22482"/>
                        <a:pt x="10675" y="22608"/>
                      </a:cubicBezTo>
                      <a:close/>
                    </a:path>
                  </a:pathLst>
                </a:custGeom>
                <a:solidFill>
                  <a:srgbClr val="999999"/>
                </a:solidFill>
                <a:ln w="6350" cap="flat">
                  <a:solidFill>
                    <a:srgbClr val="999999"/>
                  </a:solidFill>
                  <a:prstDash val="solid"/>
                  <a:miter/>
                </a:ln>
              </p:spPr>
              <p:txBody>
                <a:bodyPr rtlCol="0" anchor="ctr"/>
                <a:lstStyle/>
                <a:p>
                  <a:endParaRPr lang="zh-CN" altLang="en-US" b="1"/>
                </a:p>
              </p:txBody>
            </p:sp>
            <p:sp>
              <p:nvSpPr>
                <p:cNvPr id="17" name="任意多边形: 形状 16"/>
                <p:cNvSpPr/>
                <p:nvPr/>
              </p:nvSpPr>
              <p:spPr>
                <a:xfrm>
                  <a:off x="10192350" y="961965"/>
                  <a:ext cx="69388" cy="92032"/>
                </a:xfrm>
                <a:custGeom>
                  <a:avLst/>
                  <a:gdLst>
                    <a:gd name="connsiteX0" fmla="*/ 41209 w 69388"/>
                    <a:gd name="connsiteY0" fmla="*/ 92032 h 92032"/>
                    <a:gd name="connsiteX1" fmla="*/ 56359 w 69388"/>
                    <a:gd name="connsiteY1" fmla="*/ 89049 h 92032"/>
                    <a:gd name="connsiteX2" fmla="*/ 69388 w 69388"/>
                    <a:gd name="connsiteY2" fmla="*/ 80854 h 92032"/>
                    <a:gd name="connsiteX3" fmla="*/ 63188 w 69388"/>
                    <a:gd name="connsiteY3" fmla="*/ 71042 h 92032"/>
                    <a:gd name="connsiteX4" fmla="*/ 53753 w 69388"/>
                    <a:gd name="connsiteY4" fmla="*/ 77242 h 92032"/>
                    <a:gd name="connsiteX5" fmla="*/ 42449 w 69388"/>
                    <a:gd name="connsiteY5" fmla="*/ 79722 h 92032"/>
                    <a:gd name="connsiteX6" fmla="*/ 22842 w 69388"/>
                    <a:gd name="connsiteY6" fmla="*/ 70538 h 92032"/>
                    <a:gd name="connsiteX7" fmla="*/ 15402 w 69388"/>
                    <a:gd name="connsiteY7" fmla="*/ 46205 h 92032"/>
                    <a:gd name="connsiteX8" fmla="*/ 23094 w 69388"/>
                    <a:gd name="connsiteY8" fmla="*/ 21620 h 92032"/>
                    <a:gd name="connsiteX9" fmla="*/ 42826 w 69388"/>
                    <a:gd name="connsiteY9" fmla="*/ 12311 h 92032"/>
                    <a:gd name="connsiteX10" fmla="*/ 52261 w 69388"/>
                    <a:gd name="connsiteY10" fmla="*/ 14413 h 92032"/>
                    <a:gd name="connsiteX11" fmla="*/ 60331 w 69388"/>
                    <a:gd name="connsiteY11" fmla="*/ 20128 h 92032"/>
                    <a:gd name="connsiteX12" fmla="*/ 68022 w 69388"/>
                    <a:gd name="connsiteY12" fmla="*/ 10316 h 92032"/>
                    <a:gd name="connsiteX13" fmla="*/ 57096 w 69388"/>
                    <a:gd name="connsiteY13" fmla="*/ 3109 h 92032"/>
                    <a:gd name="connsiteX14" fmla="*/ 42323 w 69388"/>
                    <a:gd name="connsiteY14" fmla="*/ 0 h 92032"/>
                    <a:gd name="connsiteX15" fmla="*/ 21350 w 69388"/>
                    <a:gd name="connsiteY15" fmla="*/ 5463 h 92032"/>
                    <a:gd name="connsiteX16" fmla="*/ 5967 w 69388"/>
                    <a:gd name="connsiteY16" fmla="*/ 21224 h 92032"/>
                    <a:gd name="connsiteX17" fmla="*/ 0 w 69388"/>
                    <a:gd name="connsiteY17" fmla="*/ 46169 h 92032"/>
                    <a:gd name="connsiteX18" fmla="*/ 11915 w 69388"/>
                    <a:gd name="connsiteY18" fmla="*/ 79937 h 92032"/>
                    <a:gd name="connsiteX19" fmla="*/ 41209 w 69388"/>
                    <a:gd name="connsiteY19" fmla="*/ 92032 h 92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9388" h="92032">
                      <a:moveTo>
                        <a:pt x="41209" y="92032"/>
                      </a:moveTo>
                      <a:cubicBezTo>
                        <a:pt x="46421" y="92032"/>
                        <a:pt x="51506" y="91044"/>
                        <a:pt x="56359" y="89049"/>
                      </a:cubicBezTo>
                      <a:cubicBezTo>
                        <a:pt x="61193" y="87180"/>
                        <a:pt x="65542" y="84448"/>
                        <a:pt x="69388" y="80854"/>
                      </a:cubicBezTo>
                      <a:lnTo>
                        <a:pt x="63188" y="71042"/>
                      </a:lnTo>
                      <a:cubicBezTo>
                        <a:pt x="60331" y="73647"/>
                        <a:pt x="57222" y="75642"/>
                        <a:pt x="53753" y="77242"/>
                      </a:cubicBezTo>
                      <a:cubicBezTo>
                        <a:pt x="50285" y="78859"/>
                        <a:pt x="46546" y="79722"/>
                        <a:pt x="42449" y="79722"/>
                      </a:cubicBezTo>
                      <a:cubicBezTo>
                        <a:pt x="34254" y="79596"/>
                        <a:pt x="27676" y="76487"/>
                        <a:pt x="22842" y="70538"/>
                      </a:cubicBezTo>
                      <a:cubicBezTo>
                        <a:pt x="18008" y="64464"/>
                        <a:pt x="15527" y="56395"/>
                        <a:pt x="15402" y="46205"/>
                      </a:cubicBezTo>
                      <a:cubicBezTo>
                        <a:pt x="15527" y="35907"/>
                        <a:pt x="18133" y="27712"/>
                        <a:pt x="23094" y="21620"/>
                      </a:cubicBezTo>
                      <a:cubicBezTo>
                        <a:pt x="28179" y="15545"/>
                        <a:pt x="34757" y="12436"/>
                        <a:pt x="42826" y="12311"/>
                      </a:cubicBezTo>
                      <a:cubicBezTo>
                        <a:pt x="46295" y="12311"/>
                        <a:pt x="49530" y="13047"/>
                        <a:pt x="52261" y="14413"/>
                      </a:cubicBezTo>
                      <a:cubicBezTo>
                        <a:pt x="55119" y="15905"/>
                        <a:pt x="57850" y="17756"/>
                        <a:pt x="60331" y="20128"/>
                      </a:cubicBezTo>
                      <a:lnTo>
                        <a:pt x="68022" y="10316"/>
                      </a:lnTo>
                      <a:cubicBezTo>
                        <a:pt x="64787" y="7458"/>
                        <a:pt x="61193" y="5104"/>
                        <a:pt x="57096" y="3109"/>
                      </a:cubicBezTo>
                      <a:cubicBezTo>
                        <a:pt x="52872" y="1114"/>
                        <a:pt x="48038" y="126"/>
                        <a:pt x="42323" y="0"/>
                      </a:cubicBezTo>
                      <a:cubicBezTo>
                        <a:pt x="34757" y="0"/>
                        <a:pt x="27802" y="1869"/>
                        <a:pt x="21350" y="5463"/>
                      </a:cubicBezTo>
                      <a:cubicBezTo>
                        <a:pt x="15024" y="9058"/>
                        <a:pt x="9938" y="14269"/>
                        <a:pt x="5967" y="21224"/>
                      </a:cubicBezTo>
                      <a:cubicBezTo>
                        <a:pt x="2121" y="28054"/>
                        <a:pt x="126" y="36374"/>
                        <a:pt x="0" y="46169"/>
                      </a:cubicBezTo>
                      <a:cubicBezTo>
                        <a:pt x="252" y="60690"/>
                        <a:pt x="4223" y="71994"/>
                        <a:pt x="11915" y="79937"/>
                      </a:cubicBezTo>
                      <a:cubicBezTo>
                        <a:pt x="19499" y="87935"/>
                        <a:pt x="29294" y="91906"/>
                        <a:pt x="41209" y="92032"/>
                      </a:cubicBezTo>
                      <a:close/>
                    </a:path>
                  </a:pathLst>
                </a:custGeom>
                <a:solidFill>
                  <a:srgbClr val="999999"/>
                </a:solidFill>
                <a:ln w="6350" cap="flat">
                  <a:solidFill>
                    <a:srgbClr val="999999"/>
                  </a:solidFill>
                  <a:prstDash val="solid"/>
                  <a:miter/>
                </a:ln>
              </p:spPr>
              <p:txBody>
                <a:bodyPr rtlCol="0" anchor="ctr"/>
                <a:lstStyle/>
                <a:p>
                  <a:endParaRPr lang="zh-CN" altLang="en-US" b="1"/>
                </a:p>
              </p:txBody>
            </p:sp>
            <p:sp>
              <p:nvSpPr>
                <p:cNvPr id="18" name="任意多边形: 形状 17"/>
                <p:cNvSpPr/>
                <p:nvPr/>
              </p:nvSpPr>
              <p:spPr>
                <a:xfrm>
                  <a:off x="10279225" y="962037"/>
                  <a:ext cx="81321" cy="91960"/>
                </a:xfrm>
                <a:custGeom>
                  <a:avLst/>
                  <a:gdLst>
                    <a:gd name="connsiteX0" fmla="*/ 40723 w 81321"/>
                    <a:gd name="connsiteY0" fmla="*/ 79668 h 91960"/>
                    <a:gd name="connsiteX1" fmla="*/ 22356 w 81321"/>
                    <a:gd name="connsiteY1" fmla="*/ 70484 h 91960"/>
                    <a:gd name="connsiteX2" fmla="*/ 15402 w 81321"/>
                    <a:gd name="connsiteY2" fmla="*/ 46151 h 91960"/>
                    <a:gd name="connsiteX3" fmla="*/ 22356 w 81321"/>
                    <a:gd name="connsiteY3" fmla="*/ 21566 h 91960"/>
                    <a:gd name="connsiteX4" fmla="*/ 40723 w 81321"/>
                    <a:gd name="connsiteY4" fmla="*/ 12257 h 91960"/>
                    <a:gd name="connsiteX5" fmla="*/ 59090 w 81321"/>
                    <a:gd name="connsiteY5" fmla="*/ 21566 h 91960"/>
                    <a:gd name="connsiteX6" fmla="*/ 66171 w 81321"/>
                    <a:gd name="connsiteY6" fmla="*/ 46151 h 91960"/>
                    <a:gd name="connsiteX7" fmla="*/ 59090 w 81321"/>
                    <a:gd name="connsiteY7" fmla="*/ 70484 h 91960"/>
                    <a:gd name="connsiteX8" fmla="*/ 40723 w 81321"/>
                    <a:gd name="connsiteY8" fmla="*/ 79668 h 91960"/>
                    <a:gd name="connsiteX9" fmla="*/ 40723 w 81321"/>
                    <a:gd name="connsiteY9" fmla="*/ 91960 h 91960"/>
                    <a:gd name="connsiteX10" fmla="*/ 60834 w 81321"/>
                    <a:gd name="connsiteY10" fmla="*/ 86497 h 91960"/>
                    <a:gd name="connsiteX11" fmla="*/ 75606 w 81321"/>
                    <a:gd name="connsiteY11" fmla="*/ 70862 h 91960"/>
                    <a:gd name="connsiteX12" fmla="*/ 81321 w 81321"/>
                    <a:gd name="connsiteY12" fmla="*/ 46169 h 91960"/>
                    <a:gd name="connsiteX13" fmla="*/ 75606 w 81321"/>
                    <a:gd name="connsiteY13" fmla="*/ 21224 h 91960"/>
                    <a:gd name="connsiteX14" fmla="*/ 60834 w 81321"/>
                    <a:gd name="connsiteY14" fmla="*/ 5463 h 91960"/>
                    <a:gd name="connsiteX15" fmla="*/ 40723 w 81321"/>
                    <a:gd name="connsiteY15" fmla="*/ 0 h 91960"/>
                    <a:gd name="connsiteX16" fmla="*/ 20613 w 81321"/>
                    <a:gd name="connsiteY16" fmla="*/ 5463 h 91960"/>
                    <a:gd name="connsiteX17" fmla="*/ 5841 w 81321"/>
                    <a:gd name="connsiteY17" fmla="*/ 21224 h 91960"/>
                    <a:gd name="connsiteX18" fmla="*/ 0 w 81321"/>
                    <a:gd name="connsiteY18" fmla="*/ 46169 h 91960"/>
                    <a:gd name="connsiteX19" fmla="*/ 5841 w 81321"/>
                    <a:gd name="connsiteY19" fmla="*/ 70862 h 91960"/>
                    <a:gd name="connsiteX20" fmla="*/ 20613 w 81321"/>
                    <a:gd name="connsiteY20" fmla="*/ 86497 h 91960"/>
                    <a:gd name="connsiteX21" fmla="*/ 40723 w 81321"/>
                    <a:gd name="connsiteY21" fmla="*/ 91960 h 9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1321" h="91960">
                      <a:moveTo>
                        <a:pt x="40723" y="79668"/>
                      </a:moveTo>
                      <a:cubicBezTo>
                        <a:pt x="33032" y="79542"/>
                        <a:pt x="26939" y="76433"/>
                        <a:pt x="22356" y="70484"/>
                      </a:cubicBezTo>
                      <a:cubicBezTo>
                        <a:pt x="17756" y="64410"/>
                        <a:pt x="15527" y="56341"/>
                        <a:pt x="15402" y="46151"/>
                      </a:cubicBezTo>
                      <a:cubicBezTo>
                        <a:pt x="15527" y="35853"/>
                        <a:pt x="17756" y="27658"/>
                        <a:pt x="22356" y="21566"/>
                      </a:cubicBezTo>
                      <a:cubicBezTo>
                        <a:pt x="26957" y="15491"/>
                        <a:pt x="33032" y="12382"/>
                        <a:pt x="40723" y="12257"/>
                      </a:cubicBezTo>
                      <a:cubicBezTo>
                        <a:pt x="48415" y="12382"/>
                        <a:pt x="54508" y="15491"/>
                        <a:pt x="59090" y="21566"/>
                      </a:cubicBezTo>
                      <a:cubicBezTo>
                        <a:pt x="63673" y="27640"/>
                        <a:pt x="66045" y="35835"/>
                        <a:pt x="66171" y="46151"/>
                      </a:cubicBezTo>
                      <a:cubicBezTo>
                        <a:pt x="66045" y="56323"/>
                        <a:pt x="63691" y="64392"/>
                        <a:pt x="59090" y="70484"/>
                      </a:cubicBezTo>
                      <a:cubicBezTo>
                        <a:pt x="54508" y="76433"/>
                        <a:pt x="48433" y="79542"/>
                        <a:pt x="40723" y="79668"/>
                      </a:cubicBezTo>
                      <a:close/>
                      <a:moveTo>
                        <a:pt x="40723" y="91960"/>
                      </a:moveTo>
                      <a:cubicBezTo>
                        <a:pt x="47930" y="91960"/>
                        <a:pt x="54633" y="90091"/>
                        <a:pt x="60834" y="86497"/>
                      </a:cubicBezTo>
                      <a:cubicBezTo>
                        <a:pt x="66908" y="82903"/>
                        <a:pt x="71886" y="77691"/>
                        <a:pt x="75606" y="70862"/>
                      </a:cubicBezTo>
                      <a:cubicBezTo>
                        <a:pt x="79326" y="64158"/>
                        <a:pt x="81321" y="55838"/>
                        <a:pt x="81321" y="46169"/>
                      </a:cubicBezTo>
                      <a:cubicBezTo>
                        <a:pt x="81321" y="36356"/>
                        <a:pt x="79326" y="28054"/>
                        <a:pt x="75606" y="21224"/>
                      </a:cubicBezTo>
                      <a:cubicBezTo>
                        <a:pt x="71886" y="14269"/>
                        <a:pt x="66926" y="9058"/>
                        <a:pt x="60834" y="5463"/>
                      </a:cubicBezTo>
                      <a:cubicBezTo>
                        <a:pt x="54633" y="1869"/>
                        <a:pt x="47930" y="0"/>
                        <a:pt x="40723" y="0"/>
                      </a:cubicBezTo>
                      <a:cubicBezTo>
                        <a:pt x="33391" y="0"/>
                        <a:pt x="26706" y="1869"/>
                        <a:pt x="20613" y="5463"/>
                      </a:cubicBezTo>
                      <a:cubicBezTo>
                        <a:pt x="14539" y="9058"/>
                        <a:pt x="9561" y="14269"/>
                        <a:pt x="5841" y="21224"/>
                      </a:cubicBezTo>
                      <a:cubicBezTo>
                        <a:pt x="2121" y="28054"/>
                        <a:pt x="126" y="36374"/>
                        <a:pt x="0" y="46169"/>
                      </a:cubicBezTo>
                      <a:cubicBezTo>
                        <a:pt x="126" y="55856"/>
                        <a:pt x="2103" y="64158"/>
                        <a:pt x="5841" y="70862"/>
                      </a:cubicBezTo>
                      <a:cubicBezTo>
                        <a:pt x="9561" y="77691"/>
                        <a:pt x="14521" y="82903"/>
                        <a:pt x="20613" y="86497"/>
                      </a:cubicBezTo>
                      <a:cubicBezTo>
                        <a:pt x="26706" y="90091"/>
                        <a:pt x="33409" y="91960"/>
                        <a:pt x="40723" y="91960"/>
                      </a:cubicBezTo>
                      <a:close/>
                    </a:path>
                  </a:pathLst>
                </a:custGeom>
                <a:solidFill>
                  <a:srgbClr val="999999"/>
                </a:solidFill>
                <a:ln w="6350" cap="flat">
                  <a:solidFill>
                    <a:srgbClr val="999999"/>
                  </a:solidFill>
                  <a:prstDash val="solid"/>
                  <a:miter/>
                </a:ln>
              </p:spPr>
              <p:txBody>
                <a:bodyPr rtlCol="0" anchor="ctr"/>
                <a:lstStyle/>
                <a:p>
                  <a:endParaRPr lang="zh-CN" altLang="en-US" b="1"/>
                </a:p>
              </p:txBody>
            </p:sp>
            <p:sp>
              <p:nvSpPr>
                <p:cNvPr id="19" name="任意多边形: 形状 18"/>
                <p:cNvSpPr/>
                <p:nvPr/>
              </p:nvSpPr>
              <p:spPr>
                <a:xfrm>
                  <a:off x="10385203" y="962019"/>
                  <a:ext cx="120804" cy="89875"/>
                </a:xfrm>
                <a:custGeom>
                  <a:avLst/>
                  <a:gdLst>
                    <a:gd name="connsiteX0" fmla="*/ 36 w 120804"/>
                    <a:gd name="connsiteY0" fmla="*/ 89858 h 89875"/>
                    <a:gd name="connsiteX1" fmla="*/ 14683 w 120804"/>
                    <a:gd name="connsiteY1" fmla="*/ 89858 h 89875"/>
                    <a:gd name="connsiteX2" fmla="*/ 14683 w 120804"/>
                    <a:gd name="connsiteY2" fmla="*/ 26310 h 89875"/>
                    <a:gd name="connsiteX3" fmla="*/ 26220 w 120804"/>
                    <a:gd name="connsiteY3" fmla="*/ 16138 h 89875"/>
                    <a:gd name="connsiteX4" fmla="*/ 36770 w 120804"/>
                    <a:gd name="connsiteY4" fmla="*/ 12904 h 89875"/>
                    <a:gd name="connsiteX5" fmla="*/ 49062 w 120804"/>
                    <a:gd name="connsiteY5" fmla="*/ 18367 h 89875"/>
                    <a:gd name="connsiteX6" fmla="*/ 53034 w 120804"/>
                    <a:gd name="connsiteY6" fmla="*/ 36249 h 89875"/>
                    <a:gd name="connsiteX7" fmla="*/ 53034 w 120804"/>
                    <a:gd name="connsiteY7" fmla="*/ 89876 h 89875"/>
                    <a:gd name="connsiteX8" fmla="*/ 67807 w 120804"/>
                    <a:gd name="connsiteY8" fmla="*/ 89876 h 89875"/>
                    <a:gd name="connsiteX9" fmla="*/ 67807 w 120804"/>
                    <a:gd name="connsiteY9" fmla="*/ 26310 h 89875"/>
                    <a:gd name="connsiteX10" fmla="*/ 79344 w 120804"/>
                    <a:gd name="connsiteY10" fmla="*/ 16138 h 89875"/>
                    <a:gd name="connsiteX11" fmla="*/ 89894 w 120804"/>
                    <a:gd name="connsiteY11" fmla="*/ 12904 h 89875"/>
                    <a:gd name="connsiteX12" fmla="*/ 102186 w 120804"/>
                    <a:gd name="connsiteY12" fmla="*/ 18367 h 89875"/>
                    <a:gd name="connsiteX13" fmla="*/ 106158 w 120804"/>
                    <a:gd name="connsiteY13" fmla="*/ 36249 h 89875"/>
                    <a:gd name="connsiteX14" fmla="*/ 106158 w 120804"/>
                    <a:gd name="connsiteY14" fmla="*/ 89876 h 89875"/>
                    <a:gd name="connsiteX15" fmla="*/ 120805 w 120804"/>
                    <a:gd name="connsiteY15" fmla="*/ 89876 h 89875"/>
                    <a:gd name="connsiteX16" fmla="*/ 120805 w 120804"/>
                    <a:gd name="connsiteY16" fmla="*/ 34398 h 89875"/>
                    <a:gd name="connsiteX17" fmla="*/ 114353 w 120804"/>
                    <a:gd name="connsiteY17" fmla="*/ 8824 h 89875"/>
                    <a:gd name="connsiteX18" fmla="*/ 94243 w 120804"/>
                    <a:gd name="connsiteY18" fmla="*/ 18 h 89875"/>
                    <a:gd name="connsiteX19" fmla="*/ 79218 w 120804"/>
                    <a:gd name="connsiteY19" fmla="*/ 4727 h 89875"/>
                    <a:gd name="connsiteX20" fmla="*/ 65308 w 120804"/>
                    <a:gd name="connsiteY20" fmla="*/ 16767 h 89875"/>
                    <a:gd name="connsiteX21" fmla="*/ 56862 w 120804"/>
                    <a:gd name="connsiteY21" fmla="*/ 4475 h 89875"/>
                    <a:gd name="connsiteX22" fmla="*/ 41101 w 120804"/>
                    <a:gd name="connsiteY22" fmla="*/ 0 h 89875"/>
                    <a:gd name="connsiteX23" fmla="*/ 26328 w 120804"/>
                    <a:gd name="connsiteY23" fmla="*/ 4349 h 89875"/>
                    <a:gd name="connsiteX24" fmla="*/ 13784 w 120804"/>
                    <a:gd name="connsiteY24" fmla="*/ 15024 h 89875"/>
                    <a:gd name="connsiteX25" fmla="*/ 13281 w 120804"/>
                    <a:gd name="connsiteY25" fmla="*/ 15024 h 89875"/>
                    <a:gd name="connsiteX26" fmla="*/ 12041 w 120804"/>
                    <a:gd name="connsiteY26" fmla="*/ 2246 h 89875"/>
                    <a:gd name="connsiteX27" fmla="*/ 0 w 120804"/>
                    <a:gd name="connsiteY27" fmla="*/ 2246 h 89875"/>
                    <a:gd name="connsiteX28" fmla="*/ 0 w 120804"/>
                    <a:gd name="connsiteY28" fmla="*/ 89858 h 89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0804" h="89875">
                      <a:moveTo>
                        <a:pt x="36" y="89858"/>
                      </a:moveTo>
                      <a:lnTo>
                        <a:pt x="14683" y="89858"/>
                      </a:lnTo>
                      <a:lnTo>
                        <a:pt x="14683" y="26310"/>
                      </a:lnTo>
                      <a:cubicBezTo>
                        <a:pt x="18654" y="21710"/>
                        <a:pt x="22626" y="18367"/>
                        <a:pt x="26220" y="16138"/>
                      </a:cubicBezTo>
                      <a:cubicBezTo>
                        <a:pt x="29941" y="14036"/>
                        <a:pt x="33427" y="12904"/>
                        <a:pt x="36770" y="12904"/>
                      </a:cubicBezTo>
                      <a:cubicBezTo>
                        <a:pt x="42359" y="12778"/>
                        <a:pt x="46456" y="14647"/>
                        <a:pt x="49062" y="18367"/>
                      </a:cubicBezTo>
                      <a:cubicBezTo>
                        <a:pt x="51794" y="22087"/>
                        <a:pt x="53160" y="28054"/>
                        <a:pt x="53034" y="36249"/>
                      </a:cubicBezTo>
                      <a:lnTo>
                        <a:pt x="53034" y="89876"/>
                      </a:lnTo>
                      <a:lnTo>
                        <a:pt x="67807" y="89876"/>
                      </a:lnTo>
                      <a:lnTo>
                        <a:pt x="67807" y="26310"/>
                      </a:lnTo>
                      <a:cubicBezTo>
                        <a:pt x="71904" y="21710"/>
                        <a:pt x="75750" y="18367"/>
                        <a:pt x="79344" y="16138"/>
                      </a:cubicBezTo>
                      <a:cubicBezTo>
                        <a:pt x="82939" y="14036"/>
                        <a:pt x="86551" y="12904"/>
                        <a:pt x="89894" y="12904"/>
                      </a:cubicBezTo>
                      <a:cubicBezTo>
                        <a:pt x="95357" y="12778"/>
                        <a:pt x="99580" y="14647"/>
                        <a:pt x="102186" y="18367"/>
                      </a:cubicBezTo>
                      <a:cubicBezTo>
                        <a:pt x="104918" y="22087"/>
                        <a:pt x="106158" y="28054"/>
                        <a:pt x="106158" y="36249"/>
                      </a:cubicBezTo>
                      <a:lnTo>
                        <a:pt x="106158" y="89876"/>
                      </a:lnTo>
                      <a:lnTo>
                        <a:pt x="120805" y="89876"/>
                      </a:lnTo>
                      <a:lnTo>
                        <a:pt x="120805" y="34398"/>
                      </a:lnTo>
                      <a:cubicBezTo>
                        <a:pt x="120805" y="23093"/>
                        <a:pt x="118702" y="14539"/>
                        <a:pt x="114353" y="8824"/>
                      </a:cubicBezTo>
                      <a:cubicBezTo>
                        <a:pt x="109878" y="2983"/>
                        <a:pt x="103175" y="18"/>
                        <a:pt x="94243" y="18"/>
                      </a:cubicBezTo>
                      <a:cubicBezTo>
                        <a:pt x="88905" y="144"/>
                        <a:pt x="83945" y="1635"/>
                        <a:pt x="79218" y="4727"/>
                      </a:cubicBezTo>
                      <a:cubicBezTo>
                        <a:pt x="74384" y="7710"/>
                        <a:pt x="69783" y="11807"/>
                        <a:pt x="65308" y="16767"/>
                      </a:cubicBezTo>
                      <a:cubicBezTo>
                        <a:pt x="63565" y="11556"/>
                        <a:pt x="60834" y="7458"/>
                        <a:pt x="56862" y="4475"/>
                      </a:cubicBezTo>
                      <a:cubicBezTo>
                        <a:pt x="53016" y="1617"/>
                        <a:pt x="47804" y="0"/>
                        <a:pt x="41101" y="0"/>
                      </a:cubicBezTo>
                      <a:cubicBezTo>
                        <a:pt x="35889" y="126"/>
                        <a:pt x="30929" y="1492"/>
                        <a:pt x="26328" y="4349"/>
                      </a:cubicBezTo>
                      <a:cubicBezTo>
                        <a:pt x="21853" y="7207"/>
                        <a:pt x="17648" y="10675"/>
                        <a:pt x="13784" y="15024"/>
                      </a:cubicBezTo>
                      <a:lnTo>
                        <a:pt x="13281" y="15024"/>
                      </a:lnTo>
                      <a:lnTo>
                        <a:pt x="12041" y="2246"/>
                      </a:lnTo>
                      <a:lnTo>
                        <a:pt x="0" y="2246"/>
                      </a:lnTo>
                      <a:lnTo>
                        <a:pt x="0" y="89858"/>
                      </a:lnTo>
                      <a:close/>
                    </a:path>
                  </a:pathLst>
                </a:custGeom>
                <a:solidFill>
                  <a:srgbClr val="999999"/>
                </a:solidFill>
                <a:ln w="6350" cap="flat">
                  <a:solidFill>
                    <a:srgbClr val="999999"/>
                  </a:solidFill>
                  <a:prstDash val="solid"/>
                  <a:miter/>
                </a:ln>
              </p:spPr>
              <p:txBody>
                <a:bodyPr rtlCol="0" anchor="ctr"/>
                <a:lstStyle/>
                <a:p>
                  <a:endParaRPr lang="zh-CN" altLang="en-US" b="1"/>
                </a:p>
              </p:txBody>
            </p:sp>
          </p:grpSp>
          <p:sp>
            <p:nvSpPr>
              <p:cNvPr id="15" name="任意多边形: 形状 14"/>
              <p:cNvSpPr/>
              <p:nvPr userDrawn="1"/>
            </p:nvSpPr>
            <p:spPr>
              <a:xfrm>
                <a:off x="1086173" y="3300162"/>
                <a:ext cx="781977" cy="781959"/>
              </a:xfrm>
              <a:custGeom>
                <a:avLst/>
                <a:gdLst>
                  <a:gd name="connsiteX0" fmla="*/ 0 w 781977"/>
                  <a:gd name="connsiteY0" fmla="*/ 390989 h 781959"/>
                  <a:gd name="connsiteX1" fmla="*/ 34757 w 781977"/>
                  <a:gd name="connsiteY1" fmla="*/ 552355 h 781959"/>
                  <a:gd name="connsiteX2" fmla="*/ 114820 w 781977"/>
                  <a:gd name="connsiteY2" fmla="*/ 552355 h 781959"/>
                  <a:gd name="connsiteX3" fmla="*/ 266877 w 781977"/>
                  <a:gd name="connsiteY3" fmla="*/ 552355 h 781959"/>
                  <a:gd name="connsiteX4" fmla="*/ 341351 w 781977"/>
                  <a:gd name="connsiteY4" fmla="*/ 465463 h 781959"/>
                  <a:gd name="connsiteX5" fmla="*/ 179985 w 781977"/>
                  <a:gd name="connsiteY5" fmla="*/ 378570 h 781959"/>
                  <a:gd name="connsiteX6" fmla="*/ 179985 w 781977"/>
                  <a:gd name="connsiteY6" fmla="*/ 204786 h 781959"/>
                  <a:gd name="connsiteX7" fmla="*/ 440644 w 781977"/>
                  <a:gd name="connsiteY7" fmla="*/ 204786 h 781959"/>
                  <a:gd name="connsiteX8" fmla="*/ 440644 w 781977"/>
                  <a:gd name="connsiteY8" fmla="*/ 242023 h 781959"/>
                  <a:gd name="connsiteX9" fmla="*/ 217222 w 781977"/>
                  <a:gd name="connsiteY9" fmla="*/ 242023 h 781959"/>
                  <a:gd name="connsiteX10" fmla="*/ 217222 w 781977"/>
                  <a:gd name="connsiteY10" fmla="*/ 341316 h 781959"/>
                  <a:gd name="connsiteX11" fmla="*/ 378588 w 781977"/>
                  <a:gd name="connsiteY11" fmla="*/ 465445 h 781959"/>
                  <a:gd name="connsiteX12" fmla="*/ 126484 w 781977"/>
                  <a:gd name="connsiteY12" fmla="*/ 597140 h 781959"/>
                  <a:gd name="connsiteX13" fmla="*/ 58461 w 781977"/>
                  <a:gd name="connsiteY13" fmla="*/ 596763 h 781959"/>
                  <a:gd name="connsiteX14" fmla="*/ 390989 w 781977"/>
                  <a:gd name="connsiteY14" fmla="*/ 781960 h 781959"/>
                  <a:gd name="connsiteX15" fmla="*/ 722150 w 781977"/>
                  <a:gd name="connsiteY15" fmla="*/ 598758 h 781959"/>
                  <a:gd name="connsiteX16" fmla="*/ 692731 w 781977"/>
                  <a:gd name="connsiteY16" fmla="*/ 599387 h 781959"/>
                  <a:gd name="connsiteX17" fmla="*/ 539937 w 781977"/>
                  <a:gd name="connsiteY17" fmla="*/ 539937 h 781959"/>
                  <a:gd name="connsiteX18" fmla="*/ 539937 w 781977"/>
                  <a:gd name="connsiteY18" fmla="*/ 229640 h 781959"/>
                  <a:gd name="connsiteX19" fmla="*/ 465463 w 781977"/>
                  <a:gd name="connsiteY19" fmla="*/ 242059 h 781959"/>
                  <a:gd name="connsiteX20" fmla="*/ 465463 w 781977"/>
                  <a:gd name="connsiteY20" fmla="*/ 204822 h 781959"/>
                  <a:gd name="connsiteX21" fmla="*/ 589592 w 781977"/>
                  <a:gd name="connsiteY21" fmla="*/ 167585 h 781959"/>
                  <a:gd name="connsiteX22" fmla="*/ 589592 w 781977"/>
                  <a:gd name="connsiteY22" fmla="*/ 530771 h 781959"/>
                  <a:gd name="connsiteX23" fmla="*/ 618634 w 781977"/>
                  <a:gd name="connsiteY23" fmla="*/ 552373 h 781959"/>
                  <a:gd name="connsiteX24" fmla="*/ 705149 w 781977"/>
                  <a:gd name="connsiteY24" fmla="*/ 552373 h 781959"/>
                  <a:gd name="connsiteX25" fmla="*/ 747220 w 781977"/>
                  <a:gd name="connsiteY25" fmla="*/ 552373 h 781959"/>
                  <a:gd name="connsiteX26" fmla="*/ 781977 w 781977"/>
                  <a:gd name="connsiteY26" fmla="*/ 391007 h 781959"/>
                  <a:gd name="connsiteX27" fmla="*/ 390989 w 781977"/>
                  <a:gd name="connsiteY27" fmla="*/ 0 h 781959"/>
                  <a:gd name="connsiteX28" fmla="*/ 0 w 781977"/>
                  <a:gd name="connsiteY28" fmla="*/ 390989 h 78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81977" h="781959">
                    <a:moveTo>
                      <a:pt x="0" y="390989"/>
                    </a:moveTo>
                    <a:cubicBezTo>
                      <a:pt x="0" y="448588"/>
                      <a:pt x="12418" y="503203"/>
                      <a:pt x="34757" y="552355"/>
                    </a:cubicBezTo>
                    <a:lnTo>
                      <a:pt x="114820" y="552355"/>
                    </a:lnTo>
                    <a:lnTo>
                      <a:pt x="266877" y="552355"/>
                    </a:lnTo>
                    <a:cubicBezTo>
                      <a:pt x="336769" y="530628"/>
                      <a:pt x="341351" y="490300"/>
                      <a:pt x="341351" y="465463"/>
                    </a:cubicBezTo>
                    <a:cubicBezTo>
                      <a:pt x="341351" y="378570"/>
                      <a:pt x="254459" y="366170"/>
                      <a:pt x="179985" y="378570"/>
                    </a:cubicBezTo>
                    <a:lnTo>
                      <a:pt x="179985" y="204786"/>
                    </a:lnTo>
                    <a:lnTo>
                      <a:pt x="440644" y="204786"/>
                    </a:lnTo>
                    <a:lnTo>
                      <a:pt x="440644" y="242023"/>
                    </a:lnTo>
                    <a:lnTo>
                      <a:pt x="217222" y="242023"/>
                    </a:lnTo>
                    <a:lnTo>
                      <a:pt x="217222" y="341316"/>
                    </a:lnTo>
                    <a:cubicBezTo>
                      <a:pt x="339860" y="342807"/>
                      <a:pt x="377097" y="383153"/>
                      <a:pt x="378588" y="465445"/>
                    </a:cubicBezTo>
                    <a:cubicBezTo>
                      <a:pt x="381320" y="608444"/>
                      <a:pt x="235589" y="599369"/>
                      <a:pt x="126484" y="597140"/>
                    </a:cubicBezTo>
                    <a:cubicBezTo>
                      <a:pt x="120032" y="597015"/>
                      <a:pt x="82795" y="596889"/>
                      <a:pt x="58461" y="596763"/>
                    </a:cubicBezTo>
                    <a:cubicBezTo>
                      <a:pt x="127472" y="707989"/>
                      <a:pt x="250613" y="781960"/>
                      <a:pt x="390989" y="781960"/>
                    </a:cubicBezTo>
                    <a:cubicBezTo>
                      <a:pt x="530502" y="781960"/>
                      <a:pt x="653014" y="708851"/>
                      <a:pt x="722150" y="598758"/>
                    </a:cubicBezTo>
                    <a:cubicBezTo>
                      <a:pt x="712463" y="599135"/>
                      <a:pt x="702669" y="599261"/>
                      <a:pt x="692731" y="599387"/>
                    </a:cubicBezTo>
                    <a:cubicBezTo>
                      <a:pt x="616765" y="599513"/>
                      <a:pt x="539937" y="588838"/>
                      <a:pt x="539937" y="539937"/>
                    </a:cubicBezTo>
                    <a:lnTo>
                      <a:pt x="539937" y="229640"/>
                    </a:lnTo>
                    <a:cubicBezTo>
                      <a:pt x="511632" y="234241"/>
                      <a:pt x="499968" y="237332"/>
                      <a:pt x="465463" y="242059"/>
                    </a:cubicBezTo>
                    <a:lnTo>
                      <a:pt x="465463" y="204822"/>
                    </a:lnTo>
                    <a:cubicBezTo>
                      <a:pt x="500345" y="192781"/>
                      <a:pt x="527518" y="183094"/>
                      <a:pt x="589592" y="167585"/>
                    </a:cubicBezTo>
                    <a:lnTo>
                      <a:pt x="589592" y="530771"/>
                    </a:lnTo>
                    <a:cubicBezTo>
                      <a:pt x="594552" y="542812"/>
                      <a:pt x="596547" y="550756"/>
                      <a:pt x="618634" y="552373"/>
                    </a:cubicBezTo>
                    <a:lnTo>
                      <a:pt x="705149" y="552373"/>
                    </a:lnTo>
                    <a:lnTo>
                      <a:pt x="747220" y="552373"/>
                    </a:lnTo>
                    <a:cubicBezTo>
                      <a:pt x="769559" y="503221"/>
                      <a:pt x="781977" y="448480"/>
                      <a:pt x="781977" y="391007"/>
                    </a:cubicBezTo>
                    <a:cubicBezTo>
                      <a:pt x="781995" y="175025"/>
                      <a:pt x="606971" y="0"/>
                      <a:pt x="390989" y="0"/>
                    </a:cubicBezTo>
                    <a:cubicBezTo>
                      <a:pt x="175007" y="0"/>
                      <a:pt x="0" y="175025"/>
                      <a:pt x="0" y="390989"/>
                    </a:cubicBezTo>
                    <a:close/>
                  </a:path>
                </a:pathLst>
              </a:custGeom>
              <a:solidFill>
                <a:srgbClr val="FF5200"/>
              </a:solidFill>
              <a:ln w="1794" cap="flat">
                <a:noFill/>
                <a:prstDash val="solid"/>
                <a:miter/>
              </a:ln>
            </p:spPr>
            <p:txBody>
              <a:bodyPr rtlCol="0" anchor="ctr"/>
              <a:lstStyle/>
              <a:p>
                <a:endParaRPr lang="zh-CN" altLang="en-US"/>
              </a:p>
            </p:txBody>
          </p:sp>
        </p:grpSp>
        <p:sp>
          <p:nvSpPr>
            <p:cNvPr id="5" name="矩形 4">
              <a:hlinkClick r:id="rId2"/>
            </p:cNvPr>
            <p:cNvSpPr/>
            <p:nvPr userDrawn="1"/>
          </p:nvSpPr>
          <p:spPr>
            <a:xfrm>
              <a:off x="870547" y="7238685"/>
              <a:ext cx="3333750" cy="1143000"/>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4" name="任意多边形: 形状 33"/>
          <p:cNvSpPr/>
          <p:nvPr userDrawn="1"/>
        </p:nvSpPr>
        <p:spPr>
          <a:xfrm>
            <a:off x="2" y="3832097"/>
            <a:ext cx="12195175" cy="3022731"/>
          </a:xfrm>
          <a:custGeom>
            <a:avLst/>
            <a:gdLst>
              <a:gd name="connsiteX0" fmla="*/ 7975600 w 12192000"/>
              <a:gd name="connsiteY0" fmla="*/ 1366 h 3023966"/>
              <a:gd name="connsiteX1" fmla="*/ 11319470 w 12192000"/>
              <a:gd name="connsiteY1" fmla="*/ 330723 h 3023966"/>
              <a:gd name="connsiteX2" fmla="*/ 12192000 w 12192000"/>
              <a:gd name="connsiteY2" fmla="*/ 498201 h 3023966"/>
              <a:gd name="connsiteX3" fmla="*/ 12192000 w 12192000"/>
              <a:gd name="connsiteY3" fmla="*/ 3023966 h 3023966"/>
              <a:gd name="connsiteX4" fmla="*/ 0 w 12192000"/>
              <a:gd name="connsiteY4" fmla="*/ 3023966 h 3023966"/>
              <a:gd name="connsiteX5" fmla="*/ 0 w 12192000"/>
              <a:gd name="connsiteY5" fmla="*/ 376472 h 3023966"/>
              <a:gd name="connsiteX6" fmla="*/ 345926 w 12192000"/>
              <a:gd name="connsiteY6" fmla="*/ 450479 h 3023966"/>
              <a:gd name="connsiteX7" fmla="*/ 2908300 w 12192000"/>
              <a:gd name="connsiteY7" fmla="*/ 674466 h 3023966"/>
              <a:gd name="connsiteX8" fmla="*/ 7975600 w 12192000"/>
              <a:gd name="connsiteY8" fmla="*/ 1366 h 3023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023966">
                <a:moveTo>
                  <a:pt x="7975600" y="1366"/>
                </a:moveTo>
                <a:cubicBezTo>
                  <a:pt x="9159875" y="-16096"/>
                  <a:pt x="10251281" y="136105"/>
                  <a:pt x="11319470" y="330723"/>
                </a:cubicBezTo>
                <a:lnTo>
                  <a:pt x="12192000" y="498201"/>
                </a:lnTo>
                <a:lnTo>
                  <a:pt x="12192000" y="3023966"/>
                </a:lnTo>
                <a:lnTo>
                  <a:pt x="0" y="3023966"/>
                </a:lnTo>
                <a:lnTo>
                  <a:pt x="0" y="376472"/>
                </a:lnTo>
                <a:lnTo>
                  <a:pt x="345926" y="450479"/>
                </a:lnTo>
                <a:cubicBezTo>
                  <a:pt x="1074142" y="599258"/>
                  <a:pt x="1865313" y="710978"/>
                  <a:pt x="2908300" y="674466"/>
                </a:cubicBezTo>
                <a:cubicBezTo>
                  <a:pt x="4298950" y="625783"/>
                  <a:pt x="6396567" y="24649"/>
                  <a:pt x="7975600" y="1366"/>
                </a:cubicBezTo>
                <a:close/>
              </a:path>
            </a:pathLst>
          </a:custGeom>
          <a:solidFill>
            <a:srgbClr val="00339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705">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sym typeface="HarmonyOS Sans SC Light" panose="00000400000000000000"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Rectangle 5"/>
          <p:cNvSpPr>
            <a:spLocks noChangeArrowheads="1"/>
          </p:cNvSpPr>
          <p:nvPr userDrawn="1"/>
        </p:nvSpPr>
        <p:spPr bwMode="auto">
          <a:xfrm>
            <a:off x="0" y="1588"/>
            <a:ext cx="12192000" cy="6856412"/>
          </a:xfrm>
          <a:prstGeom prst="rect">
            <a:avLst/>
          </a:prstGeom>
          <a:solidFill>
            <a:srgbClr val="F8F8F8"/>
          </a:solidFill>
          <a:ln>
            <a:noFill/>
          </a:ln>
        </p:spPr>
        <p:txBody>
          <a:bodyPr vert="horz" wrap="square" lIns="91440" tIns="45720" rIns="91440" bIns="45720" numCol="1" anchor="t" anchorCtr="0" compatLnSpc="1"/>
          <a:lstStyle/>
          <a:p>
            <a:endParaRPr lang="zh-CN" altLang="en-US"/>
          </a:p>
        </p:txBody>
      </p:sp>
      <p:sp>
        <p:nvSpPr>
          <p:cNvPr id="4" name="矩形 3"/>
          <p:cNvSpPr/>
          <p:nvPr userDrawn="1"/>
        </p:nvSpPr>
        <p:spPr>
          <a:xfrm>
            <a:off x="0" y="0"/>
            <a:ext cx="12192000" cy="6858000"/>
          </a:xfrm>
          <a:prstGeom prst="rect">
            <a:avLst/>
          </a:prstGeom>
          <a:solidFill>
            <a:srgbClr val="F4F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0"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tags" Target="../tags/tag10.xml"/><Relationship Id="rId1" Type="http://schemas.openxmlformats.org/officeDocument/2006/relationships/image" Target="../media/image17.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5" Type="http://schemas.openxmlformats.org/officeDocument/2006/relationships/slideLayout" Target="../slideLayouts/slideLayout4.xml"/><Relationship Id="rId34" Type="http://schemas.openxmlformats.org/officeDocument/2006/relationships/tags" Target="../tags/tag44.xml"/><Relationship Id="rId33" Type="http://schemas.openxmlformats.org/officeDocument/2006/relationships/tags" Target="../tags/tag43.xml"/><Relationship Id="rId32" Type="http://schemas.openxmlformats.org/officeDocument/2006/relationships/tags" Target="../tags/tag42.xml"/><Relationship Id="rId31" Type="http://schemas.openxmlformats.org/officeDocument/2006/relationships/tags" Target="../tags/tag41.xml"/><Relationship Id="rId30" Type="http://schemas.openxmlformats.org/officeDocument/2006/relationships/tags" Target="../tags/tag40.xml"/><Relationship Id="rId3" Type="http://schemas.openxmlformats.org/officeDocument/2006/relationships/tags" Target="../tags/tag13.xml"/><Relationship Id="rId29" Type="http://schemas.openxmlformats.org/officeDocument/2006/relationships/tags" Target="../tags/tag39.xml"/><Relationship Id="rId28" Type="http://schemas.openxmlformats.org/officeDocument/2006/relationships/tags" Target="../tags/tag38.xml"/><Relationship Id="rId27" Type="http://schemas.openxmlformats.org/officeDocument/2006/relationships/tags" Target="../tags/tag37.xml"/><Relationship Id="rId26" Type="http://schemas.openxmlformats.org/officeDocument/2006/relationships/tags" Target="../tags/tag36.xml"/><Relationship Id="rId25" Type="http://schemas.openxmlformats.org/officeDocument/2006/relationships/tags" Target="../tags/tag35.xml"/><Relationship Id="rId24" Type="http://schemas.openxmlformats.org/officeDocument/2006/relationships/tags" Target="../tags/tag34.xml"/><Relationship Id="rId23" Type="http://schemas.openxmlformats.org/officeDocument/2006/relationships/tags" Target="../tags/tag33.xml"/><Relationship Id="rId22" Type="http://schemas.openxmlformats.org/officeDocument/2006/relationships/tags" Target="../tags/tag32.xml"/><Relationship Id="rId21" Type="http://schemas.openxmlformats.org/officeDocument/2006/relationships/tags" Target="../tags/tag31.xml"/><Relationship Id="rId20" Type="http://schemas.openxmlformats.org/officeDocument/2006/relationships/tags" Target="../tags/tag30.xml"/><Relationship Id="rId2" Type="http://schemas.openxmlformats.org/officeDocument/2006/relationships/tags" Target="../tags/tag12.xml"/><Relationship Id="rId19" Type="http://schemas.openxmlformats.org/officeDocument/2006/relationships/tags" Target="../tags/tag29.xml"/><Relationship Id="rId18" Type="http://schemas.openxmlformats.org/officeDocument/2006/relationships/tags" Target="../tags/tag28.xml"/><Relationship Id="rId17" Type="http://schemas.openxmlformats.org/officeDocument/2006/relationships/tags" Target="../tags/tag27.xml"/><Relationship Id="rId16" Type="http://schemas.openxmlformats.org/officeDocument/2006/relationships/tags" Target="../tags/tag26.xml"/><Relationship Id="rId15" Type="http://schemas.openxmlformats.org/officeDocument/2006/relationships/tags" Target="../tags/tag25.xml"/><Relationship Id="rId14" Type="http://schemas.openxmlformats.org/officeDocument/2006/relationships/tags" Target="../tags/tag24.xml"/><Relationship Id="rId13" Type="http://schemas.openxmlformats.org/officeDocument/2006/relationships/tags" Target="../tags/tag23.xml"/><Relationship Id="rId12" Type="http://schemas.openxmlformats.org/officeDocument/2006/relationships/tags" Target="../tags/tag22.xml"/><Relationship Id="rId11" Type="http://schemas.openxmlformats.org/officeDocument/2006/relationships/tags" Target="../tags/tag21.xml"/><Relationship Id="rId10" Type="http://schemas.openxmlformats.org/officeDocument/2006/relationships/tags" Target="../tags/tag20.xml"/><Relationship Id="rId1" Type="http://schemas.openxmlformats.org/officeDocument/2006/relationships/tags" Target="../tags/tag11.xml"/></Relationships>
</file>

<file path=ppt/slides/_rels/slide20.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2" Type="http://schemas.openxmlformats.org/officeDocument/2006/relationships/slideLayout" Target="../slideLayouts/slideLayout4.xml"/><Relationship Id="rId21" Type="http://schemas.openxmlformats.org/officeDocument/2006/relationships/tags" Target="../tags/tag65.xml"/><Relationship Id="rId20" Type="http://schemas.openxmlformats.org/officeDocument/2006/relationships/tags" Target="../tags/tag64.xml"/><Relationship Id="rId2" Type="http://schemas.openxmlformats.org/officeDocument/2006/relationships/tags" Target="../tags/tag46.xml"/><Relationship Id="rId19" Type="http://schemas.openxmlformats.org/officeDocument/2006/relationships/tags" Target="../tags/tag63.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tags" Target="../tags/tag45.xml"/></Relationships>
</file>

<file path=ppt/slides/_rels/slide21.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0" Type="http://schemas.openxmlformats.org/officeDocument/2006/relationships/slideLayout" Target="../slideLayouts/slideLayout4.xml"/><Relationship Id="rId1"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tags" Target="../tags/tag74.xml"/><Relationship Id="rId1"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4.png"/></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image" Target="../media/image25.png"/><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s>
</file>

<file path=ppt/slides/_rels/slide26.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image" Target="../media/image21.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225675" y="2341245"/>
            <a:ext cx="8397875" cy="829945"/>
          </a:xfrm>
          <a:prstGeom prst="rect">
            <a:avLst/>
          </a:prstGeom>
          <a:noFill/>
        </p:spPr>
        <p:txBody>
          <a:bodyPr wrap="square" rtlCol="0">
            <a:spAutoFit/>
          </a:bodyPr>
          <a:lstStyle/>
          <a:p>
            <a:pPr algn="just"/>
            <a:r>
              <a:rPr lang="en-US" altLang="zh-CN" sz="4800" spc="300" dirty="0">
                <a:solidFill>
                  <a:schemeClr val="bg1"/>
                </a:solidFill>
                <a:latin typeface="+mj-lt"/>
              </a:rPr>
              <a:t>Large language models</a:t>
            </a:r>
            <a:endParaRPr lang="en-US" altLang="zh-CN" sz="4800" spc="300" dirty="0">
              <a:solidFill>
                <a:schemeClr val="bg1"/>
              </a:solidFill>
              <a:latin typeface="+mj-lt"/>
            </a:endParaRPr>
          </a:p>
        </p:txBody>
      </p:sp>
      <p:sp>
        <p:nvSpPr>
          <p:cNvPr id="13" name="文本框 12"/>
          <p:cNvSpPr txBox="1"/>
          <p:nvPr/>
        </p:nvSpPr>
        <p:spPr>
          <a:xfrm>
            <a:off x="3723399" y="3652183"/>
            <a:ext cx="4787265" cy="460375"/>
          </a:xfrm>
          <a:prstGeom prst="rect">
            <a:avLst/>
          </a:prstGeom>
          <a:noFill/>
        </p:spPr>
        <p:txBody>
          <a:bodyPr wrap="none" rtlCol="0">
            <a:spAutoFit/>
          </a:bodyPr>
          <a:lstStyle/>
          <a:p>
            <a:pPr algn="ctr"/>
            <a:r>
              <a:rPr lang="en-US" altLang="zh-CN" sz="2400" spc="300" dirty="0">
                <a:solidFill>
                  <a:schemeClr val="bg1"/>
                </a:solidFill>
                <a:latin typeface="+mj-lt"/>
              </a:rPr>
              <a:t>SHENZHEN UNIVERSITY</a:t>
            </a:r>
            <a:endParaRPr lang="en-US" altLang="zh-CN" sz="2400" spc="300" dirty="0">
              <a:solidFill>
                <a:schemeClr val="bg1"/>
              </a:solidFill>
              <a:latin typeface="+mj-lt"/>
            </a:endParaRPr>
          </a:p>
        </p:txBody>
      </p:sp>
      <p:cxnSp>
        <p:nvCxnSpPr>
          <p:cNvPr id="14" name="直接连接符 13"/>
          <p:cNvCxnSpPr/>
          <p:nvPr/>
        </p:nvCxnSpPr>
        <p:spPr>
          <a:xfrm>
            <a:off x="3103902" y="3503699"/>
            <a:ext cx="602622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103902" y="4262333"/>
            <a:ext cx="602622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6096000" y="4669790"/>
            <a:ext cx="1260475" cy="1334135"/>
          </a:xfrm>
          <a:prstGeom prst="rect">
            <a:avLst/>
          </a:prstGeom>
          <a:noFill/>
        </p:spPr>
        <p:txBody>
          <a:bodyPr wrap="none" rtlCol="0">
            <a:noAutofit/>
          </a:bodyPr>
          <a:lstStyle/>
          <a:p>
            <a:pPr marL="0" lvl="0" indent="0" algn="l"/>
            <a:r>
              <a:rPr lang="zh-CN" altLang="en-US" sz="2400" spc="150" dirty="0">
                <a:solidFill>
                  <a:schemeClr val="bg1"/>
                </a:solidFill>
                <a:latin typeface="+mj-lt"/>
              </a:rPr>
              <a:t>李四</a:t>
            </a:r>
            <a:endParaRPr lang="zh-CN" altLang="en-US" sz="2400" spc="150" dirty="0">
              <a:solidFill>
                <a:schemeClr val="bg1"/>
              </a:solidFill>
              <a:latin typeface="+mj-lt"/>
            </a:endParaRPr>
          </a:p>
          <a:p>
            <a:pPr marL="0" lvl="0" indent="0" algn="l"/>
            <a:r>
              <a:rPr lang="zh-CN" altLang="en-US" sz="2400" spc="150" dirty="0">
                <a:solidFill>
                  <a:schemeClr val="bg1"/>
                </a:solidFill>
                <a:latin typeface="+mj-lt"/>
              </a:rPr>
              <a:t>张三</a:t>
            </a:r>
            <a:endParaRPr lang="zh-CN" altLang="en-US" sz="2400" spc="150" dirty="0">
              <a:solidFill>
                <a:schemeClr val="bg1"/>
              </a:solidFill>
              <a:latin typeface="+mj-lt"/>
            </a:endParaRPr>
          </a:p>
          <a:p>
            <a:pPr marL="0" lvl="0" indent="0" algn="l"/>
            <a:r>
              <a:rPr lang="zh-CN" altLang="en-US" sz="2400" spc="150" dirty="0">
                <a:solidFill>
                  <a:schemeClr val="bg1"/>
                </a:solidFill>
                <a:latin typeface="+mj-lt"/>
              </a:rPr>
              <a:t>王五</a:t>
            </a:r>
            <a:endParaRPr lang="zh-CN" altLang="en-US" sz="2400" spc="150" dirty="0">
              <a:solidFill>
                <a:schemeClr val="bg1"/>
              </a:solidFill>
              <a:latin typeface="+mj-lt"/>
            </a:endParaRPr>
          </a:p>
        </p:txBody>
      </p:sp>
      <p:sp>
        <p:nvSpPr>
          <p:cNvPr id="51" name="矩形 66"/>
          <p:cNvSpPr/>
          <p:nvPr/>
        </p:nvSpPr>
        <p:spPr>
          <a:xfrm>
            <a:off x="5000022" y="992019"/>
            <a:ext cx="2192260" cy="657225"/>
          </a:xfrm>
          <a:prstGeom prst="rect">
            <a:avLst/>
          </a:prstGeom>
          <a:blipFill rotWithShape="1">
            <a:blip r:embed="rId1">
              <a:alphaModFix amt="48000"/>
              <a:lum/>
            </a:blip>
            <a:stretch>
              <a:fillRect/>
            </a:stretch>
          </a:blipFill>
          <a:ln w="12700" cap="flat" cmpd="sng">
            <a:noFill/>
            <a:prstDash val="solid"/>
            <a:miter lim="800000"/>
          </a:ln>
          <a:effectLst>
            <a:outerShdw blurRad="50800" dist="50800" dir="5400000" algn="ctr">
              <a:srgbClr val="000000">
                <a:alpha val="45000"/>
              </a:srgbClr>
            </a:outerShdw>
          </a:effectLst>
        </p:spPr>
        <p:txBody>
          <a:bodyPr anchor="ctr"/>
          <a:p>
            <a:pPr marL="0" lvl="0" indent="0" algn="ctr" defTabSz="914400">
              <a:lnSpc>
                <a:spcPct val="100000"/>
              </a:lnSpc>
              <a:spcBef>
                <a:spcPts val="0"/>
              </a:spcBef>
              <a:spcAft>
                <a:spcPts val="0"/>
              </a:spcAft>
              <a:buClrTx/>
              <a:buSzTx/>
              <a:buFontTx/>
              <a:buNone/>
            </a:pPr>
            <a:endParaRPr lang="zh-CN" sz="1800" b="0" i="0" u="none" strike="noStrike" kern="0" spc="0" baseline="0">
              <a:ln>
                <a:noFill/>
              </a:ln>
              <a:solidFill>
                <a:srgbClr val="FFFFFF"/>
              </a:solidFill>
              <a:effectLst/>
              <a:latin typeface="等线" panose="02010600030101010101" charset="-122"/>
              <a:ea typeface="等线" panose="02010600030101010101" charset="-122"/>
            </a:endParaRPr>
          </a:p>
        </p:txBody>
      </p:sp>
      <p:sp>
        <p:nvSpPr>
          <p:cNvPr id="3" name="文本框 2"/>
          <p:cNvSpPr txBox="1"/>
          <p:nvPr/>
        </p:nvSpPr>
        <p:spPr>
          <a:xfrm>
            <a:off x="4766310" y="5010150"/>
            <a:ext cx="1329690" cy="460375"/>
          </a:xfrm>
          <a:prstGeom prst="rect">
            <a:avLst/>
          </a:prstGeom>
          <a:noFill/>
        </p:spPr>
        <p:txBody>
          <a:bodyPr wrap="square" rtlCol="0" anchor="t">
            <a:spAutoFit/>
          </a:bodyPr>
          <a:p>
            <a:r>
              <a:rPr lang="zh-CN" altLang="en-US" sz="2400" spc="150" dirty="0">
                <a:solidFill>
                  <a:schemeClr val="bg1"/>
                </a:solidFill>
                <a:latin typeface="+mj-lt"/>
                <a:sym typeface="+mn-ea"/>
              </a:rPr>
              <a:t>演讲人：</a:t>
            </a:r>
            <a:endParaRPr lang="zh-CN" altLang="en-US" sz="2400" spc="150" dirty="0">
              <a:solidFill>
                <a:schemeClr val="bg1"/>
              </a:solidFill>
              <a:latin typeface="+mj-lt"/>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3678477" y="729111"/>
            <a:ext cx="4319905" cy="829945"/>
          </a:xfrm>
          <a:prstGeom prst="rect">
            <a:avLst/>
          </a:prstGeom>
          <a:noFill/>
        </p:spPr>
        <p:txBody>
          <a:bodyPr wrap="none" rtlCol="0">
            <a:spAutoFit/>
          </a:bodyPr>
          <a:lstStyle>
            <a:defPPr>
              <a:defRPr lang="zh-CN"/>
            </a:defPPr>
            <a:lvl1pPr algn="ctr">
              <a:defRPr sz="6600">
                <a:gradFill>
                  <a:gsLst>
                    <a:gs pos="100000">
                      <a:srgbClr val="E6BE97"/>
                    </a:gs>
                    <a:gs pos="37000">
                      <a:srgbClr val="C8916C"/>
                    </a:gs>
                  </a:gsLst>
                  <a:lin ang="0" scaled="0"/>
                </a:gradFill>
                <a:effectLst/>
                <a:latin typeface="思源宋体 CN" panose="02020700000000000000" pitchFamily="18" charset="-122"/>
                <a:ea typeface="思源宋体 CN" panose="02020700000000000000" pitchFamily="18" charset="-122"/>
              </a:defRPr>
            </a:lvl1pPr>
          </a:lstStyle>
          <a:p>
            <a:pPr algn="ctr"/>
            <a:r>
              <a:rPr lang="en-US" altLang="zh-CN" sz="4800" spc="600" dirty="0">
                <a:solidFill>
                  <a:schemeClr val="accent1"/>
                </a:solidFill>
                <a:latin typeface="Montserrat" panose="00000500000000000000" pitchFamily="2" charset="0"/>
                <a:sym typeface="+mn-ea"/>
              </a:rPr>
              <a:t>CONTENTS</a:t>
            </a:r>
            <a:endParaRPr lang="zh-CN" altLang="en-US" sz="4800" dirty="0">
              <a:solidFill>
                <a:schemeClr val="accent1"/>
              </a:solidFill>
              <a:latin typeface="+mn-lt"/>
              <a:ea typeface="+mj-ea"/>
            </a:endParaRPr>
          </a:p>
        </p:txBody>
      </p:sp>
      <p:sp>
        <p:nvSpPr>
          <p:cNvPr id="13" name="文本框 12"/>
          <p:cNvSpPr txBox="1"/>
          <p:nvPr>
            <p:custDataLst>
              <p:tags r:id="rId1"/>
            </p:custDataLst>
          </p:nvPr>
        </p:nvSpPr>
        <p:spPr>
          <a:xfrm>
            <a:off x="2318385" y="2296160"/>
            <a:ext cx="3921125" cy="1276350"/>
          </a:xfrm>
          <a:prstGeom prst="rect">
            <a:avLst/>
          </a:prstGeom>
          <a:noFill/>
        </p:spPr>
        <p:txBody>
          <a:bodyPr wrap="square" rtlCol="0" anchor="ctr">
            <a:noAutofit/>
          </a:bodyPr>
          <a:lstStyle>
            <a:defPPr>
              <a:defRPr lang="zh-CN"/>
            </a:defPPr>
            <a:lvl1pPr algn="ctr">
              <a:defRPr sz="2800" spc="600">
                <a:solidFill>
                  <a:schemeClr val="accent1"/>
                </a:solidFill>
                <a:latin typeface="+mj-ea"/>
                <a:ea typeface="+mj-ea"/>
              </a:defRPr>
            </a:lvl1pPr>
          </a:lstStyle>
          <a:p>
            <a:pPr algn="l"/>
            <a:r>
              <a:rPr lang="en-US" altLang="zh-CN" spc="150" dirty="0">
                <a:effectLst/>
                <a:latin typeface="Times New Roman" panose="02020603050405020304" charset="0"/>
                <a:cs typeface="Times New Roman" panose="02020603050405020304" charset="0"/>
                <a:sym typeface="+mn-ea"/>
              </a:rPr>
              <a:t>The Past and Present of Language Models</a:t>
            </a:r>
            <a:endParaRPr lang="zh-CN" altLang="en-US" spc="150" dirty="0">
              <a:solidFill>
                <a:srgbClr val="505CCC"/>
              </a:solidFill>
              <a:latin typeface="Times New Roman" panose="02020603050405020304" charset="0"/>
              <a:cs typeface="Times New Roman" panose="02020603050405020304" charset="0"/>
            </a:endParaRPr>
          </a:p>
        </p:txBody>
      </p:sp>
      <p:sp>
        <p:nvSpPr>
          <p:cNvPr id="14" name="文本框 13"/>
          <p:cNvSpPr txBox="1"/>
          <p:nvPr>
            <p:custDataLst>
              <p:tags r:id="rId2"/>
            </p:custDataLst>
          </p:nvPr>
        </p:nvSpPr>
        <p:spPr>
          <a:xfrm>
            <a:off x="7388860" y="2043430"/>
            <a:ext cx="3999865" cy="1529080"/>
          </a:xfrm>
          <a:prstGeom prst="rect">
            <a:avLst/>
          </a:prstGeom>
          <a:noFill/>
        </p:spPr>
        <p:txBody>
          <a:bodyPr wrap="square" rtlCol="0" anchor="ctr">
            <a:noAutofit/>
          </a:bodyPr>
          <a:lstStyle>
            <a:defPPr>
              <a:defRPr lang="zh-CN"/>
            </a:defPPr>
            <a:lvl1pPr algn="ctr">
              <a:defRPr sz="2800" spc="600">
                <a:solidFill>
                  <a:schemeClr val="accent1"/>
                </a:solidFill>
                <a:latin typeface="+mj-ea"/>
                <a:ea typeface="+mj-ea"/>
              </a:defRPr>
            </a:lvl1pPr>
          </a:lstStyle>
          <a:p>
            <a:pPr algn="l"/>
            <a:r>
              <a:rPr lang="en-US" altLang="zh-CN" spc="150" dirty="0">
                <a:effectLst/>
                <a:latin typeface="Times New Roman" panose="02020603050405020304" charset="0"/>
                <a:cs typeface="Times New Roman" panose="02020603050405020304" charset="0"/>
                <a:sym typeface="+mn-ea"/>
              </a:rPr>
              <a:t>Fine-tuning Techniques for Large Language Models</a:t>
            </a:r>
            <a:endParaRPr lang="en-US" altLang="zh-CN" spc="150" dirty="0">
              <a:effectLst/>
              <a:latin typeface="Times New Roman" panose="02020603050405020304" charset="0"/>
              <a:cs typeface="Times New Roman" panose="02020603050405020304" charset="0"/>
            </a:endParaRPr>
          </a:p>
        </p:txBody>
      </p:sp>
      <p:sp>
        <p:nvSpPr>
          <p:cNvPr id="15" name="文本框 14"/>
          <p:cNvSpPr txBox="1"/>
          <p:nvPr>
            <p:custDataLst>
              <p:tags r:id="rId3"/>
            </p:custDataLst>
          </p:nvPr>
        </p:nvSpPr>
        <p:spPr>
          <a:xfrm>
            <a:off x="3893185" y="4206558"/>
            <a:ext cx="5070475" cy="1383665"/>
          </a:xfrm>
          <a:prstGeom prst="rect">
            <a:avLst/>
          </a:prstGeom>
          <a:noFill/>
        </p:spPr>
        <p:txBody>
          <a:bodyPr wrap="square" rtlCol="0" anchor="ctr">
            <a:spAutoFit/>
          </a:bodyPr>
          <a:lstStyle>
            <a:defPPr>
              <a:defRPr lang="zh-CN"/>
            </a:defPPr>
            <a:lvl1pPr algn="ctr">
              <a:defRPr sz="2800" spc="600">
                <a:solidFill>
                  <a:schemeClr val="accent1"/>
                </a:solidFill>
                <a:latin typeface="+mj-ea"/>
                <a:ea typeface="+mj-ea"/>
              </a:defRPr>
            </a:lvl1pPr>
          </a:lstStyle>
          <a:p>
            <a:pPr algn="just"/>
            <a:r>
              <a:rPr lang="en-US" altLang="zh-CN" spc="150" dirty="0">
                <a:effectLst/>
                <a:latin typeface="Times New Roman" panose="02020603050405020304" charset="0"/>
                <a:cs typeface="Times New Roman" panose="02020603050405020304" charset="0"/>
                <a:sym typeface="+mn-ea"/>
              </a:rPr>
              <a:t>The Impact of Large Language Models on Science and Technology Development</a:t>
            </a:r>
            <a:endParaRPr lang="en-US" altLang="zh-CN" spc="150" dirty="0">
              <a:effectLst/>
              <a:latin typeface="Times New Roman" panose="02020603050405020304" charset="0"/>
              <a:cs typeface="Times New Roman" panose="02020603050405020304" charset="0"/>
              <a:sym typeface="+mn-ea"/>
            </a:endParaRPr>
          </a:p>
        </p:txBody>
      </p:sp>
      <p:sp>
        <p:nvSpPr>
          <p:cNvPr id="16" name="任意多边形 116"/>
          <p:cNvSpPr/>
          <p:nvPr>
            <p:custDataLst>
              <p:tags r:id="rId4"/>
            </p:custDataLst>
          </p:nvPr>
        </p:nvSpPr>
        <p:spPr>
          <a:xfrm>
            <a:off x="1469980" y="2641248"/>
            <a:ext cx="634036" cy="735481"/>
          </a:xfrm>
          <a:custGeom>
            <a:avLst/>
            <a:gdLst>
              <a:gd name="connsiteX0" fmla="*/ 317019 w 634036"/>
              <a:gd name="connsiteY0" fmla="*/ 0 h 735481"/>
              <a:gd name="connsiteX1" fmla="*/ 634036 w 634036"/>
              <a:gd name="connsiteY1" fmla="*/ 180548 h 735481"/>
              <a:gd name="connsiteX2" fmla="*/ 634036 w 634036"/>
              <a:gd name="connsiteY2" fmla="*/ 554933 h 735481"/>
              <a:gd name="connsiteX3" fmla="*/ 317019 w 634036"/>
              <a:gd name="connsiteY3" fmla="*/ 735481 h 735481"/>
              <a:gd name="connsiteX4" fmla="*/ 0 w 634036"/>
              <a:gd name="connsiteY4" fmla="*/ 554933 h 735481"/>
              <a:gd name="connsiteX5" fmla="*/ 0 w 634036"/>
              <a:gd name="connsiteY5" fmla="*/ 180548 h 735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4036" h="735481">
                <a:moveTo>
                  <a:pt x="317019" y="0"/>
                </a:moveTo>
                <a:lnTo>
                  <a:pt x="634036" y="180548"/>
                </a:lnTo>
                <a:lnTo>
                  <a:pt x="634036" y="554933"/>
                </a:lnTo>
                <a:lnTo>
                  <a:pt x="317019" y="735481"/>
                </a:lnTo>
                <a:lnTo>
                  <a:pt x="0" y="554933"/>
                </a:lnTo>
                <a:lnTo>
                  <a:pt x="0" y="180548"/>
                </a:lnTo>
                <a:close/>
              </a:path>
            </a:pathLst>
          </a:custGeom>
          <a:gradFill>
            <a:gsLst>
              <a:gs pos="7000">
                <a:srgbClr val="4C53C8"/>
              </a:gs>
              <a:gs pos="100000">
                <a:srgbClr val="7198E7"/>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mj-lt"/>
              </a:rPr>
              <a:t>01</a:t>
            </a:r>
            <a:endParaRPr lang="zh-CN" altLang="en-US" sz="2400" dirty="0">
              <a:latin typeface="+mj-lt"/>
            </a:endParaRPr>
          </a:p>
        </p:txBody>
      </p:sp>
      <p:sp>
        <p:nvSpPr>
          <p:cNvPr id="17" name="任意多边形 117"/>
          <p:cNvSpPr/>
          <p:nvPr>
            <p:custDataLst>
              <p:tags r:id="rId5"/>
            </p:custDataLst>
          </p:nvPr>
        </p:nvSpPr>
        <p:spPr>
          <a:xfrm>
            <a:off x="6540455" y="2632948"/>
            <a:ext cx="634036" cy="735481"/>
          </a:xfrm>
          <a:custGeom>
            <a:avLst/>
            <a:gdLst>
              <a:gd name="connsiteX0" fmla="*/ 317019 w 634036"/>
              <a:gd name="connsiteY0" fmla="*/ 0 h 735481"/>
              <a:gd name="connsiteX1" fmla="*/ 634036 w 634036"/>
              <a:gd name="connsiteY1" fmla="*/ 180548 h 735481"/>
              <a:gd name="connsiteX2" fmla="*/ 634036 w 634036"/>
              <a:gd name="connsiteY2" fmla="*/ 554933 h 735481"/>
              <a:gd name="connsiteX3" fmla="*/ 317019 w 634036"/>
              <a:gd name="connsiteY3" fmla="*/ 735481 h 735481"/>
              <a:gd name="connsiteX4" fmla="*/ 0 w 634036"/>
              <a:gd name="connsiteY4" fmla="*/ 554933 h 735481"/>
              <a:gd name="connsiteX5" fmla="*/ 0 w 634036"/>
              <a:gd name="connsiteY5" fmla="*/ 180548 h 735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4036" h="735481">
                <a:moveTo>
                  <a:pt x="317019" y="0"/>
                </a:moveTo>
                <a:lnTo>
                  <a:pt x="634036" y="180548"/>
                </a:lnTo>
                <a:lnTo>
                  <a:pt x="634036" y="554933"/>
                </a:lnTo>
                <a:lnTo>
                  <a:pt x="317019" y="735481"/>
                </a:lnTo>
                <a:lnTo>
                  <a:pt x="0" y="554933"/>
                </a:lnTo>
                <a:lnTo>
                  <a:pt x="0" y="180548"/>
                </a:lnTo>
                <a:close/>
              </a:path>
            </a:pathLst>
          </a:custGeom>
          <a:gradFill>
            <a:gsLst>
              <a:gs pos="7000">
                <a:srgbClr val="4C53C8"/>
              </a:gs>
              <a:gs pos="100000">
                <a:srgbClr val="7198E7"/>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mj-lt"/>
              </a:rPr>
              <a:t>02</a:t>
            </a:r>
            <a:endParaRPr lang="zh-CN" altLang="en-US" sz="2400" dirty="0">
              <a:latin typeface="+mj-lt"/>
            </a:endParaRPr>
          </a:p>
        </p:txBody>
      </p:sp>
      <p:sp>
        <p:nvSpPr>
          <p:cNvPr id="18" name="任意多边形 118"/>
          <p:cNvSpPr/>
          <p:nvPr>
            <p:custDataLst>
              <p:tags r:id="rId6"/>
            </p:custDataLst>
          </p:nvPr>
        </p:nvSpPr>
        <p:spPr>
          <a:xfrm>
            <a:off x="3044780" y="4531303"/>
            <a:ext cx="634036" cy="735481"/>
          </a:xfrm>
          <a:custGeom>
            <a:avLst/>
            <a:gdLst>
              <a:gd name="connsiteX0" fmla="*/ 317019 w 634036"/>
              <a:gd name="connsiteY0" fmla="*/ 0 h 735481"/>
              <a:gd name="connsiteX1" fmla="*/ 634036 w 634036"/>
              <a:gd name="connsiteY1" fmla="*/ 180548 h 735481"/>
              <a:gd name="connsiteX2" fmla="*/ 634036 w 634036"/>
              <a:gd name="connsiteY2" fmla="*/ 554933 h 735481"/>
              <a:gd name="connsiteX3" fmla="*/ 317019 w 634036"/>
              <a:gd name="connsiteY3" fmla="*/ 735481 h 735481"/>
              <a:gd name="connsiteX4" fmla="*/ 0 w 634036"/>
              <a:gd name="connsiteY4" fmla="*/ 554933 h 735481"/>
              <a:gd name="connsiteX5" fmla="*/ 0 w 634036"/>
              <a:gd name="connsiteY5" fmla="*/ 180548 h 735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4036" h="735481">
                <a:moveTo>
                  <a:pt x="317019" y="0"/>
                </a:moveTo>
                <a:lnTo>
                  <a:pt x="634036" y="180548"/>
                </a:lnTo>
                <a:lnTo>
                  <a:pt x="634036" y="554933"/>
                </a:lnTo>
                <a:lnTo>
                  <a:pt x="317019" y="735481"/>
                </a:lnTo>
                <a:lnTo>
                  <a:pt x="0" y="554933"/>
                </a:lnTo>
                <a:lnTo>
                  <a:pt x="0" y="180548"/>
                </a:lnTo>
                <a:close/>
              </a:path>
            </a:pathLst>
          </a:custGeom>
          <a:gradFill>
            <a:gsLst>
              <a:gs pos="7000">
                <a:srgbClr val="4C53C8"/>
              </a:gs>
              <a:gs pos="100000">
                <a:srgbClr val="7198E7"/>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mj-lt"/>
              </a:rPr>
              <a:t>03</a:t>
            </a:r>
            <a:endParaRPr lang="zh-CN" altLang="en-US" sz="2400" dirty="0">
              <a:latin typeface="+mj-lt"/>
            </a:endParaRPr>
          </a:p>
        </p:txBody>
      </p:sp>
      <p:cxnSp>
        <p:nvCxnSpPr>
          <p:cNvPr id="22" name="直接连接符 21"/>
          <p:cNvCxnSpPr/>
          <p:nvPr>
            <p:custDataLst>
              <p:tags r:id="rId7"/>
            </p:custDataLst>
          </p:nvPr>
        </p:nvCxnSpPr>
        <p:spPr>
          <a:xfrm>
            <a:off x="2404491" y="3572494"/>
            <a:ext cx="3440049" cy="0"/>
          </a:xfrm>
          <a:prstGeom prst="line">
            <a:avLst/>
          </a:prstGeom>
          <a:ln w="12700">
            <a:solidFill>
              <a:srgbClr val="D9DFEF"/>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custDataLst>
              <p:tags r:id="rId8"/>
            </p:custDataLst>
          </p:nvPr>
        </p:nvCxnSpPr>
        <p:spPr>
          <a:xfrm>
            <a:off x="7474331" y="3572648"/>
            <a:ext cx="3440049" cy="0"/>
          </a:xfrm>
          <a:prstGeom prst="line">
            <a:avLst/>
          </a:prstGeom>
          <a:ln w="12700">
            <a:solidFill>
              <a:srgbClr val="D9DFEF"/>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custDataLst>
              <p:tags r:id="rId9"/>
            </p:custDataLst>
          </p:nvPr>
        </p:nvCxnSpPr>
        <p:spPr>
          <a:xfrm flipV="1">
            <a:off x="3979291" y="5748081"/>
            <a:ext cx="4785360" cy="9525"/>
          </a:xfrm>
          <a:prstGeom prst="line">
            <a:avLst/>
          </a:prstGeom>
          <a:ln w="12700">
            <a:solidFill>
              <a:srgbClr val="D9DFEF"/>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191385" y="3133725"/>
            <a:ext cx="7809230" cy="1076325"/>
          </a:xfrm>
          <a:prstGeom prst="rect">
            <a:avLst/>
          </a:prstGeom>
          <a:noFill/>
        </p:spPr>
        <p:txBody>
          <a:bodyPr wrap="square" rtlCol="0">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pPr algn="ctr"/>
            <a:r>
              <a:rPr lang="en-US" altLang="zh-CN" sz="3200" spc="150" dirty="0">
                <a:effectLst/>
                <a:latin typeface="+mn-lt"/>
              </a:rPr>
              <a:t>The Past and Present of Language Models</a:t>
            </a:r>
            <a:endParaRPr lang="zh-CN" altLang="en-US" sz="3200" spc="150" dirty="0">
              <a:effectLst/>
              <a:latin typeface="+mn-lt"/>
            </a:endParaRPr>
          </a:p>
        </p:txBody>
      </p:sp>
      <p:sp>
        <p:nvSpPr>
          <p:cNvPr id="14" name="任意多边形 103"/>
          <p:cNvSpPr/>
          <p:nvPr/>
        </p:nvSpPr>
        <p:spPr>
          <a:xfrm>
            <a:off x="5649327" y="1446272"/>
            <a:ext cx="900109" cy="1044125"/>
          </a:xfrm>
          <a:custGeom>
            <a:avLst/>
            <a:gdLst>
              <a:gd name="connsiteX0" fmla="*/ 317019 w 634036"/>
              <a:gd name="connsiteY0" fmla="*/ 0 h 735481"/>
              <a:gd name="connsiteX1" fmla="*/ 634036 w 634036"/>
              <a:gd name="connsiteY1" fmla="*/ 180548 h 735481"/>
              <a:gd name="connsiteX2" fmla="*/ 634036 w 634036"/>
              <a:gd name="connsiteY2" fmla="*/ 554933 h 735481"/>
              <a:gd name="connsiteX3" fmla="*/ 317019 w 634036"/>
              <a:gd name="connsiteY3" fmla="*/ 735481 h 735481"/>
              <a:gd name="connsiteX4" fmla="*/ 0 w 634036"/>
              <a:gd name="connsiteY4" fmla="*/ 554933 h 735481"/>
              <a:gd name="connsiteX5" fmla="*/ 0 w 634036"/>
              <a:gd name="connsiteY5" fmla="*/ 180548 h 735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4036" h="735481">
                <a:moveTo>
                  <a:pt x="317019" y="0"/>
                </a:moveTo>
                <a:lnTo>
                  <a:pt x="634036" y="180548"/>
                </a:lnTo>
                <a:lnTo>
                  <a:pt x="634036" y="554933"/>
                </a:lnTo>
                <a:lnTo>
                  <a:pt x="317019" y="735481"/>
                </a:lnTo>
                <a:lnTo>
                  <a:pt x="0" y="554933"/>
                </a:lnTo>
                <a:lnTo>
                  <a:pt x="0" y="180548"/>
                </a:lnTo>
                <a:close/>
              </a:path>
            </a:pathLst>
          </a:custGeom>
          <a:gradFill>
            <a:gsLst>
              <a:gs pos="7000">
                <a:srgbClr val="4C53C8"/>
              </a:gs>
              <a:gs pos="100000">
                <a:srgbClr val="7198E7"/>
              </a:gs>
            </a:gsLst>
            <a:lin ang="18600000" scaled="0"/>
          </a:gradFill>
          <a:ln w="57150">
            <a:solidFill>
              <a:srgbClr val="F4F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bg1"/>
                </a:solidFill>
                <a:latin typeface="+mj-lt"/>
                <a:ea typeface="+mj-ea"/>
              </a:rPr>
              <a:t>01</a:t>
            </a:r>
            <a:endParaRPr lang="zh-CN" altLang="en-US" sz="3600" dirty="0">
              <a:solidFill>
                <a:schemeClr val="bg1"/>
              </a:solidFill>
              <a:latin typeface="+mj-lt"/>
              <a:ea typeface="+mj-ea"/>
            </a:endParaRPr>
          </a:p>
        </p:txBody>
      </p:sp>
      <p:cxnSp>
        <p:nvCxnSpPr>
          <p:cNvPr id="16" name="直接连接符 15"/>
          <p:cNvCxnSpPr/>
          <p:nvPr/>
        </p:nvCxnSpPr>
        <p:spPr>
          <a:xfrm>
            <a:off x="5927928" y="4792345"/>
            <a:ext cx="342906" cy="0"/>
          </a:xfrm>
          <a:prstGeom prst="line">
            <a:avLst/>
          </a:prstGeom>
          <a:ln w="28575">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图片 44"/>
          <p:cNvPicPr>
            <a:picLocks noChangeAspect="1"/>
          </p:cNvPicPr>
          <p:nvPr/>
        </p:nvPicPr>
        <p:blipFill>
          <a:blip r:embed="rId1">
            <a:clrChange>
              <a:clrFrom>
                <a:srgbClr val="FFFFFF"/>
              </a:clrFrom>
              <a:clrTo>
                <a:srgbClr val="FFFFFF">
                  <a:alpha val="0"/>
                </a:srgbClr>
              </a:clrTo>
            </a:clrChange>
          </a:blip>
          <a:stretch>
            <a:fillRect/>
          </a:stretch>
        </p:blipFill>
        <p:spPr>
          <a:xfrm>
            <a:off x="364137" y="5820213"/>
            <a:ext cx="11279400" cy="581025"/>
          </a:xfrm>
          <a:prstGeom prst="rect">
            <a:avLst/>
          </a:prstGeom>
        </p:spPr>
      </p:pic>
      <p:cxnSp>
        <p:nvCxnSpPr>
          <p:cNvPr id="46" name="直接连接符 45"/>
          <p:cNvCxnSpPr/>
          <p:nvPr/>
        </p:nvCxnSpPr>
        <p:spPr>
          <a:xfrm>
            <a:off x="3313849" y="1054634"/>
            <a:ext cx="0" cy="490220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5925537" y="1065033"/>
            <a:ext cx="51188" cy="4870451"/>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827311" y="5956835"/>
            <a:ext cx="1748031"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b="1" dirty="0">
                <a:solidFill>
                  <a:srgbClr val="FFFFFF"/>
                </a:solidFill>
                <a:effectLst>
                  <a:outerShdw blurRad="38100" dist="19050" dir="2700000" algn="tl" rotWithShape="0">
                    <a:srgbClr val="000000">
                      <a:alpha val="40000"/>
                    </a:srgbClr>
                  </a:outerShdw>
                </a:effectLst>
                <a:latin typeface="微软雅黑" panose="020B0503020204020204" charset="-122"/>
                <a:ea typeface="微软雅黑" panose="020B0503020204020204" charset="-122"/>
                <a:cs typeface="Times New Roman" panose="02020603050405020304" charset="0"/>
                <a:sym typeface="+mn-ea"/>
              </a:rPr>
              <a:t>1970s~1990s</a:t>
            </a:r>
            <a:endParaRPr kumimoji="0" lang="zh-CN" altLang="en-US" sz="1400" b="1"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49" name="文本框 48"/>
          <p:cNvSpPr txBox="1"/>
          <p:nvPr/>
        </p:nvSpPr>
        <p:spPr>
          <a:xfrm>
            <a:off x="3647961" y="5935484"/>
            <a:ext cx="1537227"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FFFFFF"/>
                </a:solidFill>
                <a:effectLst>
                  <a:outerShdw blurRad="38100" dist="19050" dir="2700000" algn="tl" rotWithShape="0">
                    <a:srgbClr val="000000">
                      <a:alpha val="40000"/>
                    </a:srgbClr>
                  </a:outerShdw>
                </a:effectLst>
                <a:uLnTx/>
                <a:uFillTx/>
                <a:latin typeface="微软雅黑" panose="020B0503020204020204" charset="-122"/>
                <a:ea typeface="微软雅黑" panose="020B0503020204020204" charset="-122"/>
                <a:cs typeface="Times New Roman" panose="02020603050405020304" charset="0"/>
                <a:sym typeface="+mn-ea"/>
              </a:rPr>
              <a:t>2000s~2014s</a:t>
            </a:r>
            <a:endParaRPr kumimoji="0" lang="zh-CN" altLang="en-US" sz="1400" b="1"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50" name="文本框 49"/>
          <p:cNvSpPr txBox="1"/>
          <p:nvPr/>
        </p:nvSpPr>
        <p:spPr>
          <a:xfrm>
            <a:off x="9215954" y="5935484"/>
            <a:ext cx="1699926"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FFFFFF"/>
                </a:solidFill>
                <a:effectLst>
                  <a:outerShdw blurRad="38100" dist="19050" dir="2700000" algn="tl" rotWithShape="0">
                    <a:srgbClr val="000000">
                      <a:alpha val="40000"/>
                    </a:srgbClr>
                  </a:outerShdw>
                </a:effectLst>
                <a:uLnTx/>
                <a:uFillTx/>
                <a:latin typeface="微软雅黑" panose="020B0503020204020204" charset="-122"/>
                <a:ea typeface="微软雅黑" panose="020B0503020204020204" charset="-122"/>
                <a:cs typeface="Times New Roman" panose="02020603050405020304" charset="0"/>
                <a:sym typeface="+mn-ea"/>
              </a:rPr>
              <a:t>2020</a:t>
            </a:r>
            <a:r>
              <a:rPr lang="en-US" altLang="zh-CN" sz="1400" b="1" dirty="0">
                <a:solidFill>
                  <a:srgbClr val="FFFFFF"/>
                </a:solidFill>
                <a:effectLst>
                  <a:outerShdw blurRad="38100" dist="19050" dir="2700000" algn="tl" rotWithShape="0">
                    <a:srgbClr val="000000">
                      <a:alpha val="40000"/>
                    </a:srgbClr>
                  </a:outerShdw>
                </a:effectLst>
                <a:latin typeface="微软雅黑" panose="020B0503020204020204" charset="-122"/>
                <a:ea typeface="微软雅黑" panose="020B0503020204020204" charset="-122"/>
                <a:cs typeface="Times New Roman" panose="02020603050405020304" charset="0"/>
                <a:sym typeface="+mn-ea"/>
              </a:rPr>
              <a:t>s~ hitherto</a:t>
            </a:r>
            <a:endParaRPr kumimoji="0" lang="zh-CN" altLang="en-US" sz="1400" b="1"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51" name="箭头: 右 50"/>
          <p:cNvSpPr/>
          <p:nvPr/>
        </p:nvSpPr>
        <p:spPr>
          <a:xfrm>
            <a:off x="532104" y="2098329"/>
            <a:ext cx="2674376" cy="581025"/>
          </a:xfrm>
          <a:prstGeom prst="rightArrow">
            <a:avLst>
              <a:gd name="adj1" fmla="val 69388"/>
              <a:gd name="adj2" fmla="val 48346"/>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rgbClr val="FFFFFF"/>
                </a:solidFill>
                <a:latin typeface="Times New Roman" panose="02020603050405020304"/>
                <a:ea typeface="微软雅黑" panose="020B0503020204020204" charset="-122"/>
              </a:rPr>
              <a:t>Statistical language models</a:t>
            </a:r>
            <a:endParaRPr lang="en-US" altLang="zh-CN" sz="1600" dirty="0">
              <a:solidFill>
                <a:srgbClr val="FFFFFF"/>
              </a:solidFill>
              <a:latin typeface="Times New Roman" panose="02020603050405020304"/>
              <a:ea typeface="微软雅黑" panose="020B0503020204020204" charset="-122"/>
            </a:endParaRPr>
          </a:p>
        </p:txBody>
      </p:sp>
      <p:sp>
        <p:nvSpPr>
          <p:cNvPr id="52" name="箭头: 右 51"/>
          <p:cNvSpPr/>
          <p:nvPr/>
        </p:nvSpPr>
        <p:spPr>
          <a:xfrm>
            <a:off x="3464655" y="3108726"/>
            <a:ext cx="2366051" cy="581025"/>
          </a:xfrm>
          <a:prstGeom prst="rightArrow">
            <a:avLst>
              <a:gd name="adj1" fmla="val 69388"/>
              <a:gd name="adj2" fmla="val 48346"/>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rPr>
              <a:t>Neural language models</a:t>
            </a:r>
            <a:endParaRPr kumimoji="0" lang="en-US" altLang="zh-CN" sz="16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53" name="箭头: 右 52"/>
          <p:cNvSpPr/>
          <p:nvPr/>
        </p:nvSpPr>
        <p:spPr>
          <a:xfrm>
            <a:off x="6088881" y="4119123"/>
            <a:ext cx="2683808" cy="581025"/>
          </a:xfrm>
          <a:prstGeom prst="rightArrow">
            <a:avLst>
              <a:gd name="adj1" fmla="val 69388"/>
              <a:gd name="adj2" fmla="val 48346"/>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rPr>
              <a:t>Pretrained language models</a:t>
            </a:r>
            <a:endParaRPr kumimoji="0" lang="en-US" altLang="zh-CN" sz="16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cxnSp>
        <p:nvCxnSpPr>
          <p:cNvPr id="54" name="直接连接符 53"/>
          <p:cNvCxnSpPr/>
          <p:nvPr/>
        </p:nvCxnSpPr>
        <p:spPr>
          <a:xfrm>
            <a:off x="8895821" y="989716"/>
            <a:ext cx="0" cy="5021084"/>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5" name="箭头: 右 54"/>
          <p:cNvSpPr/>
          <p:nvPr/>
        </p:nvSpPr>
        <p:spPr>
          <a:xfrm>
            <a:off x="9030864" y="5129521"/>
            <a:ext cx="2345282" cy="581025"/>
          </a:xfrm>
          <a:prstGeom prst="rightArrow">
            <a:avLst>
              <a:gd name="adj1" fmla="val 69388"/>
              <a:gd name="adj2" fmla="val 48346"/>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rPr>
              <a:t>Large language models</a:t>
            </a:r>
            <a:endParaRPr kumimoji="0" lang="en-US" altLang="zh-CN" sz="16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56" name="文本框 55"/>
          <p:cNvSpPr txBox="1"/>
          <p:nvPr/>
        </p:nvSpPr>
        <p:spPr>
          <a:xfrm>
            <a:off x="6587971" y="5956834"/>
            <a:ext cx="1537227"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FFFFFF"/>
                </a:solidFill>
                <a:effectLst>
                  <a:outerShdw blurRad="38100" dist="19050" dir="2700000" algn="tl" rotWithShape="0">
                    <a:srgbClr val="000000">
                      <a:alpha val="40000"/>
                    </a:srgbClr>
                  </a:outerShdw>
                </a:effectLst>
                <a:uLnTx/>
                <a:uFillTx/>
                <a:latin typeface="微软雅黑" panose="020B0503020204020204" charset="-122"/>
                <a:ea typeface="微软雅黑" panose="020B0503020204020204" charset="-122"/>
                <a:cs typeface="Times New Roman" panose="02020603050405020304" charset="0"/>
                <a:sym typeface="+mn-ea"/>
              </a:rPr>
              <a:t>2018s~2020s</a:t>
            </a:r>
            <a:endParaRPr kumimoji="0" lang="zh-CN" altLang="en-US" sz="1400" b="1"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68" name="文本框 67"/>
          <p:cNvSpPr txBox="1"/>
          <p:nvPr/>
        </p:nvSpPr>
        <p:spPr>
          <a:xfrm>
            <a:off x="2122806" y="283702"/>
            <a:ext cx="7762061" cy="523220"/>
          </a:xfrm>
          <a:prstGeom prst="rect">
            <a:avLst/>
          </a:prstGeom>
          <a:noFill/>
        </p:spPr>
        <p:txBody>
          <a:bodyPr wrap="none" rtlCol="0" anchor="ctr">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en-US" altLang="zh-CN" sz="2800" dirty="0">
                <a:effectLst/>
                <a:latin typeface="Montserrat" panose="00000500000000000000" pitchFamily="2" charset="0"/>
              </a:rPr>
              <a:t>Timeline of language model development</a:t>
            </a:r>
            <a:endParaRPr lang="en-US" altLang="zh-CN" sz="2800" dirty="0">
              <a:effectLst/>
              <a:latin typeface="Montserrat" panose="00000500000000000000" pitchFamily="2"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08951" y="1437638"/>
            <a:ext cx="11974098" cy="3409174"/>
            <a:chOff x="108951" y="1504139"/>
            <a:chExt cx="11974098" cy="3409174"/>
          </a:xfrm>
        </p:grpSpPr>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668925" y="3068892"/>
              <a:ext cx="3113238" cy="1707260"/>
            </a:xfrm>
            <a:prstGeom prst="rect">
              <a:avLst/>
            </a:prstGeom>
            <a:ln>
              <a:solidFill>
                <a:srgbClr val="6480DC"/>
              </a:solidFill>
            </a:ln>
          </p:spPr>
        </p:pic>
        <p:pic>
          <p:nvPicPr>
            <p:cNvPr id="34" name="图片 3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989" y="3420207"/>
              <a:ext cx="3507085" cy="230287"/>
            </a:xfrm>
            <a:prstGeom prst="rect">
              <a:avLst/>
            </a:prstGeom>
            <a:ln>
              <a:solidFill>
                <a:srgbClr val="6480DC"/>
              </a:solidFill>
            </a:ln>
          </p:spPr>
        </p:pic>
        <p:sp>
          <p:nvSpPr>
            <p:cNvPr id="35" name="矩形 34"/>
            <p:cNvSpPr/>
            <p:nvPr/>
          </p:nvSpPr>
          <p:spPr>
            <a:xfrm>
              <a:off x="108951" y="1724161"/>
              <a:ext cx="3624878" cy="3095193"/>
            </a:xfrm>
            <a:prstGeom prst="rect">
              <a:avLst/>
            </a:prstGeom>
            <a:noFill/>
            <a:ln w="19050">
              <a:solidFill>
                <a:srgbClr val="6480D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6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36" name="矩形 35"/>
            <p:cNvSpPr/>
            <p:nvPr/>
          </p:nvSpPr>
          <p:spPr>
            <a:xfrm>
              <a:off x="216584" y="1504139"/>
              <a:ext cx="2426863" cy="374073"/>
            </a:xfrm>
            <a:prstGeom prst="rect">
              <a:avLst/>
            </a:prstGeom>
            <a:solidFill>
              <a:srgbClr val="6480DC"/>
            </a:solidFill>
            <a:ln>
              <a:solidFill>
                <a:srgbClr val="648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r>
                <a:rPr lang="en-US" altLang="zh-CN" sz="1100" dirty="0">
                  <a:solidFill>
                    <a:srgbClr val="FFFFFF"/>
                  </a:solidFill>
                  <a:latin typeface="Times New Roman" panose="02020603050405020304"/>
                  <a:ea typeface="微软雅黑" panose="020B0503020204020204" charset="-122"/>
                </a:rPr>
                <a:t>Traditional statistical language models</a:t>
              </a:r>
              <a:endParaRPr lang="en-US" altLang="zh-CN" sz="1100" dirty="0">
                <a:solidFill>
                  <a:srgbClr val="FFFFFF"/>
                </a:solidFill>
                <a:latin typeface="Times New Roman" panose="02020603050405020304"/>
                <a:ea typeface="微软雅黑" panose="020B0503020204020204" charset="-122"/>
              </a:endParaRPr>
            </a:p>
          </p:txBody>
        </p:sp>
        <p:sp>
          <p:nvSpPr>
            <p:cNvPr id="37" name="矩形 36"/>
            <p:cNvSpPr/>
            <p:nvPr/>
          </p:nvSpPr>
          <p:spPr>
            <a:xfrm>
              <a:off x="200989" y="1939270"/>
              <a:ext cx="3440801" cy="1380972"/>
            </a:xfrm>
            <a:prstGeom prst="rect">
              <a:avLst/>
            </a:prstGeom>
            <a:noFill/>
            <a:ln w="19050">
              <a:solidFill>
                <a:srgbClr val="6480D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indent="-285750" defTabSz="914400" rtl="0" eaLnBrk="1" fontAlgn="auto" latinLnBrk="0" hangingPunct="1">
                <a:lnSpc>
                  <a:spcPct val="100000"/>
                </a:lnSpc>
                <a:spcBef>
                  <a:spcPts val="0"/>
                </a:spcBef>
                <a:spcAft>
                  <a:spcPts val="0"/>
                </a:spcAft>
                <a:buClrTx/>
                <a:buSzTx/>
                <a:buFont typeface="Arial" panose="020B0604020202020204" pitchFamily="34" charset="0"/>
                <a:buChar char="•"/>
              </a:pPr>
              <a:r>
                <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rPr>
                <a:t>Traditional statistical language models are based on the assumption that the nth word occurrence is related to the first n-1 word and not to any other word.</a:t>
              </a:r>
              <a:endPar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endParaRPr>
            </a:p>
            <a:p>
              <a:pPr marL="285750" marR="0" indent="-285750" defTabSz="914400" rtl="0" eaLnBrk="1" fontAlgn="auto" latinLnBrk="0" hangingPunct="1">
                <a:lnSpc>
                  <a:spcPct val="100000"/>
                </a:lnSpc>
                <a:spcBef>
                  <a:spcPts val="0"/>
                </a:spcBef>
                <a:spcAft>
                  <a:spcPts val="0"/>
                </a:spcAft>
                <a:buClrTx/>
                <a:buSzTx/>
                <a:buFont typeface="Arial" panose="020B0604020202020204" pitchFamily="34" charset="0"/>
                <a:buChar char="•"/>
              </a:pPr>
              <a:r>
                <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rPr>
                <a:t>The probability of the occurrence of the whole sentence is equal to the product of the probability of the occurrence of each word.</a:t>
              </a:r>
              <a:endParaRPr lang="en-US" altLang="zh-CN" sz="1000" dirty="0">
                <a:solidFill>
                  <a:schemeClr val="tx1"/>
                </a:solidFill>
                <a:latin typeface="Times New Roman" panose="02020603050405020304"/>
                <a:ea typeface="微软雅黑" panose="020B0503020204020204" charset="-122"/>
              </a:endParaRPr>
            </a:p>
            <a:p>
              <a:pPr marL="285750" marR="0" indent="-285750" defTabSz="914400" rtl="0" eaLnBrk="1" fontAlgn="auto" latinLnBrk="0" hangingPunct="1">
                <a:lnSpc>
                  <a:spcPct val="100000"/>
                </a:lnSpc>
                <a:spcBef>
                  <a:spcPts val="0"/>
                </a:spcBef>
                <a:spcAft>
                  <a:spcPts val="0"/>
                </a:spcAft>
                <a:buClrTx/>
                <a:buSzTx/>
                <a:buFont typeface="Arial" panose="020B0604020202020204" pitchFamily="34" charset="0"/>
                <a:buChar char="•"/>
              </a:pPr>
              <a:r>
                <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rPr>
                <a:t>The probability of each word can be statistically calculated from the corpus.</a:t>
              </a:r>
              <a:endParaRPr kumimoji="0" lang="zh-CN" altLang="en-US"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endParaRPr>
            </a:p>
          </p:txBody>
        </p:sp>
        <p:sp>
          <p:nvSpPr>
            <p:cNvPr id="38" name="矩形 37"/>
            <p:cNvSpPr/>
            <p:nvPr/>
          </p:nvSpPr>
          <p:spPr>
            <a:xfrm>
              <a:off x="216584" y="3740442"/>
              <a:ext cx="3440801" cy="896463"/>
            </a:xfrm>
            <a:prstGeom prst="rect">
              <a:avLst/>
            </a:prstGeom>
            <a:noFill/>
            <a:ln w="19050">
              <a:solidFill>
                <a:srgbClr val="6480D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indent="-285750" defTabSz="914400" rtl="0" eaLnBrk="1" fontAlgn="auto" latinLnBrk="0" hangingPunct="1">
                <a:lnSpc>
                  <a:spcPct val="100000"/>
                </a:lnSpc>
                <a:spcBef>
                  <a:spcPts val="0"/>
                </a:spcBef>
                <a:spcAft>
                  <a:spcPts val="0"/>
                </a:spcAft>
                <a:buClrTx/>
                <a:buSzTx/>
                <a:buFont typeface="Arial" panose="020B0604020202020204" pitchFamily="34" charset="0"/>
                <a:buChar char="•"/>
              </a:pPr>
              <a:r>
                <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rPr>
                <a:t>The parameter space is too large: The probability involves n variables, and the probability of each variable is the dictionary size. </a:t>
              </a:r>
              <a:endPar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endParaRPr>
            </a:p>
            <a:p>
              <a:pPr marL="285750" marR="0" indent="-285750" defTabSz="914400" rtl="0" eaLnBrk="1" fontAlgn="auto" latinLnBrk="0" hangingPunct="1">
                <a:lnSpc>
                  <a:spcPct val="100000"/>
                </a:lnSpc>
                <a:spcBef>
                  <a:spcPts val="0"/>
                </a:spcBef>
                <a:spcAft>
                  <a:spcPts val="0"/>
                </a:spcAft>
                <a:buClrTx/>
                <a:buSzTx/>
                <a:buFont typeface="Arial" panose="020B0604020202020204" pitchFamily="34" charset="0"/>
                <a:buChar char="•"/>
              </a:pPr>
              <a:r>
                <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rPr>
                <a:t>Severe data sparsity: words may not appear at the same time, especially at high combinatorial orders.</a:t>
              </a:r>
              <a:endParaRPr kumimoji="0" lang="zh-CN" altLang="en-US"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endParaRPr>
            </a:p>
          </p:txBody>
        </p:sp>
        <p:sp>
          <p:nvSpPr>
            <p:cNvPr id="39" name="箭头: 右 38"/>
            <p:cNvSpPr/>
            <p:nvPr/>
          </p:nvSpPr>
          <p:spPr>
            <a:xfrm>
              <a:off x="3789375" y="3197000"/>
              <a:ext cx="531690" cy="246484"/>
            </a:xfrm>
            <a:prstGeom prst="rightArrow">
              <a:avLst/>
            </a:prstGeom>
            <a:solidFill>
              <a:srgbClr val="6480DC"/>
            </a:solidFill>
            <a:ln>
              <a:solidFill>
                <a:srgbClr val="648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6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40" name="矩形 39"/>
            <p:cNvSpPr/>
            <p:nvPr/>
          </p:nvSpPr>
          <p:spPr>
            <a:xfrm>
              <a:off x="4413106" y="1724161"/>
              <a:ext cx="3624878" cy="3172035"/>
            </a:xfrm>
            <a:prstGeom prst="rect">
              <a:avLst/>
            </a:prstGeom>
            <a:noFill/>
            <a:ln w="19050">
              <a:solidFill>
                <a:srgbClr val="6480D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6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41" name="矩形 40"/>
            <p:cNvSpPr/>
            <p:nvPr/>
          </p:nvSpPr>
          <p:spPr>
            <a:xfrm>
              <a:off x="4618834" y="1504139"/>
              <a:ext cx="1464425" cy="374073"/>
            </a:xfrm>
            <a:prstGeom prst="rect">
              <a:avLst/>
            </a:prstGeom>
            <a:solidFill>
              <a:srgbClr val="6480DC"/>
            </a:solidFill>
            <a:ln>
              <a:solidFill>
                <a:srgbClr val="648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r>
                <a:rPr lang="en-US" altLang="zh-CN" sz="1100" dirty="0">
                  <a:solidFill>
                    <a:srgbClr val="FFFFFF"/>
                  </a:solidFill>
                  <a:latin typeface="Times New Roman" panose="02020603050405020304"/>
                  <a:ea typeface="微软雅黑" panose="020B0503020204020204" charset="-122"/>
                </a:rPr>
                <a:t>Markov hypothesis</a:t>
              </a:r>
              <a:endParaRPr lang="en-US" altLang="zh-CN" sz="1100" dirty="0">
                <a:solidFill>
                  <a:srgbClr val="FFFFFF"/>
                </a:solidFill>
                <a:latin typeface="Times New Roman" panose="02020603050405020304"/>
                <a:ea typeface="微软雅黑" panose="020B0503020204020204" charset="-122"/>
              </a:endParaRPr>
            </a:p>
          </p:txBody>
        </p:sp>
        <p:sp>
          <p:nvSpPr>
            <p:cNvPr id="42" name="矩形 41"/>
            <p:cNvSpPr/>
            <p:nvPr/>
          </p:nvSpPr>
          <p:spPr>
            <a:xfrm>
              <a:off x="4505144" y="1939270"/>
              <a:ext cx="3440801" cy="1009579"/>
            </a:xfrm>
            <a:prstGeom prst="rect">
              <a:avLst/>
            </a:prstGeom>
            <a:noFill/>
            <a:ln w="19050">
              <a:solidFill>
                <a:srgbClr val="6480D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indent="-285750" defTabSz="914400" rtl="0" eaLnBrk="1" fontAlgn="auto" latinLnBrk="0" hangingPunct="1">
                <a:lnSpc>
                  <a:spcPct val="100000"/>
                </a:lnSpc>
                <a:spcBef>
                  <a:spcPts val="0"/>
                </a:spcBef>
                <a:spcAft>
                  <a:spcPts val="0"/>
                </a:spcAft>
                <a:buClrTx/>
                <a:buSzTx/>
                <a:buFont typeface="Arial" panose="020B0604020202020204" pitchFamily="34" charset="0"/>
                <a:buChar char="•"/>
              </a:pPr>
              <a:r>
                <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rPr>
                <a:t>The n-gram model introduces the Markov hypothesis to establish a prediction model for language sequences, which usually predicts the probability of the occurrence of the next word based on several consecutive context words in the word sequence, that is, predicts the target word according to a fixed-length prefix.</a:t>
              </a:r>
              <a:endPar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endParaRPr>
            </a:p>
          </p:txBody>
        </p:sp>
        <p:sp>
          <p:nvSpPr>
            <p:cNvPr id="43" name="箭头: 右 42"/>
            <p:cNvSpPr/>
            <p:nvPr/>
          </p:nvSpPr>
          <p:spPr>
            <a:xfrm>
              <a:off x="8104130" y="3080812"/>
              <a:ext cx="531690" cy="246484"/>
            </a:xfrm>
            <a:prstGeom prst="rightArrow">
              <a:avLst/>
            </a:prstGeom>
            <a:solidFill>
              <a:srgbClr val="6480DC"/>
            </a:solidFill>
            <a:ln>
              <a:solidFill>
                <a:srgbClr val="648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6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44" name="矩形 43"/>
            <p:cNvSpPr/>
            <p:nvPr/>
          </p:nvSpPr>
          <p:spPr>
            <a:xfrm>
              <a:off x="8567122" y="1741278"/>
              <a:ext cx="3515927" cy="3172035"/>
            </a:xfrm>
            <a:prstGeom prst="rect">
              <a:avLst/>
            </a:prstGeom>
            <a:noFill/>
            <a:ln w="19050">
              <a:solidFill>
                <a:srgbClr val="6480D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6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45" name="矩形 44"/>
            <p:cNvSpPr/>
            <p:nvPr/>
          </p:nvSpPr>
          <p:spPr>
            <a:xfrm>
              <a:off x="8922989" y="1504139"/>
              <a:ext cx="969666" cy="374073"/>
            </a:xfrm>
            <a:prstGeom prst="rect">
              <a:avLst/>
            </a:prstGeom>
            <a:solidFill>
              <a:srgbClr val="6480DC"/>
            </a:solidFill>
            <a:ln>
              <a:solidFill>
                <a:srgbClr val="648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r>
                <a:rPr lang="en-US" altLang="zh-CN" sz="1100" dirty="0">
                  <a:solidFill>
                    <a:srgbClr val="FFFFFF"/>
                  </a:solidFill>
                  <a:latin typeface="Times New Roman" panose="02020603050405020304"/>
                  <a:ea typeface="微软雅黑" panose="020B0503020204020204" charset="-122"/>
                </a:rPr>
                <a:t>N-gram</a:t>
              </a:r>
              <a:endParaRPr lang="en-US" altLang="zh-CN" sz="1100" dirty="0">
                <a:solidFill>
                  <a:srgbClr val="FFFFFF"/>
                </a:solidFill>
                <a:latin typeface="Times New Roman" panose="02020603050405020304"/>
                <a:ea typeface="微软雅黑" panose="020B0503020204020204" charset="-122"/>
              </a:endParaRPr>
            </a:p>
          </p:txBody>
        </p:sp>
        <p:sp>
          <p:nvSpPr>
            <p:cNvPr id="46" name="矩形 45"/>
            <p:cNvSpPr/>
            <p:nvPr/>
          </p:nvSpPr>
          <p:spPr>
            <a:xfrm>
              <a:off x="8683882" y="1952663"/>
              <a:ext cx="3280254" cy="993646"/>
            </a:xfrm>
            <a:prstGeom prst="rect">
              <a:avLst/>
            </a:prstGeom>
            <a:noFill/>
            <a:ln w="19050">
              <a:solidFill>
                <a:srgbClr val="6480D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indent="-285750" defTabSz="914400" rtl="0" eaLnBrk="1" fontAlgn="auto" latinLnBrk="0" hangingPunct="1">
                <a:lnSpc>
                  <a:spcPct val="100000"/>
                </a:lnSpc>
                <a:spcBef>
                  <a:spcPts val="0"/>
                </a:spcBef>
                <a:spcAft>
                  <a:spcPts val="0"/>
                </a:spcAft>
                <a:buClrTx/>
                <a:buSzTx/>
                <a:buFont typeface="Arial" panose="020B0604020202020204" pitchFamily="34" charset="0"/>
                <a:buChar char="•"/>
              </a:pPr>
              <a:r>
                <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rPr>
                <a:t>In order to solve the second problem, statistical language models alleviate the problem of data sparsity by designing a special language model smoothing strategy.</a:t>
              </a:r>
              <a:endPar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endParaRPr>
            </a:p>
            <a:p>
              <a:pPr marL="285750" marR="0" indent="-285750" defTabSz="914400" rtl="0" eaLnBrk="1" fontAlgn="auto" latinLnBrk="0" hangingPunct="1">
                <a:lnSpc>
                  <a:spcPct val="100000"/>
                </a:lnSpc>
                <a:spcBef>
                  <a:spcPts val="0"/>
                </a:spcBef>
                <a:spcAft>
                  <a:spcPts val="0"/>
                </a:spcAft>
                <a:buClrTx/>
                <a:buSzTx/>
                <a:buFont typeface="Arial" panose="020B0604020202020204" pitchFamily="34" charset="0"/>
                <a:buChar char="•"/>
              </a:pPr>
              <a:r>
                <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rPr>
                <a:t>The difference between the predicted value and the true probability value is used as the loss function.</a:t>
              </a:r>
              <a:endPar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endParaRPr>
            </a:p>
          </p:txBody>
        </p:sp>
      </p:grpSp>
      <p:pic>
        <p:nvPicPr>
          <p:cNvPr id="48" name="图片 4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43683" y="3007912"/>
            <a:ext cx="2964211" cy="1669216"/>
          </a:xfrm>
          <a:prstGeom prst="rect">
            <a:avLst/>
          </a:prstGeom>
          <a:ln>
            <a:solidFill>
              <a:srgbClr val="6480DC"/>
            </a:solidFill>
          </a:ln>
        </p:spPr>
      </p:pic>
      <p:sp>
        <p:nvSpPr>
          <p:cNvPr id="56" name="文本框 55"/>
          <p:cNvSpPr txBox="1"/>
          <p:nvPr/>
        </p:nvSpPr>
        <p:spPr>
          <a:xfrm>
            <a:off x="3193558" y="442299"/>
            <a:ext cx="5176417" cy="523220"/>
          </a:xfrm>
          <a:prstGeom prst="rect">
            <a:avLst/>
          </a:prstGeom>
          <a:noFill/>
        </p:spPr>
        <p:txBody>
          <a:bodyPr wrap="none" rtlCol="0" anchor="ctr">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en-US" altLang="zh-CN" sz="2800" dirty="0">
                <a:effectLst/>
                <a:latin typeface="Montserrat" panose="00000500000000000000" pitchFamily="2" charset="0"/>
              </a:rPr>
              <a:t>Statistical language models</a:t>
            </a:r>
            <a:endParaRPr lang="en-US" altLang="zh-CN" sz="2800" dirty="0">
              <a:effectLst/>
              <a:latin typeface="Montserrat" panose="00000500000000000000" pitchFamily="2" charset="0"/>
            </a:endParaRPr>
          </a:p>
        </p:txBody>
      </p:sp>
      <p:sp>
        <p:nvSpPr>
          <p:cNvPr id="58" name="文本框 57"/>
          <p:cNvSpPr txBox="1"/>
          <p:nvPr/>
        </p:nvSpPr>
        <p:spPr>
          <a:xfrm>
            <a:off x="813672" y="4872896"/>
            <a:ext cx="10539173" cy="1569660"/>
          </a:xfrm>
          <a:prstGeom prst="rect">
            <a:avLst/>
          </a:prstGeom>
          <a:noFill/>
        </p:spPr>
        <p:txBody>
          <a:bodyPr wrap="square">
            <a:spAutoFit/>
          </a:bodyPr>
          <a:lstStyle/>
          <a:p>
            <a:pPr marL="285750" indent="-285750">
              <a:buFont typeface="Arial" panose="020B0604020202020204" pitchFamily="34" charset="0"/>
              <a:buChar char="•"/>
            </a:pPr>
            <a:r>
              <a:rPr lang="en-US" altLang="zh-CN" sz="1600" dirty="0">
                <a:latin typeface="Times New Roman" panose="02020603050405020304" charset="0"/>
                <a:cs typeface="Times New Roman" panose="02020603050405020304" charset="0"/>
              </a:rPr>
              <a:t>The statistical-based language model is a discrete language model, so the generalization ability is poor.</a:t>
            </a:r>
            <a:endParaRPr lang="en-US" altLang="zh-CN"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zh-CN" sz="1600" dirty="0">
                <a:latin typeface="Times New Roman" panose="02020603050405020304" charset="0"/>
                <a:cs typeface="Times New Roman" panose="02020603050405020304" charset="0"/>
              </a:rPr>
              <a:t>However, for higher-order statistical language models, the number of transition probability terms that need to be estimated increases exponentially as order n increases, and statistical language models are often plagued by a "dimensionality catastrophe".</a:t>
            </a:r>
            <a:endParaRPr lang="en-US" altLang="zh-CN"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zh-CN" sz="1600" dirty="0">
                <a:latin typeface="Times New Roman" panose="02020603050405020304" charset="0"/>
                <a:cs typeface="Times New Roman" panose="02020603050405020304" charset="0"/>
              </a:rPr>
              <a:t>Moreover, the ability of the smoothing method to characterize higher-order contexts is still weak, and it cannot accurately model complex higher-order semantic relationships.</a:t>
            </a:r>
            <a:endParaRPr lang="en-US" altLang="zh-CN" sz="1600"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473017" y="1640727"/>
            <a:ext cx="3624878" cy="3095193"/>
          </a:xfrm>
          <a:prstGeom prst="rect">
            <a:avLst/>
          </a:prstGeom>
          <a:noFill/>
          <a:ln w="19050">
            <a:solidFill>
              <a:srgbClr val="6480D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38" name="矩形 37"/>
          <p:cNvSpPr/>
          <p:nvPr/>
        </p:nvSpPr>
        <p:spPr>
          <a:xfrm>
            <a:off x="722689" y="1420705"/>
            <a:ext cx="1736907" cy="374073"/>
          </a:xfrm>
          <a:prstGeom prst="rect">
            <a:avLst/>
          </a:prstGeom>
          <a:solidFill>
            <a:srgbClr val="6480DC"/>
          </a:solidFill>
          <a:ln>
            <a:solidFill>
              <a:srgbClr val="648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rPr>
              <a:t>Neural language models</a:t>
            </a:r>
            <a:endParaRPr kumimoji="0" lang="en-US" altLang="zh-CN" sz="11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39" name="矩形 38"/>
          <p:cNvSpPr/>
          <p:nvPr/>
        </p:nvSpPr>
        <p:spPr>
          <a:xfrm>
            <a:off x="565055" y="1855836"/>
            <a:ext cx="3440801" cy="950179"/>
          </a:xfrm>
          <a:prstGeom prst="rect">
            <a:avLst/>
          </a:prstGeom>
          <a:noFill/>
          <a:ln w="19050">
            <a:solidFill>
              <a:srgbClr val="6480D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rPr>
              <a:t>Neural language models use neural networks to model the generation of text sequences.</a:t>
            </a:r>
            <a:endPar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rPr>
              <a:t>The concept of distributed word representation is introduced, and the target word prediction function based on aggregate context features is constructed.</a:t>
            </a:r>
            <a:endPar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endParaRPr>
          </a:p>
        </p:txBody>
      </p:sp>
      <p:sp>
        <p:nvSpPr>
          <p:cNvPr id="57" name="箭头: 右 56"/>
          <p:cNvSpPr/>
          <p:nvPr/>
        </p:nvSpPr>
        <p:spPr>
          <a:xfrm>
            <a:off x="4153441" y="3113566"/>
            <a:ext cx="531690" cy="246484"/>
          </a:xfrm>
          <a:prstGeom prst="rightArrow">
            <a:avLst/>
          </a:prstGeom>
          <a:solidFill>
            <a:srgbClr val="6480DC"/>
          </a:solidFill>
          <a:ln>
            <a:solidFill>
              <a:srgbClr val="648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72" name="矩形 71"/>
          <p:cNvSpPr/>
          <p:nvPr/>
        </p:nvSpPr>
        <p:spPr>
          <a:xfrm>
            <a:off x="4777172" y="1640727"/>
            <a:ext cx="2852218" cy="3172035"/>
          </a:xfrm>
          <a:prstGeom prst="rect">
            <a:avLst/>
          </a:prstGeom>
          <a:noFill/>
          <a:ln w="19050">
            <a:solidFill>
              <a:srgbClr val="6480D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73" name="矩形 72"/>
          <p:cNvSpPr/>
          <p:nvPr/>
        </p:nvSpPr>
        <p:spPr>
          <a:xfrm>
            <a:off x="5153477" y="1420705"/>
            <a:ext cx="1034534" cy="374073"/>
          </a:xfrm>
          <a:prstGeom prst="rect">
            <a:avLst/>
          </a:prstGeom>
          <a:solidFill>
            <a:srgbClr val="6480DC"/>
          </a:solidFill>
          <a:ln>
            <a:solidFill>
              <a:srgbClr val="648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rPr>
              <a:t>CBOW</a:t>
            </a:r>
            <a:endParaRPr kumimoji="0" lang="en-US" altLang="zh-CN" sz="11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74" name="矩形 73"/>
          <p:cNvSpPr/>
          <p:nvPr/>
        </p:nvSpPr>
        <p:spPr>
          <a:xfrm>
            <a:off x="4869210" y="1855836"/>
            <a:ext cx="2635489" cy="1009579"/>
          </a:xfrm>
          <a:prstGeom prst="rect">
            <a:avLst/>
          </a:prstGeom>
          <a:noFill/>
          <a:ln w="19050">
            <a:solidFill>
              <a:srgbClr val="6480D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rPr>
              <a:t>CBOW calculates the probability of the occurrence of a word based on the C words in front of it and the C consecutive words in front of it.</a:t>
            </a:r>
            <a:endPar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endParaRPr>
          </a:p>
        </p:txBody>
      </p:sp>
      <p:sp>
        <p:nvSpPr>
          <p:cNvPr id="75" name="箭头: 右 74"/>
          <p:cNvSpPr/>
          <p:nvPr/>
        </p:nvSpPr>
        <p:spPr>
          <a:xfrm>
            <a:off x="7776977" y="3007512"/>
            <a:ext cx="531690" cy="246484"/>
          </a:xfrm>
          <a:prstGeom prst="rightArrow">
            <a:avLst/>
          </a:prstGeom>
          <a:solidFill>
            <a:srgbClr val="6480DC"/>
          </a:solidFill>
          <a:ln>
            <a:solidFill>
              <a:srgbClr val="648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76" name="矩形 75"/>
          <p:cNvSpPr/>
          <p:nvPr/>
        </p:nvSpPr>
        <p:spPr>
          <a:xfrm>
            <a:off x="8456255" y="1632825"/>
            <a:ext cx="3058412" cy="3172035"/>
          </a:xfrm>
          <a:prstGeom prst="rect">
            <a:avLst/>
          </a:prstGeom>
          <a:noFill/>
          <a:ln w="19050">
            <a:solidFill>
              <a:srgbClr val="6480D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77" name="矩形 76"/>
          <p:cNvSpPr/>
          <p:nvPr/>
        </p:nvSpPr>
        <p:spPr>
          <a:xfrm>
            <a:off x="8795495" y="1403535"/>
            <a:ext cx="969666" cy="374073"/>
          </a:xfrm>
          <a:prstGeom prst="rect">
            <a:avLst/>
          </a:prstGeom>
          <a:solidFill>
            <a:srgbClr val="6480DC"/>
          </a:solidFill>
          <a:ln>
            <a:solidFill>
              <a:srgbClr val="648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rPr>
              <a:t>Skip-gram</a:t>
            </a:r>
            <a:endParaRPr kumimoji="0" lang="en-US" altLang="zh-CN" sz="11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78" name="矩形 77"/>
          <p:cNvSpPr/>
          <p:nvPr/>
        </p:nvSpPr>
        <p:spPr>
          <a:xfrm>
            <a:off x="8599889" y="1872888"/>
            <a:ext cx="2813177" cy="765459"/>
          </a:xfrm>
          <a:prstGeom prst="rect">
            <a:avLst/>
          </a:prstGeom>
          <a:noFill/>
          <a:ln w="19050">
            <a:solidFill>
              <a:srgbClr val="6480D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rPr>
              <a:t>Skip-gram is based on a certain word, and then calculates the probability of a certain number of words before and after it.</a:t>
            </a:r>
            <a:endPar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endParaRPr>
          </a:p>
        </p:txBody>
      </p:sp>
      <p:pic>
        <p:nvPicPr>
          <p:cNvPr id="80" name="图片 7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22689" y="2929230"/>
            <a:ext cx="3057908" cy="1683475"/>
          </a:xfrm>
          <a:prstGeom prst="rect">
            <a:avLst/>
          </a:prstGeom>
          <a:ln>
            <a:solidFill>
              <a:srgbClr val="6480DC"/>
            </a:solidFill>
          </a:ln>
        </p:spPr>
      </p:pic>
      <p:pic>
        <p:nvPicPr>
          <p:cNvPr id="81" name="图片 80"/>
          <p:cNvPicPr>
            <a:picLocks noChangeAspect="1"/>
          </p:cNvPicPr>
          <p:nvPr/>
        </p:nvPicPr>
        <p:blipFill>
          <a:blip r:embed="rId2"/>
          <a:stretch>
            <a:fillRect/>
          </a:stretch>
        </p:blipFill>
        <p:spPr>
          <a:xfrm>
            <a:off x="5293983" y="2992746"/>
            <a:ext cx="1775580" cy="1692685"/>
          </a:xfrm>
          <a:prstGeom prst="rect">
            <a:avLst/>
          </a:prstGeom>
          <a:ln>
            <a:solidFill>
              <a:srgbClr val="6480DC"/>
            </a:solidFill>
          </a:ln>
        </p:spPr>
      </p:pic>
      <p:pic>
        <p:nvPicPr>
          <p:cNvPr id="82" name="图片 81"/>
          <p:cNvPicPr>
            <a:picLocks noChangeAspect="1"/>
          </p:cNvPicPr>
          <p:nvPr/>
        </p:nvPicPr>
        <p:blipFill>
          <a:blip r:embed="rId3"/>
          <a:stretch>
            <a:fillRect/>
          </a:stretch>
        </p:blipFill>
        <p:spPr>
          <a:xfrm>
            <a:off x="9080433" y="2780768"/>
            <a:ext cx="1810055" cy="1929245"/>
          </a:xfrm>
          <a:prstGeom prst="rect">
            <a:avLst/>
          </a:prstGeom>
          <a:ln>
            <a:solidFill>
              <a:srgbClr val="6480DC"/>
            </a:solidFill>
          </a:ln>
        </p:spPr>
      </p:pic>
      <p:sp>
        <p:nvSpPr>
          <p:cNvPr id="89" name="文本框 88"/>
          <p:cNvSpPr txBox="1"/>
          <p:nvPr/>
        </p:nvSpPr>
        <p:spPr>
          <a:xfrm>
            <a:off x="3355847" y="261189"/>
            <a:ext cx="4629794" cy="523220"/>
          </a:xfrm>
          <a:prstGeom prst="rect">
            <a:avLst/>
          </a:prstGeom>
          <a:noFill/>
        </p:spPr>
        <p:txBody>
          <a:bodyPr wrap="none" rtlCol="0" anchor="ctr">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en-US" altLang="zh-CN" sz="2800" dirty="0">
                <a:effectLst/>
                <a:latin typeface="Montserrat" panose="00000500000000000000" pitchFamily="2" charset="0"/>
              </a:rPr>
              <a:t>Neural language models</a:t>
            </a:r>
            <a:endParaRPr lang="en-US" altLang="zh-CN" sz="2800" dirty="0">
              <a:effectLst/>
              <a:latin typeface="Montserrat" panose="00000500000000000000" pitchFamily="2" charset="0"/>
            </a:endParaRPr>
          </a:p>
        </p:txBody>
      </p:sp>
      <p:sp>
        <p:nvSpPr>
          <p:cNvPr id="91" name="文本框 90"/>
          <p:cNvSpPr txBox="1"/>
          <p:nvPr/>
        </p:nvSpPr>
        <p:spPr>
          <a:xfrm>
            <a:off x="826413" y="4832257"/>
            <a:ext cx="10539173" cy="1815882"/>
          </a:xfrm>
          <a:prstGeom prst="rect">
            <a:avLst/>
          </a:prstGeom>
          <a:noFill/>
        </p:spPr>
        <p:txBody>
          <a:bodyPr wrap="square">
            <a:spAutoFit/>
          </a:bodyPr>
          <a:lstStyle/>
          <a:p>
            <a:pPr marL="285750" indent="-285750">
              <a:buFont typeface="Arial" panose="020B0604020202020204" pitchFamily="34" charset="0"/>
              <a:buChar char="•"/>
            </a:pPr>
            <a:r>
              <a:rPr lang="en-US" altLang="zh-CN" sz="1600" dirty="0">
                <a:latin typeface="Times New Roman" panose="02020603050405020304" charset="0"/>
                <a:cs typeface="Times New Roman" panose="02020603050405020304" charset="0"/>
              </a:rPr>
              <a:t>Distributed word representation uses low-dimensional dense vectors to represent the semantics of words, which is fundamentally different from the sparse word vector representation based on dictionary space, and can describe richer implicit semantic features.</a:t>
            </a:r>
            <a:endParaRPr lang="en-US" altLang="zh-CN"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zh-CN" sz="1600" dirty="0">
                <a:latin typeface="Times New Roman" panose="02020603050405020304" charset="0"/>
                <a:cs typeface="Times New Roman" panose="02020603050405020304" charset="0"/>
              </a:rPr>
              <a:t>The non-zero representation of dense vectors is very friendly to the construction of complex language models, and can effectively overcome the problem of data sparsity in statistical language models.</a:t>
            </a:r>
            <a:endParaRPr lang="en-US" altLang="zh-CN"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zh-CN" sz="1600" dirty="0">
                <a:latin typeface="Times New Roman" panose="02020603050405020304" charset="0"/>
                <a:cs typeface="Times New Roman" panose="02020603050405020304" charset="0"/>
              </a:rPr>
              <a:t>At the same time, the training speed and computational efficiency of the model are significantly improved by negative sampling and hierarchical soft maximization technology.</a:t>
            </a:r>
            <a:endParaRPr lang="en-US" altLang="zh-CN" sz="1600"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08951" y="1657660"/>
            <a:ext cx="3624878" cy="3095193"/>
          </a:xfrm>
          <a:prstGeom prst="rect">
            <a:avLst/>
          </a:prstGeom>
          <a:noFill/>
          <a:ln w="19050">
            <a:solidFill>
              <a:srgbClr val="6480D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8" name="矩形 7"/>
          <p:cNvSpPr/>
          <p:nvPr/>
        </p:nvSpPr>
        <p:spPr>
          <a:xfrm>
            <a:off x="358623" y="1437638"/>
            <a:ext cx="1221517" cy="374073"/>
          </a:xfrm>
          <a:prstGeom prst="rect">
            <a:avLst/>
          </a:prstGeom>
          <a:solidFill>
            <a:srgbClr val="6480DC"/>
          </a:solidFill>
          <a:ln>
            <a:solidFill>
              <a:srgbClr val="648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rPr>
              <a:t>ELMO</a:t>
            </a:r>
            <a:endParaRPr kumimoji="0" lang="en-US" altLang="zh-CN" sz="11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9" name="矩形 8"/>
          <p:cNvSpPr/>
          <p:nvPr/>
        </p:nvSpPr>
        <p:spPr>
          <a:xfrm>
            <a:off x="200989" y="1872769"/>
            <a:ext cx="3440801" cy="1257730"/>
          </a:xfrm>
          <a:prstGeom prst="rect">
            <a:avLst/>
          </a:prstGeom>
          <a:noFill/>
          <a:ln w="19050">
            <a:solidFill>
              <a:srgbClr val="6480D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spc="0" normalizeH="0" baseline="0" noProof="0" dirty="0" err="1">
                <a:ln>
                  <a:noFill/>
                </a:ln>
                <a:solidFill>
                  <a:schemeClr val="tx1"/>
                </a:solidFill>
                <a:effectLst/>
                <a:uLnTx/>
                <a:uFillTx/>
                <a:latin typeface="Times New Roman" panose="02020603050405020304"/>
                <a:ea typeface="微软雅黑" panose="020B0503020204020204" charset="-122"/>
                <a:cs typeface="+mn-cs"/>
              </a:rPr>
              <a:t>ELMo</a:t>
            </a:r>
            <a:r>
              <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rPr>
              <a:t> uses a large amount of unlabeled data to train a bidirectional LSTM network, and the </a:t>
            </a:r>
            <a:r>
              <a:rPr kumimoji="0" lang="en-US" altLang="zh-CN" sz="1000" b="0" i="0" u="none" strike="noStrike" kern="1200" cap="none" spc="0" normalizeH="0" baseline="0" noProof="0" dirty="0" err="1">
                <a:ln>
                  <a:noFill/>
                </a:ln>
                <a:solidFill>
                  <a:schemeClr val="tx1"/>
                </a:solidFill>
                <a:effectLst/>
                <a:uLnTx/>
                <a:uFillTx/>
                <a:latin typeface="Times New Roman" panose="02020603050405020304"/>
                <a:ea typeface="微软雅黑" panose="020B0503020204020204" charset="-122"/>
                <a:cs typeface="+mn-cs"/>
              </a:rPr>
              <a:t>biLSTM</a:t>
            </a:r>
            <a:r>
              <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rPr>
              <a:t> obtained after the pre-training is completed can be used to learn context-aware word representations</a:t>
            </a:r>
            <a:endPar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rPr>
              <a:t>Furthermore, </a:t>
            </a:r>
            <a:r>
              <a:rPr kumimoji="0" lang="en-US" altLang="zh-CN" sz="1000" b="0" i="0" u="none" strike="noStrike" kern="1200" cap="none" spc="0" normalizeH="0" baseline="0" noProof="0" dirty="0" err="1">
                <a:ln>
                  <a:noFill/>
                </a:ln>
                <a:solidFill>
                  <a:schemeClr val="tx1"/>
                </a:solidFill>
                <a:effectLst/>
                <a:uLnTx/>
                <a:uFillTx/>
                <a:latin typeface="Times New Roman" panose="02020603050405020304"/>
                <a:ea typeface="微软雅黑" panose="020B0503020204020204" charset="-122"/>
                <a:cs typeface="+mn-cs"/>
              </a:rPr>
              <a:t>ELMo</a:t>
            </a:r>
            <a:r>
              <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rPr>
              <a:t> can fine-tune the </a:t>
            </a:r>
            <a:r>
              <a:rPr kumimoji="0" lang="en-US" altLang="zh-CN" sz="1000" b="0" i="0" u="none" strike="noStrike" kern="1200" cap="none" spc="0" normalizeH="0" baseline="0" noProof="0" dirty="0" err="1">
                <a:ln>
                  <a:noFill/>
                </a:ln>
                <a:solidFill>
                  <a:schemeClr val="tx1"/>
                </a:solidFill>
                <a:effectLst/>
                <a:uLnTx/>
                <a:uFillTx/>
                <a:latin typeface="Times New Roman" panose="02020603050405020304"/>
                <a:ea typeface="微软雅黑" panose="020B0503020204020204" charset="-122"/>
                <a:cs typeface="+mn-cs"/>
              </a:rPr>
              <a:t>biLSTM</a:t>
            </a:r>
            <a:r>
              <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rPr>
              <a:t> network based on downstream task data, so as to achieve task-specific model optimization.</a:t>
            </a:r>
            <a:endPar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endParaRPr>
          </a:p>
        </p:txBody>
      </p:sp>
      <p:sp>
        <p:nvSpPr>
          <p:cNvPr id="10" name="箭头: 右 9"/>
          <p:cNvSpPr/>
          <p:nvPr/>
        </p:nvSpPr>
        <p:spPr>
          <a:xfrm>
            <a:off x="3789375" y="3130499"/>
            <a:ext cx="531690" cy="246484"/>
          </a:xfrm>
          <a:prstGeom prst="rightArrow">
            <a:avLst/>
          </a:prstGeom>
          <a:solidFill>
            <a:srgbClr val="6480DC"/>
          </a:solidFill>
          <a:ln>
            <a:solidFill>
              <a:srgbClr val="648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11" name="矩形 10"/>
          <p:cNvSpPr/>
          <p:nvPr/>
        </p:nvSpPr>
        <p:spPr>
          <a:xfrm>
            <a:off x="4413106" y="1657660"/>
            <a:ext cx="3624878" cy="3172035"/>
          </a:xfrm>
          <a:prstGeom prst="rect">
            <a:avLst/>
          </a:prstGeom>
          <a:noFill/>
          <a:ln w="19050">
            <a:solidFill>
              <a:srgbClr val="6480D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13" name="矩形 12"/>
          <p:cNvSpPr/>
          <p:nvPr/>
        </p:nvSpPr>
        <p:spPr>
          <a:xfrm>
            <a:off x="4684622" y="1437638"/>
            <a:ext cx="2047973" cy="374073"/>
          </a:xfrm>
          <a:prstGeom prst="rect">
            <a:avLst/>
          </a:prstGeom>
          <a:solidFill>
            <a:srgbClr val="6480DC"/>
          </a:solidFill>
          <a:ln>
            <a:solidFill>
              <a:srgbClr val="648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100" dirty="0">
                <a:solidFill>
                  <a:srgbClr val="FFFFFF"/>
                </a:solidFill>
                <a:latin typeface="Times New Roman" panose="02020603050405020304"/>
                <a:ea typeface="微软雅黑" panose="020B0503020204020204" charset="-122"/>
              </a:rPr>
              <a:t>BERT</a:t>
            </a:r>
            <a:endParaRPr kumimoji="0" lang="en-US" altLang="zh-CN" sz="11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14" name="矩形 13"/>
          <p:cNvSpPr/>
          <p:nvPr/>
        </p:nvSpPr>
        <p:spPr>
          <a:xfrm>
            <a:off x="4505144" y="1872769"/>
            <a:ext cx="3440801" cy="1141541"/>
          </a:xfrm>
          <a:prstGeom prst="rect">
            <a:avLst/>
          </a:prstGeom>
          <a:noFill/>
          <a:ln w="19050">
            <a:solidFill>
              <a:srgbClr val="6480D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rPr>
              <a:t>BERT is based on the Transformer architecture and models long program column relationships through a self-attention mechanism.</a:t>
            </a:r>
            <a:endPar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rPr>
              <a:t>An encoder-only Transformer architecture is used.</a:t>
            </a:r>
            <a:endPar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rPr>
              <a:t>Use specially designed pre-trained tasks to learn bidirectional language models on large-scale, unlabeled data.</a:t>
            </a:r>
            <a:endPar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endParaRPr>
          </a:p>
        </p:txBody>
      </p:sp>
      <p:sp>
        <p:nvSpPr>
          <p:cNvPr id="15" name="箭头: 右 14"/>
          <p:cNvSpPr/>
          <p:nvPr/>
        </p:nvSpPr>
        <p:spPr>
          <a:xfrm>
            <a:off x="8104130" y="3014311"/>
            <a:ext cx="531690" cy="246484"/>
          </a:xfrm>
          <a:prstGeom prst="rightArrow">
            <a:avLst/>
          </a:prstGeom>
          <a:solidFill>
            <a:srgbClr val="6480DC"/>
          </a:solidFill>
          <a:ln>
            <a:solidFill>
              <a:srgbClr val="648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16" name="矩形 15"/>
          <p:cNvSpPr/>
          <p:nvPr/>
        </p:nvSpPr>
        <p:spPr>
          <a:xfrm>
            <a:off x="8567122" y="1674777"/>
            <a:ext cx="3515927" cy="3172035"/>
          </a:xfrm>
          <a:prstGeom prst="rect">
            <a:avLst/>
          </a:prstGeom>
          <a:noFill/>
          <a:ln w="19050">
            <a:solidFill>
              <a:srgbClr val="6480D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17" name="矩形 16"/>
          <p:cNvSpPr/>
          <p:nvPr/>
        </p:nvSpPr>
        <p:spPr>
          <a:xfrm>
            <a:off x="8922989" y="1437638"/>
            <a:ext cx="969666" cy="374073"/>
          </a:xfrm>
          <a:prstGeom prst="rect">
            <a:avLst/>
          </a:prstGeom>
          <a:solidFill>
            <a:srgbClr val="6480DC"/>
          </a:solidFill>
          <a:ln>
            <a:solidFill>
              <a:srgbClr val="648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100" dirty="0">
                <a:solidFill>
                  <a:srgbClr val="FFFFFF"/>
                </a:solidFill>
                <a:latin typeface="Times New Roman" panose="02020603050405020304"/>
                <a:ea typeface="微软雅黑" panose="020B0503020204020204" charset="-122"/>
              </a:rPr>
              <a:t>GPT-1</a:t>
            </a:r>
            <a:endParaRPr kumimoji="0" lang="en-US" altLang="zh-CN" sz="1100" b="0" i="0" u="none" strike="noStrike" kern="1200" cap="none" spc="0" normalizeH="0" baseline="0" noProof="0" dirty="0">
              <a:ln>
                <a:noFill/>
              </a:ln>
              <a:solidFill>
                <a:srgbClr val="FFFFFF"/>
              </a:solidFill>
              <a:effectLst/>
              <a:uLnTx/>
              <a:uFillTx/>
              <a:latin typeface="Times New Roman" panose="02020603050405020304"/>
              <a:ea typeface="微软雅黑" panose="020B0503020204020204" charset="-122"/>
              <a:cs typeface="+mn-cs"/>
            </a:endParaRPr>
          </a:p>
        </p:txBody>
      </p:sp>
      <p:sp>
        <p:nvSpPr>
          <p:cNvPr id="18" name="矩形 17"/>
          <p:cNvSpPr/>
          <p:nvPr/>
        </p:nvSpPr>
        <p:spPr>
          <a:xfrm>
            <a:off x="8684958" y="1888406"/>
            <a:ext cx="3280254" cy="897421"/>
          </a:xfrm>
          <a:prstGeom prst="rect">
            <a:avLst/>
          </a:prstGeom>
          <a:noFill/>
          <a:ln w="19050">
            <a:solidFill>
              <a:srgbClr val="6480D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rPr>
              <a:t>GPT-1 uses a decoder-only Transformer architecture and a pre-trained task based on the next token prediction for model training.</a:t>
            </a:r>
            <a:endParaRPr kumimoji="0" lang="en-US" altLang="zh-CN"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endParaRPr>
          </a:p>
        </p:txBody>
      </p:sp>
      <p:pic>
        <p:nvPicPr>
          <p:cNvPr id="20" name="图片 19"/>
          <p:cNvPicPr>
            <a:picLocks noChangeAspect="1"/>
          </p:cNvPicPr>
          <p:nvPr/>
        </p:nvPicPr>
        <p:blipFill>
          <a:blip r:embed="rId1"/>
          <a:stretch>
            <a:fillRect/>
          </a:stretch>
        </p:blipFill>
        <p:spPr>
          <a:xfrm>
            <a:off x="474117" y="3260795"/>
            <a:ext cx="2887719" cy="1398928"/>
          </a:xfrm>
          <a:prstGeom prst="rect">
            <a:avLst/>
          </a:prstGeom>
          <a:ln>
            <a:solidFill>
              <a:srgbClr val="6480DC"/>
            </a:solidFill>
          </a:ln>
        </p:spPr>
      </p:pic>
      <p:pic>
        <p:nvPicPr>
          <p:cNvPr id="21" name="图片 20"/>
          <p:cNvPicPr>
            <a:picLocks noChangeAspect="1"/>
          </p:cNvPicPr>
          <p:nvPr/>
        </p:nvPicPr>
        <p:blipFill>
          <a:blip r:embed="rId2"/>
          <a:stretch>
            <a:fillRect/>
          </a:stretch>
        </p:blipFill>
        <p:spPr>
          <a:xfrm>
            <a:off x="4850203" y="3123354"/>
            <a:ext cx="2775482" cy="1536369"/>
          </a:xfrm>
          <a:prstGeom prst="rect">
            <a:avLst/>
          </a:prstGeom>
          <a:ln>
            <a:solidFill>
              <a:srgbClr val="6480DC"/>
            </a:solidFill>
          </a:ln>
        </p:spPr>
      </p:pic>
      <p:pic>
        <p:nvPicPr>
          <p:cNvPr id="22" name="图片 21"/>
          <p:cNvPicPr>
            <a:picLocks noChangeAspect="1"/>
          </p:cNvPicPr>
          <p:nvPr/>
        </p:nvPicPr>
        <p:blipFill>
          <a:blip r:embed="rId3"/>
          <a:stretch>
            <a:fillRect/>
          </a:stretch>
        </p:blipFill>
        <p:spPr>
          <a:xfrm>
            <a:off x="8730427" y="3123354"/>
            <a:ext cx="3189316" cy="1625199"/>
          </a:xfrm>
          <a:prstGeom prst="rect">
            <a:avLst/>
          </a:prstGeom>
          <a:ln>
            <a:solidFill>
              <a:srgbClr val="6480DC"/>
            </a:solidFill>
          </a:ln>
        </p:spPr>
      </p:pic>
      <p:sp>
        <p:nvSpPr>
          <p:cNvPr id="23" name="文本框 22"/>
          <p:cNvSpPr txBox="1"/>
          <p:nvPr/>
        </p:nvSpPr>
        <p:spPr>
          <a:xfrm>
            <a:off x="3551574" y="418172"/>
            <a:ext cx="5347939" cy="523220"/>
          </a:xfrm>
          <a:prstGeom prst="rect">
            <a:avLst/>
          </a:prstGeom>
          <a:noFill/>
        </p:spPr>
        <p:txBody>
          <a:bodyPr wrap="none" rtlCol="0" anchor="ctr">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en-US" altLang="zh-CN" sz="2800" dirty="0">
                <a:effectLst/>
                <a:latin typeface="Montserrat" panose="00000500000000000000" pitchFamily="2" charset="0"/>
              </a:rPr>
              <a:t>Pretrained language models</a:t>
            </a:r>
            <a:endParaRPr lang="en-US" altLang="zh-CN" sz="2800" dirty="0">
              <a:effectLst/>
              <a:latin typeface="Montserrat" panose="00000500000000000000" pitchFamily="2" charset="0"/>
            </a:endParaRPr>
          </a:p>
        </p:txBody>
      </p:sp>
      <p:sp>
        <p:nvSpPr>
          <p:cNvPr id="24" name="文本框 23"/>
          <p:cNvSpPr txBox="1"/>
          <p:nvPr/>
        </p:nvSpPr>
        <p:spPr>
          <a:xfrm>
            <a:off x="955956" y="4923507"/>
            <a:ext cx="10539173" cy="1569660"/>
          </a:xfrm>
          <a:prstGeom prst="rect">
            <a:avLst/>
          </a:prstGeom>
          <a:noFill/>
        </p:spPr>
        <p:txBody>
          <a:bodyPr wrap="square">
            <a:spAutoFit/>
          </a:bodyPr>
          <a:lstStyle/>
          <a:p>
            <a:pPr marL="285750" indent="-285750">
              <a:buFont typeface="Arial" panose="020B0604020202020204" pitchFamily="34" charset="0"/>
              <a:buChar char="•"/>
            </a:pPr>
            <a:r>
              <a:rPr lang="en-US" altLang="zh-CN" sz="1600" dirty="0">
                <a:latin typeface="Times New Roman" panose="02020603050405020304" charset="0"/>
                <a:cs typeface="Times New Roman" panose="02020603050405020304" charset="0"/>
              </a:rPr>
              <a:t>Compared with the earlier word embedding model, the pre-trained language model has been improved and innovated in two aspects: training architecture and training data.</a:t>
            </a:r>
            <a:endParaRPr lang="en-US" altLang="zh-CN"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zh-CN" sz="1600" dirty="0">
                <a:latin typeface="Times New Roman" panose="02020603050405020304" charset="0"/>
                <a:cs typeface="Times New Roman" panose="02020603050405020304" charset="0"/>
              </a:rPr>
              <a:t>Pre-trained language models represented by </a:t>
            </a:r>
            <a:r>
              <a:rPr lang="en-US" altLang="zh-CN" sz="1600" dirty="0" err="1">
                <a:latin typeface="Times New Roman" panose="02020603050405020304" charset="0"/>
                <a:cs typeface="Times New Roman" panose="02020603050405020304" charset="0"/>
              </a:rPr>
              <a:t>ELMo</a:t>
            </a:r>
            <a:r>
              <a:rPr lang="en-US" altLang="zh-CN" sz="1600" dirty="0">
                <a:latin typeface="Times New Roman" panose="02020603050405020304" charset="0"/>
                <a:cs typeface="Times New Roman" panose="02020603050405020304" charset="0"/>
              </a:rPr>
              <a:t>, BERT, and GPT-1 have established the task solving paradigm of "pre-training-fine-tuning".</a:t>
            </a:r>
            <a:endParaRPr lang="en-US" altLang="zh-CN"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zh-CN" sz="1600" dirty="0">
                <a:latin typeface="Times New Roman" panose="02020603050405020304" charset="0"/>
                <a:cs typeface="Times New Roman" panose="02020603050405020304" charset="0"/>
              </a:rPr>
              <a:t>The pre-training phase aims to build the basic capabilities of the model through large-scale unlabeled text, while the fine-tuning phase uses labeled data to adapt the model to specific tasks.</a:t>
            </a:r>
            <a:endParaRPr lang="en-US" altLang="zh-CN" sz="1600"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文本框 69"/>
          <p:cNvSpPr txBox="1"/>
          <p:nvPr/>
        </p:nvSpPr>
        <p:spPr>
          <a:xfrm>
            <a:off x="3866864" y="428894"/>
            <a:ext cx="4458272" cy="523220"/>
          </a:xfrm>
          <a:prstGeom prst="rect">
            <a:avLst/>
          </a:prstGeom>
          <a:noFill/>
        </p:spPr>
        <p:txBody>
          <a:bodyPr wrap="none" rtlCol="0" anchor="ctr">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en-US" altLang="zh-CN" sz="2800" dirty="0">
                <a:effectLst/>
                <a:latin typeface="Montserrat" panose="00000500000000000000" pitchFamily="2" charset="0"/>
              </a:rPr>
              <a:t>Large language models</a:t>
            </a:r>
            <a:endParaRPr lang="en-US" altLang="zh-CN" sz="2800" dirty="0">
              <a:effectLst/>
              <a:latin typeface="Montserrat" panose="00000500000000000000" pitchFamily="2" charset="0"/>
            </a:endParaRPr>
          </a:p>
        </p:txBody>
      </p:sp>
      <p:cxnSp>
        <p:nvCxnSpPr>
          <p:cNvPr id="71" name="直接连接符 70"/>
          <p:cNvCxnSpPr/>
          <p:nvPr/>
        </p:nvCxnSpPr>
        <p:spPr>
          <a:xfrm>
            <a:off x="5857389" y="1111349"/>
            <a:ext cx="44974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587802" y="4771216"/>
            <a:ext cx="10539173" cy="1815882"/>
          </a:xfrm>
          <a:prstGeom prst="rect">
            <a:avLst/>
          </a:prstGeom>
          <a:noFill/>
        </p:spPr>
        <p:txBody>
          <a:bodyPr wrap="square">
            <a:spAutoFit/>
          </a:bodyPr>
          <a:lstStyle/>
          <a:p>
            <a:pPr marL="285750" indent="-285750">
              <a:buFont typeface="Arial" panose="020B0604020202020204" pitchFamily="34" charset="0"/>
              <a:buChar char="•"/>
            </a:pPr>
            <a:r>
              <a:rPr lang="en-US" altLang="zh-CN" sz="1600" dirty="0">
                <a:latin typeface="Times New Roman" panose="02020603050405020304" charset="0"/>
                <a:cs typeface="Times New Roman" panose="02020603050405020304" charset="0"/>
              </a:rPr>
              <a:t>The researchers found that scaling often leads to improved model performance for downstream tasks, a phenomenon often referred to as the "law of scaling." </a:t>
            </a:r>
            <a:endParaRPr lang="en-US" altLang="zh-CN"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zh-CN" sz="1600" dirty="0">
                <a:latin typeface="Times New Roman" panose="02020603050405020304" charset="0"/>
                <a:cs typeface="Times New Roman" panose="02020603050405020304" charset="0"/>
              </a:rPr>
              <a:t>Some research efforts have attempted to train larger, pre-trained language models to explore the performance limits of scaling language models. These large-scale pre-trained language models exhibit different behaviors than small pre-trained language models when solving complex tasks. </a:t>
            </a:r>
            <a:endParaRPr lang="en-US" altLang="zh-CN"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zh-CN" sz="1600" dirty="0">
                <a:latin typeface="Times New Roman" panose="02020603050405020304" charset="0"/>
                <a:cs typeface="Times New Roman" panose="02020603050405020304" charset="0"/>
              </a:rPr>
              <a:t>In order to distinguish this difference in capabilities, the academic community has named these large pre-trained language models "large language models".</a:t>
            </a:r>
            <a:endParaRPr lang="en-US" altLang="zh-CN" sz="1600" dirty="0">
              <a:latin typeface="Times New Roman" panose="02020603050405020304" charset="0"/>
              <a:cs typeface="Times New Roman" panose="02020603050405020304" charset="0"/>
            </a:endParaRPr>
          </a:p>
        </p:txBody>
      </p:sp>
      <p:pic>
        <p:nvPicPr>
          <p:cNvPr id="2" name="图片 1"/>
          <p:cNvPicPr>
            <a:picLocks noChangeAspect="1"/>
          </p:cNvPicPr>
          <p:nvPr/>
        </p:nvPicPr>
        <p:blipFill>
          <a:blip r:embed="rId1"/>
          <a:stretch>
            <a:fillRect/>
          </a:stretch>
        </p:blipFill>
        <p:spPr>
          <a:xfrm>
            <a:off x="2526305" y="1270585"/>
            <a:ext cx="6662165" cy="334139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120900" y="2956560"/>
            <a:ext cx="8092440" cy="1076325"/>
          </a:xfrm>
          <a:prstGeom prst="rect">
            <a:avLst/>
          </a:prstGeom>
          <a:noFill/>
        </p:spPr>
        <p:txBody>
          <a:bodyPr wrap="square" rtlCol="0">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pPr algn="ctr"/>
            <a:r>
              <a:rPr lang="en-US" altLang="zh-CN" sz="3200" spc="150" dirty="0">
                <a:effectLst/>
                <a:latin typeface="+mn-lt"/>
              </a:rPr>
              <a:t>Fine-tuning Techniques for Large Language Models</a:t>
            </a:r>
            <a:endParaRPr lang="en-US" altLang="zh-CN" sz="3200" spc="150" dirty="0">
              <a:effectLst/>
              <a:latin typeface="+mn-lt"/>
            </a:endParaRPr>
          </a:p>
        </p:txBody>
      </p:sp>
      <p:sp>
        <p:nvSpPr>
          <p:cNvPr id="14" name="任意多边形 103"/>
          <p:cNvSpPr/>
          <p:nvPr/>
        </p:nvSpPr>
        <p:spPr>
          <a:xfrm>
            <a:off x="5649327" y="1446272"/>
            <a:ext cx="900109" cy="1044125"/>
          </a:xfrm>
          <a:custGeom>
            <a:avLst/>
            <a:gdLst>
              <a:gd name="connsiteX0" fmla="*/ 317019 w 634036"/>
              <a:gd name="connsiteY0" fmla="*/ 0 h 735481"/>
              <a:gd name="connsiteX1" fmla="*/ 634036 w 634036"/>
              <a:gd name="connsiteY1" fmla="*/ 180548 h 735481"/>
              <a:gd name="connsiteX2" fmla="*/ 634036 w 634036"/>
              <a:gd name="connsiteY2" fmla="*/ 554933 h 735481"/>
              <a:gd name="connsiteX3" fmla="*/ 317019 w 634036"/>
              <a:gd name="connsiteY3" fmla="*/ 735481 h 735481"/>
              <a:gd name="connsiteX4" fmla="*/ 0 w 634036"/>
              <a:gd name="connsiteY4" fmla="*/ 554933 h 735481"/>
              <a:gd name="connsiteX5" fmla="*/ 0 w 634036"/>
              <a:gd name="connsiteY5" fmla="*/ 180548 h 735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4036" h="735481">
                <a:moveTo>
                  <a:pt x="317019" y="0"/>
                </a:moveTo>
                <a:lnTo>
                  <a:pt x="634036" y="180548"/>
                </a:lnTo>
                <a:lnTo>
                  <a:pt x="634036" y="554933"/>
                </a:lnTo>
                <a:lnTo>
                  <a:pt x="317019" y="735481"/>
                </a:lnTo>
                <a:lnTo>
                  <a:pt x="0" y="554933"/>
                </a:lnTo>
                <a:lnTo>
                  <a:pt x="0" y="180548"/>
                </a:lnTo>
                <a:close/>
              </a:path>
            </a:pathLst>
          </a:custGeom>
          <a:gradFill>
            <a:gsLst>
              <a:gs pos="7000">
                <a:srgbClr val="4C53C8"/>
              </a:gs>
              <a:gs pos="100000">
                <a:srgbClr val="7198E7"/>
              </a:gs>
            </a:gsLst>
            <a:lin ang="18600000" scaled="0"/>
          </a:gradFill>
          <a:ln w="57150">
            <a:solidFill>
              <a:srgbClr val="F4F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bg1"/>
                </a:solidFill>
                <a:latin typeface="+mj-lt"/>
                <a:ea typeface="+mj-ea"/>
              </a:rPr>
              <a:t>02</a:t>
            </a:r>
            <a:endParaRPr lang="zh-CN" altLang="en-US" sz="3600" dirty="0">
              <a:solidFill>
                <a:schemeClr val="bg1"/>
              </a:solidFill>
              <a:latin typeface="+mj-lt"/>
              <a:ea typeface="+mj-ea"/>
            </a:endParaRPr>
          </a:p>
        </p:txBody>
      </p:sp>
      <p:cxnSp>
        <p:nvCxnSpPr>
          <p:cNvPr id="16" name="直接连接符 15"/>
          <p:cNvCxnSpPr/>
          <p:nvPr/>
        </p:nvCxnSpPr>
        <p:spPr>
          <a:xfrm>
            <a:off x="5924547" y="4499192"/>
            <a:ext cx="342906" cy="0"/>
          </a:xfrm>
          <a:prstGeom prst="line">
            <a:avLst/>
          </a:prstGeom>
          <a:ln w="28575">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圆角 18"/>
          <p:cNvSpPr/>
          <p:nvPr/>
        </p:nvSpPr>
        <p:spPr>
          <a:xfrm>
            <a:off x="1143000" y="3429000"/>
            <a:ext cx="9857678" cy="2677160"/>
          </a:xfrm>
          <a:prstGeom prst="roundRect">
            <a:avLst>
              <a:gd name="adj" fmla="val 2073"/>
            </a:avLst>
          </a:prstGeom>
          <a:solidFill>
            <a:srgbClr val="ECF1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1317507" y="3726090"/>
            <a:ext cx="9465721" cy="461665"/>
          </a:xfrm>
          <a:prstGeom prst="rect">
            <a:avLst/>
          </a:prstGeom>
          <a:noFill/>
        </p:spPr>
        <p:txBody>
          <a:bodyPr wrap="square">
            <a:spAutoFit/>
          </a:bodyPr>
          <a:lstStyle>
            <a:defPPr>
              <a:defRPr lang="zh-CN"/>
            </a:defPPr>
            <a:lvl1pPr>
              <a:defRPr sz="1400" b="1">
                <a:solidFill>
                  <a:schemeClr val="tx2"/>
                </a:solidFill>
              </a:defRPr>
            </a:lvl1pPr>
          </a:lstStyle>
          <a:p>
            <a:r>
              <a:rPr lang="en-US" altLang="zh-CN" sz="2400" dirty="0">
                <a:latin typeface="Times New Roman" panose="02020603050405020304" charset="0"/>
                <a:cs typeface="Times New Roman" panose="02020603050405020304" charset="0"/>
              </a:rPr>
              <a:t>So why incorporate fine-tuning techniques into large language models?</a:t>
            </a:r>
            <a:endParaRPr lang="en-US" altLang="zh-CN" sz="1800" b="0" dirty="0">
              <a:solidFill>
                <a:schemeClr val="accent1"/>
              </a:solidFill>
              <a:latin typeface="Times New Roman" panose="02020603050405020304" charset="0"/>
              <a:ea typeface="+mj-ea"/>
              <a:cs typeface="Times New Roman" panose="02020603050405020304" charset="0"/>
            </a:endParaRPr>
          </a:p>
        </p:txBody>
      </p:sp>
      <p:sp>
        <p:nvSpPr>
          <p:cNvPr id="24" name="文本框 23"/>
          <p:cNvSpPr txBox="1"/>
          <p:nvPr/>
        </p:nvSpPr>
        <p:spPr>
          <a:xfrm>
            <a:off x="1317507" y="4189537"/>
            <a:ext cx="9465721" cy="1156086"/>
          </a:xfrm>
          <a:prstGeom prst="rect">
            <a:avLst/>
          </a:prstGeom>
        </p:spPr>
        <p:txBody>
          <a:bodyPr wrap="square">
            <a:spAutoFit/>
            <a:scene3d>
              <a:camera prst="orthographicFront"/>
              <a:lightRig rig="threePt" dir="t"/>
            </a:scene3d>
            <a:sp3d contourW="12700"/>
          </a:bodyPr>
          <a:lstStyle>
            <a:defPPr>
              <a:defRPr lang="zh-CN"/>
            </a:defPPr>
            <a:lvl1pPr>
              <a:lnSpc>
                <a:spcPct val="150000"/>
              </a:lnSpc>
              <a:spcBef>
                <a:spcPts val="1200"/>
              </a:spcBef>
              <a:defRPr sz="1100" spc="100">
                <a:solidFill>
                  <a:schemeClr val="tx2"/>
                </a:solidFill>
                <a:latin typeface="微软雅黑" panose="020B050302020402020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sz="1600" dirty="0">
                <a:latin typeface="Times New Roman" panose="02020603050405020304" charset="0"/>
                <a:cs typeface="Times New Roman" panose="02020603050405020304" charset="0"/>
              </a:rPr>
              <a:t>The core reason is to provide the model with more customized functionalities. While general large models are powerful, they may perform poorly in specific domains. Fine-tuning allows the model to better adapt to the needs and characteristics of a particular domain.</a:t>
            </a:r>
            <a:endParaRPr lang="zh-CN" altLang="en-US" sz="1600" dirty="0">
              <a:solidFill>
                <a:schemeClr val="tx2"/>
              </a:solidFill>
              <a:latin typeface="Times New Roman" panose="02020603050405020304" charset="0"/>
              <a:cs typeface="Times New Roman" panose="02020603050405020304" charset="0"/>
            </a:endParaRPr>
          </a:p>
        </p:txBody>
      </p:sp>
      <p:sp>
        <p:nvSpPr>
          <p:cNvPr id="28" name="矩形: 圆角 27"/>
          <p:cNvSpPr/>
          <p:nvPr/>
        </p:nvSpPr>
        <p:spPr>
          <a:xfrm>
            <a:off x="7060580" y="1111349"/>
            <a:ext cx="4821044" cy="2142294"/>
          </a:xfrm>
          <a:prstGeom prst="roundRect">
            <a:avLst>
              <a:gd name="adj" fmla="val 13319"/>
            </a:avLst>
          </a:prstGeom>
          <a:gradFill>
            <a:gsLst>
              <a:gs pos="7000">
                <a:schemeClr val="accent1"/>
              </a:gs>
              <a:gs pos="100000">
                <a:schemeClr val="accent2"/>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t>A basic explanation is that fine-tuning involves targeted optimization of a pre-trained model using domain-specific data to enhance its performance on specific tasks.</a:t>
            </a:r>
            <a:endParaRPr lang="zh-CN" altLang="en-US" dirty="0"/>
          </a:p>
        </p:txBody>
      </p:sp>
      <p:sp>
        <p:nvSpPr>
          <p:cNvPr id="31" name="文本框 30"/>
          <p:cNvSpPr txBox="1"/>
          <p:nvPr/>
        </p:nvSpPr>
        <p:spPr>
          <a:xfrm>
            <a:off x="1137955" y="1889417"/>
            <a:ext cx="5840996" cy="458074"/>
          </a:xfrm>
          <a:prstGeom prst="rect">
            <a:avLst/>
          </a:prstGeom>
        </p:spPr>
        <p:txBody>
          <a:bodyPr wrap="square">
            <a:spAutoFit/>
            <a:scene3d>
              <a:camera prst="orthographicFront"/>
              <a:lightRig rig="threePt" dir="t"/>
            </a:scene3d>
            <a:sp3d contourW="12700"/>
          </a:bodyPr>
          <a:lstStyle>
            <a:defPPr>
              <a:defRPr lang="zh-CN"/>
            </a:defPPr>
            <a:lvl1pPr>
              <a:lnSpc>
                <a:spcPct val="150000"/>
              </a:lnSpc>
              <a:spcBef>
                <a:spcPts val="1200"/>
              </a:spcBef>
              <a:defRPr sz="1100" spc="100">
                <a:solidFill>
                  <a:prstClr val="black">
                    <a:lumMod val="75000"/>
                    <a:lumOff val="25000"/>
                  </a:prstClr>
                </a:solidFill>
                <a:latin typeface="微软雅黑" panose="020B0503020204020204" charset="-122"/>
              </a:defRPr>
            </a:lvl1pPr>
          </a:lstStyle>
          <a:p>
            <a:r>
              <a:rPr lang="en-US" altLang="zh-CN" sz="1800" b="1" dirty="0">
                <a:latin typeface="Times New Roman" panose="02020603050405020304" charset="0"/>
                <a:cs typeface="Times New Roman" panose="02020603050405020304" charset="0"/>
              </a:rPr>
              <a:t>Here is a question: What is fine-tuning technology?</a:t>
            </a:r>
            <a:endParaRPr lang="zh-CN" altLang="en-US" sz="1800" b="1" dirty="0">
              <a:solidFill>
                <a:schemeClr val="tx2"/>
              </a:solidFill>
              <a:latin typeface="Times New Roman" panose="02020603050405020304" charset="0"/>
              <a:cs typeface="Times New Roman" panose="02020603050405020304" charset="0"/>
            </a:endParaRPr>
          </a:p>
        </p:txBody>
      </p:sp>
      <p:grpSp>
        <p:nvGrpSpPr>
          <p:cNvPr id="32" name="组合 31"/>
          <p:cNvGrpSpPr/>
          <p:nvPr/>
        </p:nvGrpSpPr>
        <p:grpSpPr>
          <a:xfrm>
            <a:off x="5968592" y="5556151"/>
            <a:ext cx="381000" cy="381000"/>
            <a:chOff x="4829175" y="521648"/>
            <a:chExt cx="381000" cy="381000"/>
          </a:xfrm>
        </p:grpSpPr>
        <p:sp>
          <p:nvSpPr>
            <p:cNvPr id="33" name="任意多边形: 形状 32"/>
            <p:cNvSpPr/>
            <p:nvPr/>
          </p:nvSpPr>
          <p:spPr>
            <a:xfrm>
              <a:off x="4829175" y="521648"/>
              <a:ext cx="381000" cy="381000"/>
            </a:xfrm>
            <a:custGeom>
              <a:avLst/>
              <a:gdLst>
                <a:gd name="connsiteX0" fmla="*/ 190500 w 381000"/>
                <a:gd name="connsiteY0" fmla="*/ 381000 h 381000"/>
                <a:gd name="connsiteX1" fmla="*/ 325204 w 381000"/>
                <a:gd name="connsiteY1" fmla="*/ 325204 h 381000"/>
                <a:gd name="connsiteX2" fmla="*/ 381000 w 381000"/>
                <a:gd name="connsiteY2" fmla="*/ 190500 h 381000"/>
                <a:gd name="connsiteX3" fmla="*/ 325204 w 381000"/>
                <a:gd name="connsiteY3" fmla="*/ 55796 h 381000"/>
                <a:gd name="connsiteX4" fmla="*/ 190500 w 381000"/>
                <a:gd name="connsiteY4" fmla="*/ 0 h 381000"/>
                <a:gd name="connsiteX5" fmla="*/ 55796 w 381000"/>
                <a:gd name="connsiteY5" fmla="*/ 55796 h 381000"/>
                <a:gd name="connsiteX6" fmla="*/ 0 w 381000"/>
                <a:gd name="connsiteY6" fmla="*/ 190500 h 381000"/>
                <a:gd name="connsiteX7" fmla="*/ 55796 w 381000"/>
                <a:gd name="connsiteY7" fmla="*/ 325204 h 381000"/>
                <a:gd name="connsiteX8" fmla="*/ 190500 w 381000"/>
                <a:gd name="connsiteY8" fmla="*/ 38100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1000" h="381000">
                  <a:moveTo>
                    <a:pt x="190500" y="381000"/>
                  </a:moveTo>
                  <a:cubicBezTo>
                    <a:pt x="243105" y="381000"/>
                    <a:pt x="290730" y="359677"/>
                    <a:pt x="325204" y="325204"/>
                  </a:cubicBezTo>
                  <a:cubicBezTo>
                    <a:pt x="359677" y="290730"/>
                    <a:pt x="381000" y="243105"/>
                    <a:pt x="381000" y="190500"/>
                  </a:cubicBezTo>
                  <a:cubicBezTo>
                    <a:pt x="381000" y="137895"/>
                    <a:pt x="359677" y="90270"/>
                    <a:pt x="325204" y="55796"/>
                  </a:cubicBezTo>
                  <a:cubicBezTo>
                    <a:pt x="290730" y="21322"/>
                    <a:pt x="243105" y="0"/>
                    <a:pt x="190500" y="0"/>
                  </a:cubicBezTo>
                  <a:cubicBezTo>
                    <a:pt x="137895" y="0"/>
                    <a:pt x="90270" y="21322"/>
                    <a:pt x="55796" y="55796"/>
                  </a:cubicBezTo>
                  <a:cubicBezTo>
                    <a:pt x="21322" y="90270"/>
                    <a:pt x="0" y="137895"/>
                    <a:pt x="0" y="190500"/>
                  </a:cubicBezTo>
                  <a:cubicBezTo>
                    <a:pt x="0" y="243105"/>
                    <a:pt x="21322" y="290730"/>
                    <a:pt x="55796" y="325204"/>
                  </a:cubicBezTo>
                  <a:cubicBezTo>
                    <a:pt x="90270" y="359677"/>
                    <a:pt x="137895" y="381000"/>
                    <a:pt x="190500" y="381000"/>
                  </a:cubicBezTo>
                  <a:close/>
                </a:path>
              </a:pathLst>
            </a:custGeom>
            <a:noFill/>
            <a:ln w="28575" cap="flat">
              <a:gradFill>
                <a:gsLst>
                  <a:gs pos="0">
                    <a:schemeClr val="accent1"/>
                  </a:gs>
                  <a:gs pos="100000">
                    <a:schemeClr val="accent2"/>
                  </a:gs>
                </a:gsLst>
                <a:lin ang="5400000" scaled="1"/>
              </a:gradFill>
              <a:prstDash val="solid"/>
              <a:round/>
            </a:ln>
          </p:spPr>
          <p:txBody>
            <a:bodyPr rtlCol="0" anchor="ctr"/>
            <a:lstStyle/>
            <a:p>
              <a:endParaRPr lang="zh-CN" altLang="en-US"/>
            </a:p>
          </p:txBody>
        </p:sp>
        <p:sp>
          <p:nvSpPr>
            <p:cNvPr id="34" name="任意多边形: 形状 33"/>
            <p:cNvSpPr/>
            <p:nvPr/>
          </p:nvSpPr>
          <p:spPr>
            <a:xfrm>
              <a:off x="4943475" y="654998"/>
              <a:ext cx="171450" cy="114300"/>
            </a:xfrm>
            <a:custGeom>
              <a:avLst/>
              <a:gdLst>
                <a:gd name="connsiteX0" fmla="*/ 0 w 171450"/>
                <a:gd name="connsiteY0" fmla="*/ 57150 h 114300"/>
                <a:gd name="connsiteX1" fmla="*/ 57150 w 171450"/>
                <a:gd name="connsiteY1" fmla="*/ 114300 h 114300"/>
                <a:gd name="connsiteX2" fmla="*/ 171450 w 171450"/>
                <a:gd name="connsiteY2" fmla="*/ 0 h 114300"/>
              </a:gdLst>
              <a:ahLst/>
              <a:cxnLst>
                <a:cxn ang="0">
                  <a:pos x="connsiteX0" y="connsiteY0"/>
                </a:cxn>
                <a:cxn ang="0">
                  <a:pos x="connsiteX1" y="connsiteY1"/>
                </a:cxn>
                <a:cxn ang="0">
                  <a:pos x="connsiteX2" y="connsiteY2"/>
                </a:cxn>
              </a:cxnLst>
              <a:rect l="l" t="t" r="r" b="b"/>
              <a:pathLst>
                <a:path w="171450" h="114300">
                  <a:moveTo>
                    <a:pt x="0" y="57150"/>
                  </a:moveTo>
                  <a:lnTo>
                    <a:pt x="57150" y="114300"/>
                  </a:lnTo>
                  <a:lnTo>
                    <a:pt x="171450" y="0"/>
                  </a:lnTo>
                </a:path>
              </a:pathLst>
            </a:custGeom>
            <a:noFill/>
            <a:ln w="28575" cap="rnd">
              <a:gradFill>
                <a:gsLst>
                  <a:gs pos="0">
                    <a:schemeClr val="accent1"/>
                  </a:gs>
                  <a:gs pos="100000">
                    <a:schemeClr val="accent2"/>
                  </a:gs>
                </a:gsLst>
                <a:lin ang="5400000" scaled="1"/>
              </a:gradFill>
              <a:prstDash val="solid"/>
              <a:round/>
            </a:ln>
          </p:spPr>
          <p:txBody>
            <a:bodyPr rtlCol="0" anchor="ctr"/>
            <a:lstStyle/>
            <a:p>
              <a:endParaRPr lang="zh-CN" altLang="en-US"/>
            </a:p>
          </p:txBody>
        </p:sp>
      </p:grpSp>
      <p:sp>
        <p:nvSpPr>
          <p:cNvPr id="2" name="文本框 1"/>
          <p:cNvSpPr txBox="1"/>
          <p:nvPr/>
        </p:nvSpPr>
        <p:spPr>
          <a:xfrm>
            <a:off x="4886534" y="414190"/>
            <a:ext cx="2419350" cy="521970"/>
          </a:xfrm>
          <a:prstGeom prst="rect">
            <a:avLst/>
          </a:prstGeom>
          <a:noFill/>
        </p:spPr>
        <p:txBody>
          <a:bodyPr wrap="none" rtlCol="0" anchor="ctr">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en-US" altLang="zh-CN" sz="2800" dirty="0">
                <a:effectLst/>
                <a:latin typeface="Montserrat" panose="00000500000000000000" pitchFamily="2" charset="0"/>
              </a:rPr>
              <a:t>Introduction</a:t>
            </a:r>
            <a:endParaRPr lang="en-US" altLang="zh-CN" sz="2800" dirty="0">
              <a:effectLst/>
              <a:latin typeface="Montserrat" panose="00000500000000000000" pitchFamily="2" charset="0"/>
            </a:endParaRPr>
          </a:p>
        </p:txBody>
      </p:sp>
      <p:cxnSp>
        <p:nvCxnSpPr>
          <p:cNvPr id="3" name="直接连接符 2"/>
          <p:cNvCxnSpPr/>
          <p:nvPr/>
        </p:nvCxnSpPr>
        <p:spPr>
          <a:xfrm>
            <a:off x="5857389" y="1111349"/>
            <a:ext cx="44974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对角圆角 1"/>
          <p:cNvSpPr/>
          <p:nvPr/>
        </p:nvSpPr>
        <p:spPr>
          <a:xfrm>
            <a:off x="564822" y="2080124"/>
            <a:ext cx="3286760" cy="1729212"/>
          </a:xfrm>
          <a:prstGeom prst="round2DiagRect">
            <a:avLst/>
          </a:prstGeom>
          <a:gradFill>
            <a:gsLst>
              <a:gs pos="7000">
                <a:schemeClr val="accent1"/>
              </a:gs>
              <a:gs pos="100000">
                <a:schemeClr val="accent2"/>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3" name="文本框 2"/>
          <p:cNvSpPr txBox="1"/>
          <p:nvPr/>
        </p:nvSpPr>
        <p:spPr>
          <a:xfrm>
            <a:off x="2937337" y="3099089"/>
            <a:ext cx="832279" cy="830997"/>
          </a:xfrm>
          <a:prstGeom prst="rect">
            <a:avLst/>
          </a:prstGeom>
          <a:noFill/>
        </p:spPr>
        <p:txBody>
          <a:bodyPr wrap="none" rtlCol="0">
            <a:spAutoFit/>
          </a:bodyPr>
          <a:lstStyle/>
          <a:p>
            <a:r>
              <a:rPr lang="en-US" altLang="zh-CN" sz="4800" dirty="0">
                <a:solidFill>
                  <a:schemeClr val="accent1">
                    <a:lumMod val="40000"/>
                    <a:lumOff val="60000"/>
                  </a:schemeClr>
                </a:solidFill>
                <a:latin typeface="+mj-lt"/>
              </a:rPr>
              <a:t>01</a:t>
            </a:r>
            <a:endParaRPr lang="zh-CN" altLang="en-US" sz="4800" dirty="0">
              <a:solidFill>
                <a:schemeClr val="accent1">
                  <a:lumMod val="40000"/>
                  <a:lumOff val="60000"/>
                </a:schemeClr>
              </a:solidFill>
              <a:latin typeface="+mj-lt"/>
            </a:endParaRPr>
          </a:p>
        </p:txBody>
      </p:sp>
      <p:sp>
        <p:nvSpPr>
          <p:cNvPr id="7" name="文本框 6"/>
          <p:cNvSpPr txBox="1"/>
          <p:nvPr/>
        </p:nvSpPr>
        <p:spPr>
          <a:xfrm>
            <a:off x="520778" y="2446822"/>
            <a:ext cx="3374847" cy="579967"/>
          </a:xfrm>
          <a:prstGeom prst="rect">
            <a:avLst/>
          </a:prstGeom>
        </p:spPr>
        <p:txBody>
          <a:bodyPr wrap="square">
            <a:spAutoFit/>
            <a:scene3d>
              <a:camera prst="orthographicFront"/>
              <a:lightRig rig="threePt" dir="t"/>
            </a:scene3d>
            <a:sp3d contourW="12700"/>
          </a:bodyPr>
          <a:lstStyle>
            <a:defPPr>
              <a:defRPr lang="zh-CN"/>
            </a:defPPr>
            <a:lvl1pPr>
              <a:lnSpc>
                <a:spcPct val="150000"/>
              </a:lnSpc>
              <a:spcBef>
                <a:spcPts val="1200"/>
              </a:spcBef>
              <a:defRPr sz="1100" spc="100">
                <a:solidFill>
                  <a:prstClr val="black">
                    <a:lumMod val="75000"/>
                    <a:lumOff val="25000"/>
                  </a:prstClr>
                </a:solidFill>
                <a:latin typeface="微软雅黑" panose="020B0503020204020204" charset="-122"/>
              </a:defRPr>
            </a:lvl1pPr>
          </a:lstStyle>
          <a:p>
            <a:r>
              <a:rPr lang="en-US" altLang="zh-CN" sz="2400" i="0" dirty="0">
                <a:solidFill>
                  <a:schemeClr val="bg1"/>
                </a:solidFill>
                <a:effectLst/>
                <a:latin typeface="Times New Roman" panose="02020603050405020304" charset="0"/>
                <a:cs typeface="Times New Roman" panose="02020603050405020304" charset="0"/>
              </a:rPr>
              <a:t>Technical Development</a:t>
            </a:r>
            <a:endParaRPr lang="zh-CN" altLang="en-US" sz="2400" dirty="0">
              <a:solidFill>
                <a:schemeClr val="bg1"/>
              </a:solidFill>
              <a:latin typeface="Times New Roman" panose="02020603050405020304" charset="0"/>
              <a:cs typeface="Times New Roman" panose="02020603050405020304" charset="0"/>
            </a:endParaRPr>
          </a:p>
        </p:txBody>
      </p:sp>
      <p:sp>
        <p:nvSpPr>
          <p:cNvPr id="9" name="矩形: 对角圆角 8"/>
          <p:cNvSpPr/>
          <p:nvPr/>
        </p:nvSpPr>
        <p:spPr>
          <a:xfrm>
            <a:off x="4461182" y="2080123"/>
            <a:ext cx="3286760" cy="1734293"/>
          </a:xfrm>
          <a:prstGeom prst="round2DiagRect">
            <a:avLst/>
          </a:prstGeom>
          <a:gradFill>
            <a:gsLst>
              <a:gs pos="0">
                <a:schemeClr val="accent1">
                  <a:lumMod val="20000"/>
                  <a:lumOff val="80000"/>
                </a:schemeClr>
              </a:gs>
              <a:gs pos="100000">
                <a:schemeClr val="accent2">
                  <a:lumMod val="20000"/>
                  <a:lumOff val="80000"/>
                  <a:alpha val="20000"/>
                </a:schemeClr>
              </a:gs>
            </a:gsLst>
            <a:lin ang="5400000" scaled="1"/>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6739704" y="3120039"/>
            <a:ext cx="955711" cy="830997"/>
          </a:xfrm>
          <a:prstGeom prst="rect">
            <a:avLst/>
          </a:prstGeom>
          <a:noFill/>
        </p:spPr>
        <p:txBody>
          <a:bodyPr wrap="none" rtlCol="0">
            <a:spAutoFit/>
          </a:bodyPr>
          <a:lstStyle/>
          <a:p>
            <a:r>
              <a:rPr lang="en-US" altLang="zh-CN" sz="4800" dirty="0">
                <a:solidFill>
                  <a:schemeClr val="accent1">
                    <a:lumMod val="40000"/>
                    <a:lumOff val="60000"/>
                  </a:schemeClr>
                </a:solidFill>
                <a:latin typeface="+mj-lt"/>
              </a:rPr>
              <a:t>02</a:t>
            </a:r>
            <a:endParaRPr lang="zh-CN" altLang="en-US" sz="4800" dirty="0">
              <a:solidFill>
                <a:schemeClr val="accent1">
                  <a:lumMod val="40000"/>
                  <a:lumOff val="60000"/>
                </a:schemeClr>
              </a:solidFill>
              <a:latin typeface="+mj-lt"/>
            </a:endParaRPr>
          </a:p>
        </p:txBody>
      </p:sp>
      <p:sp>
        <p:nvSpPr>
          <p:cNvPr id="14" name="文本框 13"/>
          <p:cNvSpPr txBox="1"/>
          <p:nvPr/>
        </p:nvSpPr>
        <p:spPr>
          <a:xfrm>
            <a:off x="4659909" y="2151266"/>
            <a:ext cx="3203459" cy="1133965"/>
          </a:xfrm>
          <a:prstGeom prst="rect">
            <a:avLst/>
          </a:prstGeom>
        </p:spPr>
        <p:txBody>
          <a:bodyPr wrap="square">
            <a:spAutoFit/>
            <a:scene3d>
              <a:camera prst="orthographicFront"/>
              <a:lightRig rig="threePt" dir="t"/>
            </a:scene3d>
            <a:sp3d contourW="12700"/>
          </a:bodyPr>
          <a:lstStyle>
            <a:defPPr>
              <a:defRPr lang="zh-CN"/>
            </a:defPPr>
            <a:lvl1pPr>
              <a:lnSpc>
                <a:spcPct val="150000"/>
              </a:lnSpc>
              <a:spcBef>
                <a:spcPts val="1200"/>
              </a:spcBef>
              <a:defRPr sz="1100" spc="100">
                <a:solidFill>
                  <a:prstClr val="black">
                    <a:lumMod val="75000"/>
                    <a:lumOff val="25000"/>
                  </a:prstClr>
                </a:solidFill>
                <a:latin typeface="微软雅黑" panose="020B0503020204020204" charset="-122"/>
              </a:defRPr>
            </a:lvl1pPr>
          </a:lstStyle>
          <a:p>
            <a:pPr algn="l"/>
            <a:r>
              <a:rPr lang="en-US" altLang="zh-CN" sz="2400" b="0" i="0" dirty="0">
                <a:solidFill>
                  <a:srgbClr val="060607"/>
                </a:solidFill>
                <a:effectLst/>
                <a:latin typeface="Times New Roman" panose="02020603050405020304" charset="0"/>
                <a:cs typeface="Times New Roman" panose="02020603050405020304" charset="0"/>
              </a:rPr>
              <a:t>Representative Fine-tuning Techniques</a:t>
            </a:r>
            <a:endParaRPr lang="en-US" altLang="zh-CN" sz="2400" b="0" i="0" dirty="0">
              <a:solidFill>
                <a:srgbClr val="060607"/>
              </a:solidFill>
              <a:effectLst/>
              <a:latin typeface="Times New Roman" panose="02020603050405020304" charset="0"/>
              <a:cs typeface="Times New Roman" panose="02020603050405020304" charset="0"/>
            </a:endParaRPr>
          </a:p>
        </p:txBody>
      </p:sp>
      <p:sp>
        <p:nvSpPr>
          <p:cNvPr id="16" name="矩形: 对角圆角 15"/>
          <p:cNvSpPr/>
          <p:nvPr/>
        </p:nvSpPr>
        <p:spPr>
          <a:xfrm>
            <a:off x="8321982" y="2080123"/>
            <a:ext cx="3286760" cy="1734294"/>
          </a:xfrm>
          <a:prstGeom prst="round2DiagRect">
            <a:avLst/>
          </a:prstGeom>
          <a:gradFill>
            <a:gsLst>
              <a:gs pos="7000">
                <a:schemeClr val="accent1"/>
              </a:gs>
              <a:gs pos="100000">
                <a:schemeClr val="accent2"/>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17" name="文本框 16"/>
          <p:cNvSpPr txBox="1"/>
          <p:nvPr/>
        </p:nvSpPr>
        <p:spPr>
          <a:xfrm>
            <a:off x="10583537" y="3104278"/>
            <a:ext cx="955711" cy="830997"/>
          </a:xfrm>
          <a:prstGeom prst="rect">
            <a:avLst/>
          </a:prstGeom>
          <a:noFill/>
        </p:spPr>
        <p:txBody>
          <a:bodyPr wrap="none" rtlCol="0">
            <a:spAutoFit/>
          </a:bodyPr>
          <a:lstStyle/>
          <a:p>
            <a:r>
              <a:rPr lang="en-US" altLang="zh-CN" sz="4800" dirty="0">
                <a:solidFill>
                  <a:schemeClr val="accent1">
                    <a:lumMod val="40000"/>
                    <a:lumOff val="60000"/>
                  </a:schemeClr>
                </a:solidFill>
                <a:latin typeface="+mj-lt"/>
              </a:rPr>
              <a:t>03</a:t>
            </a:r>
            <a:endParaRPr lang="zh-CN" altLang="en-US" sz="4800" dirty="0">
              <a:solidFill>
                <a:schemeClr val="accent1">
                  <a:lumMod val="40000"/>
                  <a:lumOff val="60000"/>
                </a:schemeClr>
              </a:solidFill>
              <a:latin typeface="+mj-lt"/>
            </a:endParaRPr>
          </a:p>
        </p:txBody>
      </p:sp>
      <p:sp>
        <p:nvSpPr>
          <p:cNvPr id="21" name="文本框 20"/>
          <p:cNvSpPr txBox="1"/>
          <p:nvPr/>
        </p:nvSpPr>
        <p:spPr>
          <a:xfrm>
            <a:off x="8573901" y="2403453"/>
            <a:ext cx="3286760" cy="579967"/>
          </a:xfrm>
          <a:prstGeom prst="rect">
            <a:avLst/>
          </a:prstGeom>
        </p:spPr>
        <p:txBody>
          <a:bodyPr wrap="square">
            <a:spAutoFit/>
            <a:scene3d>
              <a:camera prst="orthographicFront"/>
              <a:lightRig rig="threePt" dir="t"/>
            </a:scene3d>
            <a:sp3d contourW="12700"/>
          </a:bodyPr>
          <a:lstStyle>
            <a:defPPr>
              <a:defRPr lang="zh-CN"/>
            </a:defPPr>
            <a:lvl1pPr>
              <a:lnSpc>
                <a:spcPct val="150000"/>
              </a:lnSpc>
              <a:spcBef>
                <a:spcPts val="1200"/>
              </a:spcBef>
              <a:defRPr sz="1100" spc="100">
                <a:solidFill>
                  <a:prstClr val="black">
                    <a:lumMod val="75000"/>
                    <a:lumOff val="25000"/>
                  </a:prstClr>
                </a:solidFill>
                <a:latin typeface="微软雅黑" panose="020B0503020204020204" charset="-122"/>
              </a:defRPr>
            </a:lvl1pPr>
          </a:lstStyle>
          <a:p>
            <a:pPr algn="l"/>
            <a:r>
              <a:rPr lang="en-US" altLang="zh-CN" sz="2400" b="0" i="0" dirty="0">
                <a:solidFill>
                  <a:schemeClr val="bg1"/>
                </a:solidFill>
                <a:effectLst/>
                <a:latin typeface="Times New Roman" panose="02020603050405020304" charset="0"/>
                <a:cs typeface="Times New Roman" panose="02020603050405020304" charset="0"/>
              </a:rPr>
              <a:t>Technical Summary</a:t>
            </a:r>
            <a:endParaRPr lang="en-US" altLang="zh-CN" sz="2400" b="0" i="0" dirty="0">
              <a:solidFill>
                <a:schemeClr val="bg1"/>
              </a:solidFill>
              <a:effectLst/>
              <a:latin typeface="Times New Roman" panose="02020603050405020304" charset="0"/>
              <a:cs typeface="Times New Roman" panose="02020603050405020304" charset="0"/>
            </a:endParaRPr>
          </a:p>
        </p:txBody>
      </p:sp>
      <p:sp>
        <p:nvSpPr>
          <p:cNvPr id="23" name="矩形 22"/>
          <p:cNvSpPr/>
          <p:nvPr/>
        </p:nvSpPr>
        <p:spPr>
          <a:xfrm>
            <a:off x="889942" y="3479137"/>
            <a:ext cx="81280" cy="8128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4811067" y="3479137"/>
            <a:ext cx="81280" cy="8128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8732192" y="3479137"/>
            <a:ext cx="81280" cy="8128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4098978" y="451477"/>
            <a:ext cx="4010660" cy="521970"/>
          </a:xfrm>
          <a:prstGeom prst="rect">
            <a:avLst/>
          </a:prstGeom>
          <a:noFill/>
        </p:spPr>
        <p:txBody>
          <a:bodyPr wrap="none" rtlCol="0" anchor="ctr">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en-US" altLang="zh-CN" sz="2800" dirty="0">
                <a:effectLst/>
                <a:latin typeface="Montserrat" panose="00000500000000000000" pitchFamily="2" charset="0"/>
              </a:rPr>
              <a:t>Content Architecture</a:t>
            </a:r>
            <a:endParaRPr lang="en-US" altLang="zh-CN" sz="2800" dirty="0">
              <a:effectLst/>
              <a:latin typeface="Montserrat" panose="00000500000000000000" pitchFamily="2" charset="0"/>
            </a:endParaRPr>
          </a:p>
        </p:txBody>
      </p:sp>
      <p:cxnSp>
        <p:nvCxnSpPr>
          <p:cNvPr id="27" name="直接连接符 26"/>
          <p:cNvCxnSpPr/>
          <p:nvPr/>
        </p:nvCxnSpPr>
        <p:spPr>
          <a:xfrm>
            <a:off x="5857389" y="1111349"/>
            <a:ext cx="44974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1490546" y="1249126"/>
            <a:ext cx="9210908" cy="830997"/>
          </a:xfrm>
          <a:prstGeom prst="rect">
            <a:avLst/>
          </a:prstGeom>
          <a:noFill/>
        </p:spPr>
        <p:txBody>
          <a:bodyPr wrap="square">
            <a:spAutoFit/>
          </a:bodyPr>
          <a:lstStyle/>
          <a:p>
            <a:r>
              <a:rPr lang="en-US" altLang="zh-CN" sz="2400" dirty="0">
                <a:latin typeface="Times New Roman" panose="02020603050405020304" charset="0"/>
                <a:cs typeface="Times New Roman" panose="02020603050405020304" charset="0"/>
              </a:rPr>
              <a:t>To gain a deeper understanding of the specifics of fine-tuning techniques, I will introduce them in the following sections.</a:t>
            </a:r>
            <a:endParaRPr lang="zh-CN" altLang="en-US" sz="2400" dirty="0">
              <a:latin typeface="Times New Roman" panose="02020603050405020304" charset="0"/>
              <a:cs typeface="Times New Roman" panose="02020603050405020304" charset="0"/>
            </a:endParaRPr>
          </a:p>
        </p:txBody>
      </p:sp>
      <p:sp>
        <p:nvSpPr>
          <p:cNvPr id="33" name="文本框 32"/>
          <p:cNvSpPr txBox="1"/>
          <p:nvPr/>
        </p:nvSpPr>
        <p:spPr>
          <a:xfrm>
            <a:off x="511617" y="4021563"/>
            <a:ext cx="2666481" cy="1754326"/>
          </a:xfrm>
          <a:prstGeom prst="rect">
            <a:avLst/>
          </a:prstGeom>
          <a:noFill/>
        </p:spPr>
        <p:txBody>
          <a:bodyPr wrap="square">
            <a:spAutoFit/>
          </a:bodyPr>
          <a:lstStyle/>
          <a:p>
            <a:r>
              <a:rPr lang="en-US" altLang="zh-CN" dirty="0">
                <a:latin typeface="Times New Roman" panose="02020603050405020304" charset="0"/>
                <a:cs typeface="Times New Roman" panose="02020603050405020304" charset="0"/>
              </a:rPr>
              <a:t>Among them, representative fine-tuning techniques can be further divided into the following four specific fine-tuning methods.</a:t>
            </a:r>
            <a:endParaRPr lang="zh-CN" altLang="en-US" dirty="0">
              <a:latin typeface="Times New Roman" panose="02020603050405020304" charset="0"/>
              <a:cs typeface="Times New Roman" panose="02020603050405020304" charset="0"/>
            </a:endParaRPr>
          </a:p>
        </p:txBody>
      </p:sp>
      <p:sp>
        <p:nvSpPr>
          <p:cNvPr id="66" name="任意多边形: 形状 65"/>
          <p:cNvSpPr/>
          <p:nvPr/>
        </p:nvSpPr>
        <p:spPr>
          <a:xfrm>
            <a:off x="3448262" y="3930086"/>
            <a:ext cx="8321839" cy="1992316"/>
          </a:xfrm>
          <a:custGeom>
            <a:avLst/>
            <a:gdLst>
              <a:gd name="connsiteX0" fmla="*/ 0 w 10363200"/>
              <a:gd name="connsiteY0" fmla="*/ 1463040 h 1463040"/>
              <a:gd name="connsiteX1" fmla="*/ 76200 w 10363200"/>
              <a:gd name="connsiteY1" fmla="*/ 1432560 h 1463040"/>
              <a:gd name="connsiteX2" fmla="*/ 3078480 w 10363200"/>
              <a:gd name="connsiteY2" fmla="*/ 472440 h 1463040"/>
              <a:gd name="connsiteX3" fmla="*/ 7498080 w 10363200"/>
              <a:gd name="connsiteY3" fmla="*/ 1127760 h 1463040"/>
              <a:gd name="connsiteX4" fmla="*/ 10363200 w 10363200"/>
              <a:gd name="connsiteY4" fmla="*/ 0 h 1463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63200" h="1463040">
                <a:moveTo>
                  <a:pt x="0" y="1463040"/>
                </a:moveTo>
                <a:lnTo>
                  <a:pt x="76200" y="1432560"/>
                </a:lnTo>
                <a:cubicBezTo>
                  <a:pt x="589280" y="1267460"/>
                  <a:pt x="1841500" y="523240"/>
                  <a:pt x="3078480" y="472440"/>
                </a:cubicBezTo>
                <a:cubicBezTo>
                  <a:pt x="4315460" y="421640"/>
                  <a:pt x="6283960" y="1206500"/>
                  <a:pt x="7498080" y="1127760"/>
                </a:cubicBezTo>
                <a:cubicBezTo>
                  <a:pt x="8712200" y="1049020"/>
                  <a:pt x="9537700" y="524510"/>
                  <a:pt x="10363200" y="0"/>
                </a:cubicBezTo>
              </a:path>
            </a:pathLst>
          </a:custGeom>
          <a:noFill/>
          <a:ln w="47625" cap="flat" cmpd="sng" algn="ctr">
            <a:gradFill flip="none" rotWithShape="1">
              <a:gsLst>
                <a:gs pos="0">
                  <a:schemeClr val="accent1">
                    <a:alpha val="0"/>
                  </a:schemeClr>
                </a:gs>
                <a:gs pos="58000">
                  <a:schemeClr val="accent1"/>
                </a:gs>
                <a:gs pos="100000">
                  <a:schemeClr val="accent1">
                    <a:alpha val="0"/>
                  </a:schemeClr>
                </a:gs>
              </a:gsLst>
              <a:lin ang="0" scaled="1"/>
              <a:tileRect/>
            </a:gradFill>
            <a:prstDash val="solid"/>
            <a:miter lim="800000"/>
          </a:ln>
          <a:effectLst>
            <a:outerShdw blurRad="50800" dist="88900" dir="5400000" algn="t"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7" name="组合 66"/>
          <p:cNvGrpSpPr/>
          <p:nvPr/>
        </p:nvGrpSpPr>
        <p:grpSpPr>
          <a:xfrm>
            <a:off x="4491408" y="4706311"/>
            <a:ext cx="160866" cy="523664"/>
            <a:chOff x="1826683" y="3533986"/>
            <a:chExt cx="160866" cy="523664"/>
          </a:xfrm>
        </p:grpSpPr>
        <p:cxnSp>
          <p:nvCxnSpPr>
            <p:cNvPr id="68" name="直接连接符 67"/>
            <p:cNvCxnSpPr/>
            <p:nvPr/>
          </p:nvCxnSpPr>
          <p:spPr>
            <a:xfrm>
              <a:off x="1907116" y="3533986"/>
              <a:ext cx="0" cy="436880"/>
            </a:xfrm>
            <a:prstGeom prst="line">
              <a:avLst/>
            </a:prstGeom>
            <a:ln w="28575">
              <a:solidFill>
                <a:schemeClr val="accent2"/>
              </a:solidFill>
              <a:prstDash val="sysDot"/>
            </a:ln>
          </p:spPr>
          <p:style>
            <a:lnRef idx="1">
              <a:schemeClr val="accent1"/>
            </a:lnRef>
            <a:fillRef idx="0">
              <a:schemeClr val="accent1"/>
            </a:fillRef>
            <a:effectRef idx="0">
              <a:schemeClr val="accent1"/>
            </a:effectRef>
            <a:fontRef idx="minor">
              <a:schemeClr val="tx1"/>
            </a:fontRef>
          </p:style>
        </p:cxnSp>
        <p:sp>
          <p:nvSpPr>
            <p:cNvPr id="69" name="椭圆 68"/>
            <p:cNvSpPr/>
            <p:nvPr/>
          </p:nvSpPr>
          <p:spPr>
            <a:xfrm>
              <a:off x="1826683" y="3896784"/>
              <a:ext cx="160866" cy="160866"/>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0" name="组合 69"/>
          <p:cNvGrpSpPr/>
          <p:nvPr/>
        </p:nvGrpSpPr>
        <p:grpSpPr>
          <a:xfrm rot="10800000">
            <a:off x="6578838" y="4619527"/>
            <a:ext cx="160866" cy="523664"/>
            <a:chOff x="1826683" y="3533986"/>
            <a:chExt cx="160866" cy="523664"/>
          </a:xfrm>
        </p:grpSpPr>
        <p:cxnSp>
          <p:nvCxnSpPr>
            <p:cNvPr id="71" name="直接连接符 70"/>
            <p:cNvCxnSpPr/>
            <p:nvPr/>
          </p:nvCxnSpPr>
          <p:spPr>
            <a:xfrm>
              <a:off x="1907116" y="3533986"/>
              <a:ext cx="0" cy="436880"/>
            </a:xfrm>
            <a:prstGeom prst="line">
              <a:avLst/>
            </a:prstGeom>
            <a:ln w="28575">
              <a:solidFill>
                <a:schemeClr val="accent2"/>
              </a:solidFill>
              <a:prstDash val="sysDot"/>
            </a:ln>
          </p:spPr>
          <p:style>
            <a:lnRef idx="1">
              <a:schemeClr val="accent1"/>
            </a:lnRef>
            <a:fillRef idx="0">
              <a:schemeClr val="accent1"/>
            </a:fillRef>
            <a:effectRef idx="0">
              <a:schemeClr val="accent1"/>
            </a:effectRef>
            <a:fontRef idx="minor">
              <a:schemeClr val="tx1"/>
            </a:fontRef>
          </p:style>
        </p:cxnSp>
        <p:sp>
          <p:nvSpPr>
            <p:cNvPr id="72" name="椭圆 71"/>
            <p:cNvSpPr/>
            <p:nvPr/>
          </p:nvSpPr>
          <p:spPr>
            <a:xfrm>
              <a:off x="1826683" y="3896784"/>
              <a:ext cx="160866" cy="160866"/>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3" name="组合 72"/>
          <p:cNvGrpSpPr/>
          <p:nvPr/>
        </p:nvGrpSpPr>
        <p:grpSpPr>
          <a:xfrm>
            <a:off x="8772832" y="4968143"/>
            <a:ext cx="160866" cy="523664"/>
            <a:chOff x="1826683" y="3533986"/>
            <a:chExt cx="160866" cy="523664"/>
          </a:xfrm>
        </p:grpSpPr>
        <p:cxnSp>
          <p:nvCxnSpPr>
            <p:cNvPr id="74" name="直接连接符 73"/>
            <p:cNvCxnSpPr/>
            <p:nvPr/>
          </p:nvCxnSpPr>
          <p:spPr>
            <a:xfrm>
              <a:off x="1907116" y="3533986"/>
              <a:ext cx="0" cy="436880"/>
            </a:xfrm>
            <a:prstGeom prst="line">
              <a:avLst/>
            </a:prstGeom>
            <a:ln w="28575">
              <a:solidFill>
                <a:schemeClr val="accent2"/>
              </a:solidFill>
              <a:prstDash val="sysDot"/>
            </a:ln>
          </p:spPr>
          <p:style>
            <a:lnRef idx="1">
              <a:schemeClr val="accent1"/>
            </a:lnRef>
            <a:fillRef idx="0">
              <a:schemeClr val="accent1"/>
            </a:fillRef>
            <a:effectRef idx="0">
              <a:schemeClr val="accent1"/>
            </a:effectRef>
            <a:fontRef idx="minor">
              <a:schemeClr val="tx1"/>
            </a:fontRef>
          </p:style>
        </p:cxnSp>
        <p:sp>
          <p:nvSpPr>
            <p:cNvPr id="75" name="椭圆 74"/>
            <p:cNvSpPr/>
            <p:nvPr/>
          </p:nvSpPr>
          <p:spPr>
            <a:xfrm>
              <a:off x="1826683" y="3896784"/>
              <a:ext cx="160866" cy="160866"/>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6" name="组合 75"/>
          <p:cNvGrpSpPr/>
          <p:nvPr/>
        </p:nvGrpSpPr>
        <p:grpSpPr>
          <a:xfrm rot="10800000">
            <a:off x="10690002" y="4862749"/>
            <a:ext cx="160866" cy="523664"/>
            <a:chOff x="1826683" y="3533986"/>
            <a:chExt cx="160866" cy="523664"/>
          </a:xfrm>
        </p:grpSpPr>
        <p:cxnSp>
          <p:nvCxnSpPr>
            <p:cNvPr id="77" name="直接连接符 76"/>
            <p:cNvCxnSpPr/>
            <p:nvPr/>
          </p:nvCxnSpPr>
          <p:spPr>
            <a:xfrm>
              <a:off x="1907116" y="3533986"/>
              <a:ext cx="0" cy="436880"/>
            </a:xfrm>
            <a:prstGeom prst="line">
              <a:avLst/>
            </a:prstGeom>
            <a:ln w="28575">
              <a:solidFill>
                <a:schemeClr val="accent2"/>
              </a:solidFill>
              <a:prstDash val="sysDot"/>
            </a:ln>
          </p:spPr>
          <p:style>
            <a:lnRef idx="1">
              <a:schemeClr val="accent1"/>
            </a:lnRef>
            <a:fillRef idx="0">
              <a:schemeClr val="accent1"/>
            </a:fillRef>
            <a:effectRef idx="0">
              <a:schemeClr val="accent1"/>
            </a:effectRef>
            <a:fontRef idx="minor">
              <a:schemeClr val="tx1"/>
            </a:fontRef>
          </p:style>
        </p:cxnSp>
        <p:sp>
          <p:nvSpPr>
            <p:cNvPr id="78" name="椭圆 77"/>
            <p:cNvSpPr/>
            <p:nvPr/>
          </p:nvSpPr>
          <p:spPr>
            <a:xfrm>
              <a:off x="1826683" y="3896784"/>
              <a:ext cx="160866" cy="160866"/>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 name="文本框 79"/>
          <p:cNvSpPr txBox="1"/>
          <p:nvPr/>
        </p:nvSpPr>
        <p:spPr>
          <a:xfrm>
            <a:off x="3667318" y="4013476"/>
            <a:ext cx="1908022" cy="646331"/>
          </a:xfrm>
          <a:prstGeom prst="rect">
            <a:avLst/>
          </a:prstGeom>
          <a:noFill/>
        </p:spPr>
        <p:txBody>
          <a:bodyPr wrap="square">
            <a:spAutoFit/>
          </a:bodyPr>
          <a:lstStyle/>
          <a:p>
            <a:pPr algn="l"/>
            <a:r>
              <a:rPr lang="en-US" altLang="zh-CN" b="0" i="0" dirty="0">
                <a:solidFill>
                  <a:srgbClr val="060607"/>
                </a:solidFill>
                <a:effectLst/>
                <a:latin typeface="Times New Roman" panose="02020603050405020304" charset="0"/>
                <a:cs typeface="Times New Roman" panose="02020603050405020304" charset="0"/>
              </a:rPr>
              <a:t>Classic Parameter Fine-tuning</a:t>
            </a:r>
            <a:endParaRPr lang="en-US" altLang="zh-CN" b="0" i="0" dirty="0">
              <a:solidFill>
                <a:srgbClr val="060607"/>
              </a:solidFill>
              <a:effectLst/>
              <a:latin typeface="Times New Roman" panose="02020603050405020304" charset="0"/>
              <a:cs typeface="Times New Roman" panose="02020603050405020304" charset="0"/>
            </a:endParaRPr>
          </a:p>
        </p:txBody>
      </p:sp>
      <p:sp>
        <p:nvSpPr>
          <p:cNvPr id="83" name="文本框 82"/>
          <p:cNvSpPr txBox="1"/>
          <p:nvPr/>
        </p:nvSpPr>
        <p:spPr>
          <a:xfrm>
            <a:off x="5686242" y="5276071"/>
            <a:ext cx="2030916" cy="646331"/>
          </a:xfrm>
          <a:prstGeom prst="rect">
            <a:avLst/>
          </a:prstGeom>
          <a:noFill/>
        </p:spPr>
        <p:txBody>
          <a:bodyPr wrap="square">
            <a:spAutoFit/>
          </a:bodyPr>
          <a:lstStyle/>
          <a:p>
            <a:pPr algn="l"/>
            <a:r>
              <a:rPr lang="en-US" altLang="zh-CN" b="0" i="0" dirty="0">
                <a:solidFill>
                  <a:srgbClr val="060607"/>
                </a:solidFill>
                <a:effectLst/>
                <a:latin typeface="Times New Roman" panose="02020603050405020304" charset="0"/>
                <a:cs typeface="Times New Roman" panose="02020603050405020304" charset="0"/>
              </a:rPr>
              <a:t>Parameter Efficient Fine-tuning</a:t>
            </a:r>
            <a:endParaRPr lang="en-US" altLang="zh-CN" b="0" i="0" dirty="0">
              <a:solidFill>
                <a:srgbClr val="060607"/>
              </a:solidFill>
              <a:effectLst/>
              <a:latin typeface="Times New Roman" panose="02020603050405020304" charset="0"/>
              <a:cs typeface="Times New Roman" panose="02020603050405020304" charset="0"/>
            </a:endParaRPr>
          </a:p>
        </p:txBody>
      </p:sp>
      <p:sp>
        <p:nvSpPr>
          <p:cNvPr id="85" name="文本框 84"/>
          <p:cNvSpPr txBox="1"/>
          <p:nvPr/>
        </p:nvSpPr>
        <p:spPr>
          <a:xfrm>
            <a:off x="8032168" y="4379197"/>
            <a:ext cx="1642193" cy="369332"/>
          </a:xfrm>
          <a:prstGeom prst="rect">
            <a:avLst/>
          </a:prstGeom>
          <a:noFill/>
        </p:spPr>
        <p:txBody>
          <a:bodyPr wrap="square">
            <a:spAutoFit/>
          </a:bodyPr>
          <a:lstStyle/>
          <a:p>
            <a:r>
              <a:rPr lang="zh-CN" altLang="en-US" dirty="0">
                <a:latin typeface="Times New Roman" panose="02020603050405020304" charset="0"/>
                <a:cs typeface="Times New Roman" panose="02020603050405020304" charset="0"/>
              </a:rPr>
              <a:t>Prompt Tuning</a:t>
            </a:r>
            <a:endParaRPr lang="zh-CN" altLang="en-US" dirty="0">
              <a:latin typeface="Times New Roman" panose="02020603050405020304" charset="0"/>
              <a:cs typeface="Times New Roman" panose="02020603050405020304" charset="0"/>
            </a:endParaRPr>
          </a:p>
        </p:txBody>
      </p:sp>
      <p:sp>
        <p:nvSpPr>
          <p:cNvPr id="87" name="文本框 86"/>
          <p:cNvSpPr txBox="1"/>
          <p:nvPr/>
        </p:nvSpPr>
        <p:spPr>
          <a:xfrm>
            <a:off x="9793957" y="5452723"/>
            <a:ext cx="2487065" cy="646331"/>
          </a:xfrm>
          <a:prstGeom prst="rect">
            <a:avLst/>
          </a:prstGeom>
          <a:noFill/>
        </p:spPr>
        <p:txBody>
          <a:bodyPr wrap="square">
            <a:spAutoFit/>
          </a:bodyPr>
          <a:lstStyle/>
          <a:p>
            <a:r>
              <a:rPr lang="zh-CN" altLang="en-US" dirty="0">
                <a:latin typeface="Times New Roman" panose="02020603050405020304" charset="0"/>
                <a:cs typeface="Times New Roman" panose="02020603050405020304" charset="0"/>
              </a:rPr>
              <a:t>Reinforcement Learning Fine-Tuning</a:t>
            </a:r>
            <a:endParaRPr lang="zh-CN" altLang="en-US"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文本框 69"/>
          <p:cNvSpPr txBox="1"/>
          <p:nvPr/>
        </p:nvSpPr>
        <p:spPr>
          <a:xfrm>
            <a:off x="3939572" y="474701"/>
            <a:ext cx="4313555" cy="521970"/>
          </a:xfrm>
          <a:prstGeom prst="rect">
            <a:avLst/>
          </a:prstGeom>
          <a:noFill/>
        </p:spPr>
        <p:txBody>
          <a:bodyPr wrap="none" rtlCol="0" anchor="ctr">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en-US" altLang="zh-CN" sz="2800" i="0" dirty="0">
                <a:effectLst/>
                <a:latin typeface="Montserrat" panose="00000500000000000000" pitchFamily="2" charset="0"/>
              </a:rPr>
              <a:t>Technical Development</a:t>
            </a:r>
            <a:endParaRPr lang="zh-CN" altLang="en-US" sz="2800" dirty="0">
              <a:solidFill>
                <a:srgbClr val="505CCC"/>
              </a:solidFill>
              <a:latin typeface="Times New Roman" panose="02020603050405020304" charset="0"/>
              <a:cs typeface="Times New Roman" panose="02020603050405020304" charset="0"/>
            </a:endParaRPr>
          </a:p>
        </p:txBody>
      </p:sp>
      <p:cxnSp>
        <p:nvCxnSpPr>
          <p:cNvPr id="71" name="直接连接符 70"/>
          <p:cNvCxnSpPr/>
          <p:nvPr/>
        </p:nvCxnSpPr>
        <p:spPr>
          <a:xfrm>
            <a:off x="5857389" y="1111349"/>
            <a:ext cx="44974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2" name="图片 1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87956" y="1436636"/>
            <a:ext cx="9038353" cy="2844842"/>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36" name="文本框 35"/>
          <p:cNvSpPr txBox="1"/>
          <p:nvPr/>
        </p:nvSpPr>
        <p:spPr>
          <a:xfrm>
            <a:off x="2212122" y="4756418"/>
            <a:ext cx="9585867" cy="830997"/>
          </a:xfrm>
          <a:prstGeom prst="rect">
            <a:avLst/>
          </a:prstGeom>
          <a:noFill/>
        </p:spPr>
        <p:txBody>
          <a:bodyPr wrap="square">
            <a:spAutoFit/>
          </a:bodyPr>
          <a:lstStyle/>
          <a:p>
            <a:r>
              <a:rPr lang="en-US" altLang="zh-CN" sz="2400" dirty="0">
                <a:latin typeface="Times New Roman" panose="02020603050405020304" charset="0"/>
                <a:cs typeface="Times New Roman" panose="02020603050405020304" charset="0"/>
              </a:rPr>
              <a:t>This is a diagram that summarizes the development process of large language models and fine-tuning techniques.</a:t>
            </a:r>
            <a:endParaRPr lang="zh-CN" altLang="en-US" sz="2400"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1139068" y="2051313"/>
            <a:ext cx="10842540" cy="1004205"/>
          </a:xfrm>
          <a:prstGeom prst="roundRect">
            <a:avLst>
              <a:gd name="adj" fmla="val 5910"/>
            </a:avLst>
          </a:prstGeom>
          <a:noFill/>
          <a:ln>
            <a:solidFill>
              <a:schemeClr val="tx2">
                <a:lumMod val="20000"/>
                <a:lumOff val="8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p:cNvSpPr/>
          <p:nvPr/>
        </p:nvSpPr>
        <p:spPr>
          <a:xfrm>
            <a:off x="9111291" y="3286714"/>
            <a:ext cx="2870317" cy="2520236"/>
          </a:xfrm>
          <a:prstGeom prst="roundRect">
            <a:avLst>
              <a:gd name="adj" fmla="val 5910"/>
            </a:avLst>
          </a:prstGeom>
          <a:noFill/>
          <a:ln>
            <a:solidFill>
              <a:schemeClr val="tx2">
                <a:lumMod val="20000"/>
                <a:lumOff val="8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6" name="矩形: 圆角 5"/>
              <p:cNvSpPr/>
              <p:nvPr/>
            </p:nvSpPr>
            <p:spPr>
              <a:xfrm>
                <a:off x="1139068" y="3286711"/>
                <a:ext cx="6725821" cy="961556"/>
              </a:xfrm>
              <a:prstGeom prst="roundRect">
                <a:avLst>
                  <a:gd name="adj" fmla="val 5910"/>
                </a:avLst>
              </a:prstGeom>
              <a:gradFill>
                <a:gsLst>
                  <a:gs pos="7000">
                    <a:schemeClr val="accent1"/>
                  </a:gs>
                  <a:gs pos="100000">
                    <a:schemeClr val="accent2"/>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bg1"/>
                    </a:solidFill>
                    <a:latin typeface="Times New Roman" panose="02020603050405020304" charset="0"/>
                    <a:cs typeface="Times New Roman" panose="02020603050405020304" charset="0"/>
                  </a:rPr>
                  <a:t>Let the model be f(·), with pre-trained parameters θ ∈ </a:t>
                </a:r>
                <a14:m>
                  <m:oMath xmlns:m="http://schemas.openxmlformats.org/officeDocument/2006/math">
                    <m:sSup>
                      <m:sSupPr>
                        <m:ctrlPr>
                          <a:rPr lang="en-US" altLang="zh-CN" sz="1400" i="1" smtClean="0">
                            <a:solidFill>
                              <a:schemeClr val="bg1"/>
                            </a:solidFill>
                            <a:latin typeface="Cambria Math" panose="02040503050406030204" pitchFamily="18" charset="0"/>
                            <a:cs typeface="Times New Roman" panose="02020603050405020304" charset="0"/>
                          </a:rPr>
                        </m:ctrlPr>
                      </m:sSupPr>
                      <m:e>
                        <m:r>
                          <m:rPr>
                            <m:nor/>
                          </m:rPr>
                          <a:rPr lang="en-US" altLang="zh-CN" sz="1400" dirty="0">
                            <a:solidFill>
                              <a:schemeClr val="bg1"/>
                            </a:solidFill>
                            <a:latin typeface="Times New Roman" panose="02020603050405020304" charset="0"/>
                            <a:cs typeface="Times New Roman" panose="02020603050405020304" charset="0"/>
                          </a:rPr>
                          <m:t>R</m:t>
                        </m:r>
                      </m:e>
                      <m:sup>
                        <m:r>
                          <m:rPr>
                            <m:nor/>
                          </m:rPr>
                          <a:rPr lang="en-US" altLang="zh-CN" sz="1400" dirty="0">
                            <a:solidFill>
                              <a:schemeClr val="bg1"/>
                            </a:solidFill>
                            <a:latin typeface="Times New Roman" panose="02020603050405020304" charset="0"/>
                            <a:cs typeface="Times New Roman" panose="02020603050405020304" charset="0"/>
                          </a:rPr>
                          <m:t>p</m:t>
                        </m:r>
                      </m:sup>
                    </m:sSup>
                  </m:oMath>
                </a14:m>
                <a:r>
                  <a:rPr lang="en-US" altLang="zh-CN" sz="1400" dirty="0">
                    <a:solidFill>
                      <a:schemeClr val="bg1"/>
                    </a:solidFill>
                    <a:latin typeface="Times New Roman" panose="02020603050405020304" charset="0"/>
                    <a:cs typeface="Times New Roman" panose="02020603050405020304" charset="0"/>
                  </a:rPr>
                  <a:t>, learning rate α, training dataset </a:t>
                </a:r>
                <a14:m>
                  <m:oMath xmlns:m="http://schemas.openxmlformats.org/officeDocument/2006/math">
                    <m:sSub>
                      <m:sSubPr>
                        <m:ctrlPr>
                          <a:rPr lang="en-US" altLang="zh-CN" sz="1400" i="1" dirty="0" smtClean="0">
                            <a:solidFill>
                              <a:schemeClr val="bg1"/>
                            </a:solidFill>
                            <a:latin typeface="Cambria Math" panose="02040503050406030204" pitchFamily="18" charset="0"/>
                            <a:cs typeface="Times New Roman" panose="02020603050405020304" charset="0"/>
                          </a:rPr>
                        </m:ctrlPr>
                      </m:sSubPr>
                      <m:e>
                        <m:r>
                          <a:rPr lang="en-US" altLang="zh-CN" sz="1400" i="1" dirty="0">
                            <a:solidFill>
                              <a:schemeClr val="bg1"/>
                            </a:solidFill>
                            <a:latin typeface="Cambria Math" panose="02040503050406030204" pitchFamily="18" charset="0"/>
                            <a:cs typeface="Times New Roman" panose="02020603050405020304" charset="0"/>
                          </a:rPr>
                          <m:t>𝐷</m:t>
                        </m:r>
                      </m:e>
                      <m:sub>
                        <m:r>
                          <a:rPr lang="en-US" altLang="zh-CN" sz="1400" i="1" dirty="0">
                            <a:solidFill>
                              <a:schemeClr val="bg1"/>
                            </a:solidFill>
                            <a:latin typeface="Cambria Math" panose="02040503050406030204" pitchFamily="18" charset="0"/>
                            <a:cs typeface="Times New Roman" panose="02020603050405020304" charset="0"/>
                          </a:rPr>
                          <m:t>𝑇</m:t>
                        </m:r>
                      </m:sub>
                    </m:sSub>
                    <m:r>
                      <a:rPr lang="en-US" altLang="zh-CN" sz="1400" i="1" dirty="0" smtClean="0">
                        <a:solidFill>
                          <a:schemeClr val="bg1"/>
                        </a:solidFill>
                        <a:latin typeface="Cambria Math" panose="02040503050406030204" pitchFamily="18" charset="0"/>
                        <a:cs typeface="Times New Roman" panose="02020603050405020304" charset="0"/>
                      </a:rPr>
                      <m:t> = </m:t>
                    </m:r>
                    <m:sSubSup>
                      <m:sSubSupPr>
                        <m:ctrlPr>
                          <a:rPr lang="en-US" altLang="zh-CN" sz="1400" i="1" dirty="0" smtClean="0">
                            <a:solidFill>
                              <a:schemeClr val="bg1"/>
                            </a:solidFill>
                            <a:latin typeface="Cambria Math" panose="02040503050406030204" pitchFamily="18" charset="0"/>
                            <a:cs typeface="Times New Roman" panose="02020603050405020304" charset="0"/>
                          </a:rPr>
                        </m:ctrlPr>
                      </m:sSubSupPr>
                      <m:e>
                        <m:r>
                          <a:rPr lang="en-US" altLang="zh-CN" sz="1400" i="1" dirty="0">
                            <a:solidFill>
                              <a:schemeClr val="bg1"/>
                            </a:solidFill>
                            <a:latin typeface="Cambria Math" panose="02040503050406030204" pitchFamily="18" charset="0"/>
                            <a:cs typeface="Times New Roman" panose="02020603050405020304" charset="0"/>
                          </a:rPr>
                          <m:t>{(</m:t>
                        </m:r>
                        <m:sSub>
                          <m:sSubPr>
                            <m:ctrlPr>
                              <a:rPr lang="en-US" altLang="zh-CN" sz="1400" i="1" dirty="0">
                                <a:solidFill>
                                  <a:schemeClr val="bg1"/>
                                </a:solidFill>
                                <a:latin typeface="Cambria Math" panose="02040503050406030204" pitchFamily="18" charset="0"/>
                                <a:cs typeface="Times New Roman" panose="02020603050405020304" charset="0"/>
                              </a:rPr>
                            </m:ctrlPr>
                          </m:sSubPr>
                          <m:e>
                            <m:r>
                              <a:rPr lang="en-US" altLang="zh-CN" sz="1400" i="1" dirty="0">
                                <a:solidFill>
                                  <a:schemeClr val="bg1"/>
                                </a:solidFill>
                                <a:latin typeface="Cambria Math" panose="02040503050406030204" pitchFamily="18" charset="0"/>
                                <a:cs typeface="Times New Roman" panose="02020603050405020304" charset="0"/>
                              </a:rPr>
                              <m:t>𝑋</m:t>
                            </m:r>
                          </m:e>
                          <m:sub>
                            <m:r>
                              <a:rPr lang="en-US" altLang="zh-CN" sz="1400" i="1" dirty="0">
                                <a:solidFill>
                                  <a:schemeClr val="bg1"/>
                                </a:solidFill>
                                <a:latin typeface="Cambria Math" panose="02040503050406030204" pitchFamily="18" charset="0"/>
                                <a:cs typeface="Times New Roman" panose="02020603050405020304" charset="0"/>
                              </a:rPr>
                              <m:t>𝑖</m:t>
                            </m:r>
                          </m:sub>
                        </m:sSub>
                        <m:r>
                          <a:rPr lang="en-US" altLang="zh-CN" sz="1400" i="1" dirty="0" err="1">
                            <a:solidFill>
                              <a:schemeClr val="bg1"/>
                            </a:solidFill>
                            <a:latin typeface="Cambria Math" panose="02040503050406030204" pitchFamily="18" charset="0"/>
                            <a:cs typeface="Times New Roman" panose="02020603050405020304" charset="0"/>
                          </a:rPr>
                          <m:t>,</m:t>
                        </m:r>
                        <m:sSub>
                          <m:sSubPr>
                            <m:ctrlPr>
                              <a:rPr lang="en-US" altLang="zh-CN" sz="1400" i="1" dirty="0">
                                <a:solidFill>
                                  <a:schemeClr val="bg1"/>
                                </a:solidFill>
                                <a:latin typeface="Cambria Math" panose="02040503050406030204" pitchFamily="18" charset="0"/>
                                <a:cs typeface="Times New Roman" panose="02020603050405020304" charset="0"/>
                              </a:rPr>
                            </m:ctrlPr>
                          </m:sSubPr>
                          <m:e>
                            <m:r>
                              <a:rPr lang="en-US" altLang="zh-CN" sz="1400" i="1" dirty="0">
                                <a:solidFill>
                                  <a:schemeClr val="bg1"/>
                                </a:solidFill>
                                <a:latin typeface="Cambria Math" panose="02040503050406030204" pitchFamily="18" charset="0"/>
                                <a:cs typeface="Times New Roman" panose="02020603050405020304" charset="0"/>
                              </a:rPr>
                              <m:t>𝑦</m:t>
                            </m:r>
                          </m:e>
                          <m:sub>
                            <m:r>
                              <a:rPr lang="en-US" altLang="zh-CN" sz="1400" i="1" dirty="0">
                                <a:solidFill>
                                  <a:schemeClr val="bg1"/>
                                </a:solidFill>
                                <a:latin typeface="Cambria Math" panose="02040503050406030204" pitchFamily="18" charset="0"/>
                                <a:cs typeface="Times New Roman" panose="02020603050405020304" charset="0"/>
                              </a:rPr>
                              <m:t>𝑖</m:t>
                            </m:r>
                          </m:sub>
                        </m:sSub>
                        <m:r>
                          <a:rPr lang="en-US" altLang="zh-CN" sz="1400" i="1" dirty="0">
                            <a:solidFill>
                              <a:schemeClr val="bg1"/>
                            </a:solidFill>
                            <a:latin typeface="Cambria Math" panose="02040503050406030204" pitchFamily="18" charset="0"/>
                            <a:cs typeface="Times New Roman" panose="02020603050405020304" charset="0"/>
                          </a:rPr>
                          <m:t>)}</m:t>
                        </m:r>
                      </m:e>
                      <m:sub>
                        <m:r>
                          <a:rPr lang="en-US" altLang="zh-CN" sz="1400" i="1" dirty="0">
                            <a:solidFill>
                              <a:schemeClr val="bg1"/>
                            </a:solidFill>
                            <a:latin typeface="Cambria Math" panose="02040503050406030204" pitchFamily="18" charset="0"/>
                            <a:cs typeface="Times New Roman" panose="02020603050405020304" charset="0"/>
                          </a:rPr>
                          <m:t>𝑖</m:t>
                        </m:r>
                        <m:r>
                          <a:rPr lang="en-US" altLang="zh-CN" sz="1400" i="1" dirty="0">
                            <a:solidFill>
                              <a:schemeClr val="bg1"/>
                            </a:solidFill>
                            <a:latin typeface="Cambria Math" panose="02040503050406030204" pitchFamily="18" charset="0"/>
                            <a:cs typeface="Times New Roman" panose="02020603050405020304" charset="0"/>
                          </a:rPr>
                          <m:t>=</m:t>
                        </m:r>
                        <m:r>
                          <a:rPr lang="en-US" altLang="zh-CN" sz="1400" i="1" dirty="0">
                            <a:solidFill>
                              <a:schemeClr val="bg1"/>
                            </a:solidFill>
                            <a:latin typeface="Cambria Math" panose="02040503050406030204" pitchFamily="18" charset="0"/>
                            <a:cs typeface="Times New Roman" panose="02020603050405020304" charset="0"/>
                          </a:rPr>
                          <m:t>1</m:t>
                        </m:r>
                      </m:sub>
                      <m:sup>
                        <m:r>
                          <a:rPr lang="en-US" altLang="zh-CN" sz="1400" i="1" dirty="0">
                            <a:solidFill>
                              <a:schemeClr val="bg1"/>
                            </a:solidFill>
                            <a:latin typeface="Cambria Math" panose="02040503050406030204" pitchFamily="18" charset="0"/>
                            <a:cs typeface="Times New Roman" panose="02020603050405020304" charset="0"/>
                          </a:rPr>
                          <m:t>𝑁</m:t>
                        </m:r>
                      </m:sup>
                    </m:sSubSup>
                  </m:oMath>
                </a14:m>
                <a:r>
                  <a:rPr lang="en-US" altLang="zh-CN" sz="1400" dirty="0">
                    <a:solidFill>
                      <a:schemeClr val="bg1"/>
                    </a:solidFill>
                    <a:latin typeface="Times New Roman" panose="02020603050405020304" charset="0"/>
                    <a:cs typeface="Times New Roman" panose="02020603050405020304" charset="0"/>
                  </a:rPr>
                  <a:t>, and loss function L (whose specific form depends on the model). </a:t>
                </a:r>
                <a:endParaRPr lang="zh-CN" altLang="en-US" sz="1400" dirty="0">
                  <a:solidFill>
                    <a:schemeClr val="bg1"/>
                  </a:solidFill>
                  <a:latin typeface="Times New Roman" panose="02020603050405020304" charset="0"/>
                  <a:ea typeface="+mj-ea"/>
                  <a:cs typeface="Times New Roman" panose="02020603050405020304" charset="0"/>
                </a:endParaRPr>
              </a:p>
            </p:txBody>
          </p:sp>
        </mc:Choice>
        <mc:Fallback>
          <p:sp>
            <p:nvSpPr>
              <p:cNvPr id="6" name="矩形: 圆角 5"/>
              <p:cNvSpPr>
                <a:spLocks noRot="1" noChangeAspect="1" noMove="1" noResize="1" noEditPoints="1" noAdjustHandles="1" noChangeArrowheads="1" noChangeShapeType="1" noTextEdit="1"/>
              </p:cNvSpPr>
              <p:nvPr/>
            </p:nvSpPr>
            <p:spPr>
              <a:xfrm>
                <a:off x="1139068" y="3286711"/>
                <a:ext cx="6725821" cy="961556"/>
              </a:xfrm>
              <a:prstGeom prst="roundRect">
                <a:avLst>
                  <a:gd name="adj" fmla="val 5910"/>
                </a:avLst>
              </a:prstGeom>
              <a:blipFill rotWithShape="1">
                <a:blip r:embed="rId1"/>
                <a:stretch>
                  <a:fillRect l="-2868" t="-12146" r="-2864" b="-27922"/>
                </a:stretch>
              </a:blip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7" name="矩形: 圆角 6"/>
          <p:cNvSpPr/>
          <p:nvPr/>
        </p:nvSpPr>
        <p:spPr>
          <a:xfrm>
            <a:off x="1133891" y="4637138"/>
            <a:ext cx="6725820" cy="1169812"/>
          </a:xfrm>
          <a:prstGeom prst="roundRect">
            <a:avLst>
              <a:gd name="adj" fmla="val 5910"/>
            </a:avLst>
          </a:prstGeom>
          <a:gradFill>
            <a:gsLst>
              <a:gs pos="7000">
                <a:schemeClr val="accent1"/>
              </a:gs>
              <a:gs pos="100000">
                <a:schemeClr val="accent2"/>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latin typeface="Times New Roman" panose="02020603050405020304" charset="0"/>
                <a:cs typeface="Times New Roman" panose="02020603050405020304" charset="0"/>
              </a:rPr>
              <a:t>To minimize the loss function for the new task, fine-tuning can be performed based on the original pre-trained parameters. Optimization algorithms, such as gradient descent, are typically used, with a small or dynamically changing learning rate, to update the f </a:t>
            </a:r>
            <a:r>
              <a:rPr lang="en-US" altLang="zh-CN" sz="1400" dirty="0" err="1">
                <a:latin typeface="Times New Roman" panose="02020603050405020304" charset="0"/>
                <a:cs typeface="Times New Roman" panose="02020603050405020304" charset="0"/>
              </a:rPr>
              <a:t>ine</a:t>
            </a:r>
            <a:r>
              <a:rPr lang="en-US" altLang="zh-CN" sz="1400" dirty="0">
                <a:latin typeface="Times New Roman" panose="02020603050405020304" charset="0"/>
                <a:cs typeface="Times New Roman" panose="02020603050405020304" charset="0"/>
              </a:rPr>
              <a:t>-tuning parameters:</a:t>
            </a:r>
            <a:endParaRPr lang="zh-CN" altLang="en-US" sz="1400" dirty="0">
              <a:latin typeface="Times New Roman" panose="02020603050405020304" charset="0"/>
              <a:ea typeface="+mj-ea"/>
              <a:cs typeface="Times New Roman" panose="02020603050405020304" charset="0"/>
            </a:endParaRPr>
          </a:p>
        </p:txBody>
      </p:sp>
      <p:sp>
        <p:nvSpPr>
          <p:cNvPr id="10" name="任意多边形: 形状 9"/>
          <p:cNvSpPr/>
          <p:nvPr/>
        </p:nvSpPr>
        <p:spPr>
          <a:xfrm>
            <a:off x="7805902" y="3630953"/>
            <a:ext cx="1233944" cy="256451"/>
          </a:xfrm>
          <a:custGeom>
            <a:avLst/>
            <a:gdLst>
              <a:gd name="connsiteX0" fmla="*/ 176166 w 377072"/>
              <a:gd name="connsiteY0" fmla="*/ 0 h 256451"/>
              <a:gd name="connsiteX1" fmla="*/ 187937 w 377072"/>
              <a:gd name="connsiteY1" fmla="*/ 3207 h 256451"/>
              <a:gd name="connsiteX2" fmla="*/ 365715 w 377072"/>
              <a:gd name="connsiteY2" fmla="*/ 108401 h 256451"/>
              <a:gd name="connsiteX3" fmla="*/ 373863 w 377072"/>
              <a:gd name="connsiteY3" fmla="*/ 140016 h 256451"/>
              <a:gd name="connsiteX4" fmla="*/ 365715 w 377072"/>
              <a:gd name="connsiteY4" fmla="*/ 148167 h 256451"/>
              <a:gd name="connsiteX5" fmla="*/ 187937 w 377072"/>
              <a:gd name="connsiteY5" fmla="*/ 253241 h 256451"/>
              <a:gd name="connsiteX6" fmla="*/ 156319 w 377072"/>
              <a:gd name="connsiteY6" fmla="*/ 245099 h 256451"/>
              <a:gd name="connsiteX7" fmla="*/ 153112 w 377072"/>
              <a:gd name="connsiteY7" fmla="*/ 233358 h 256451"/>
              <a:gd name="connsiteX8" fmla="*/ 153112 w 377072"/>
              <a:gd name="connsiteY8" fmla="*/ 190562 h 256451"/>
              <a:gd name="connsiteX9" fmla="*/ 10331 w 377072"/>
              <a:gd name="connsiteY9" fmla="*/ 190562 h 256451"/>
              <a:gd name="connsiteX10" fmla="*/ 0 w 377072"/>
              <a:gd name="connsiteY10" fmla="*/ 190562 h 256451"/>
              <a:gd name="connsiteX11" fmla="*/ 0 w 377072"/>
              <a:gd name="connsiteY11" fmla="*/ 66054 h 256451"/>
              <a:gd name="connsiteX12" fmla="*/ 10331 w 377072"/>
              <a:gd name="connsiteY12" fmla="*/ 66054 h 256451"/>
              <a:gd name="connsiteX13" fmla="*/ 153112 w 377072"/>
              <a:gd name="connsiteY13" fmla="*/ 66054 h 256451"/>
              <a:gd name="connsiteX14" fmla="*/ 153112 w 377072"/>
              <a:gd name="connsiteY14" fmla="*/ 23120 h 256451"/>
              <a:gd name="connsiteX15" fmla="*/ 176166 w 377072"/>
              <a:gd name="connsiteY15" fmla="*/ 0 h 256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7072" h="256451">
                <a:moveTo>
                  <a:pt x="176166" y="0"/>
                </a:moveTo>
                <a:cubicBezTo>
                  <a:pt x="180307" y="-6"/>
                  <a:pt x="184370" y="1102"/>
                  <a:pt x="187937" y="3207"/>
                </a:cubicBezTo>
                <a:lnTo>
                  <a:pt x="365715" y="108401"/>
                </a:lnTo>
                <a:cubicBezTo>
                  <a:pt x="376696" y="114881"/>
                  <a:pt x="380346" y="129036"/>
                  <a:pt x="373863" y="140016"/>
                </a:cubicBezTo>
                <a:cubicBezTo>
                  <a:pt x="371881" y="143379"/>
                  <a:pt x="369078" y="146182"/>
                  <a:pt x="365715" y="148167"/>
                </a:cubicBezTo>
                <a:lnTo>
                  <a:pt x="187937" y="253241"/>
                </a:lnTo>
                <a:cubicBezTo>
                  <a:pt x="176956" y="259724"/>
                  <a:pt x="162802" y="256080"/>
                  <a:pt x="156319" y="245099"/>
                </a:cubicBezTo>
                <a:cubicBezTo>
                  <a:pt x="154220" y="241542"/>
                  <a:pt x="153112" y="237488"/>
                  <a:pt x="153112" y="233358"/>
                </a:cubicBezTo>
                <a:lnTo>
                  <a:pt x="153112" y="190562"/>
                </a:lnTo>
                <a:lnTo>
                  <a:pt x="10331" y="190562"/>
                </a:lnTo>
                <a:cubicBezTo>
                  <a:pt x="4625" y="190562"/>
                  <a:pt x="0" y="190562"/>
                  <a:pt x="0" y="190562"/>
                </a:cubicBezTo>
                <a:lnTo>
                  <a:pt x="0" y="66054"/>
                </a:lnTo>
                <a:cubicBezTo>
                  <a:pt x="0" y="66054"/>
                  <a:pt x="4625" y="66054"/>
                  <a:pt x="10331" y="66054"/>
                </a:cubicBezTo>
                <a:lnTo>
                  <a:pt x="153112" y="66054"/>
                </a:lnTo>
                <a:lnTo>
                  <a:pt x="153112" y="23120"/>
                </a:lnTo>
                <a:cubicBezTo>
                  <a:pt x="153094" y="10370"/>
                  <a:pt x="163416" y="18"/>
                  <a:pt x="176166" y="0"/>
                </a:cubicBezTo>
                <a:close/>
              </a:path>
            </a:pathLst>
          </a:custGeom>
          <a:gradFill>
            <a:gsLst>
              <a:gs pos="60000">
                <a:srgbClr val="ADCBF4"/>
              </a:gs>
              <a:gs pos="0">
                <a:schemeClr val="bg1">
                  <a:alpha val="0"/>
                </a:schemeClr>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5" name="矩形: 圆角 14"/>
          <p:cNvSpPr/>
          <p:nvPr/>
        </p:nvSpPr>
        <p:spPr>
          <a:xfrm>
            <a:off x="1133891" y="1232204"/>
            <a:ext cx="2609386" cy="624674"/>
          </a:xfrm>
          <a:prstGeom prst="roundRect">
            <a:avLst>
              <a:gd name="adj" fmla="val 50000"/>
            </a:avLst>
          </a:prstGeom>
          <a:gradFill>
            <a:gsLst>
              <a:gs pos="7000">
                <a:schemeClr val="accent1"/>
              </a:gs>
              <a:gs pos="100000">
                <a:schemeClr val="accent2"/>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1400" b="0" i="0" dirty="0">
                <a:solidFill>
                  <a:schemeClr val="bg1"/>
                </a:solidFill>
                <a:effectLst/>
                <a:latin typeface="Times New Roman" panose="02020603050405020304" charset="0"/>
                <a:cs typeface="Times New Roman" panose="02020603050405020304" charset="0"/>
              </a:rPr>
              <a:t>Classic Parameter Fine-tuning</a:t>
            </a:r>
            <a:endParaRPr lang="en-US" altLang="zh-CN" sz="1400" b="0" i="0" dirty="0">
              <a:solidFill>
                <a:schemeClr val="bg1"/>
              </a:solidFill>
              <a:effectLst/>
              <a:latin typeface="Times New Roman" panose="02020603050405020304" charset="0"/>
              <a:cs typeface="Times New Roman" panose="02020603050405020304" charset="0"/>
            </a:endParaRPr>
          </a:p>
        </p:txBody>
      </p:sp>
      <p:sp>
        <p:nvSpPr>
          <p:cNvPr id="19" name="文本框 18"/>
          <p:cNvSpPr txBox="1"/>
          <p:nvPr/>
        </p:nvSpPr>
        <p:spPr>
          <a:xfrm>
            <a:off x="1283225" y="2122707"/>
            <a:ext cx="10557951" cy="790922"/>
          </a:xfrm>
          <a:prstGeom prst="rect">
            <a:avLst/>
          </a:prstGeom>
        </p:spPr>
        <p:txBody>
          <a:bodyPr wrap="square">
            <a:spAutoFit/>
            <a:scene3d>
              <a:camera prst="orthographicFront"/>
              <a:lightRig rig="threePt" dir="t"/>
            </a:scene3d>
            <a:sp3d contourW="12700"/>
          </a:bodyPr>
          <a:lstStyle>
            <a:defPPr>
              <a:defRPr lang="zh-CN"/>
            </a:defPPr>
            <a:lvl1pPr>
              <a:lnSpc>
                <a:spcPct val="150000"/>
              </a:lnSpc>
              <a:spcBef>
                <a:spcPts val="1200"/>
              </a:spcBef>
              <a:defRPr sz="1100" spc="100">
                <a:solidFill>
                  <a:prstClr val="black">
                    <a:lumMod val="75000"/>
                    <a:lumOff val="25000"/>
                  </a:prstClr>
                </a:solidFill>
                <a:latin typeface="微软雅黑" panose="020B0503020204020204" charset="-122"/>
              </a:defRPr>
            </a:lvl1pPr>
          </a:lstStyle>
          <a:p>
            <a:r>
              <a:rPr lang="en-US" altLang="zh-CN" sz="1050" dirty="0">
                <a:solidFill>
                  <a:schemeClr val="tx2"/>
                </a:solidFill>
              </a:rPr>
              <a:t>Classic parameter fine-tuning, often referred to as full parameter tuning, is a model optimization technique in deep learning, especially used in transfer learning or domain adaptation scenarios. It involves fine-tuning all the parameters of a pre-trained model to adapt it to a specific task or dataset. </a:t>
            </a:r>
            <a:endParaRPr lang="zh-CN" altLang="en-US" sz="1050" dirty="0">
              <a:solidFill>
                <a:schemeClr val="tx2"/>
              </a:solidFill>
            </a:endParaRPr>
          </a:p>
        </p:txBody>
      </p:sp>
      <p:sp>
        <p:nvSpPr>
          <p:cNvPr id="24" name="矩形: 圆角 23"/>
          <p:cNvSpPr/>
          <p:nvPr/>
        </p:nvSpPr>
        <p:spPr>
          <a:xfrm>
            <a:off x="691492" y="2053678"/>
            <a:ext cx="217332" cy="4068606"/>
          </a:xfrm>
          <a:prstGeom prst="roundRect">
            <a:avLst>
              <a:gd name="adj" fmla="val 50000"/>
            </a:avLst>
          </a:prstGeom>
          <a:gradFill>
            <a:gsLst>
              <a:gs pos="0">
                <a:srgbClr val="5082FF"/>
              </a:gs>
              <a:gs pos="100000">
                <a:srgbClr val="A5D2FF">
                  <a:alpha val="0"/>
                </a:srgbClr>
              </a:gs>
            </a:gsLst>
            <a:lin ang="5400000" scaled="1"/>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28" name="文本框 27"/>
          <p:cNvSpPr txBox="1"/>
          <p:nvPr/>
        </p:nvSpPr>
        <p:spPr>
          <a:xfrm>
            <a:off x="2445711" y="411469"/>
            <a:ext cx="7150100" cy="521970"/>
          </a:xfrm>
          <a:prstGeom prst="rect">
            <a:avLst/>
          </a:prstGeom>
          <a:noFill/>
        </p:spPr>
        <p:txBody>
          <a:bodyPr wrap="none" rtlCol="0" anchor="ctr">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pPr algn="l"/>
            <a:r>
              <a:rPr lang="en-US" altLang="zh-CN" sz="2800" b="0" i="0" dirty="0">
                <a:effectLst/>
                <a:latin typeface="Montserrat" panose="00000500000000000000" pitchFamily="2" charset="0"/>
              </a:rPr>
              <a:t>Representative Fine-tuning Techniques</a:t>
            </a:r>
            <a:endParaRPr lang="en-US" altLang="zh-CN" sz="2800" b="0" i="0" dirty="0">
              <a:solidFill>
                <a:srgbClr val="505CCC"/>
              </a:solidFill>
              <a:effectLst/>
              <a:latin typeface="Times New Roman" panose="02020603050405020304" charset="0"/>
              <a:cs typeface="Times New Roman" panose="02020603050405020304" charset="0"/>
            </a:endParaRPr>
          </a:p>
        </p:txBody>
      </p:sp>
      <p:cxnSp>
        <p:nvCxnSpPr>
          <p:cNvPr id="29" name="直接连接符 28"/>
          <p:cNvCxnSpPr/>
          <p:nvPr/>
        </p:nvCxnSpPr>
        <p:spPr>
          <a:xfrm>
            <a:off x="5857389" y="1111349"/>
            <a:ext cx="44974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5" name="图片 34"/>
          <p:cNvPicPr>
            <a:picLocks noChangeAspect="1"/>
          </p:cNvPicPr>
          <p:nvPr/>
        </p:nvPicPr>
        <p:blipFill>
          <a:blip r:embed="rId2"/>
          <a:stretch>
            <a:fillRect/>
          </a:stretch>
        </p:blipFill>
        <p:spPr>
          <a:xfrm>
            <a:off x="9421703" y="3519827"/>
            <a:ext cx="2419474" cy="495325"/>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7" name="图片 36"/>
          <p:cNvPicPr>
            <a:picLocks noChangeAspect="1"/>
          </p:cNvPicPr>
          <p:nvPr/>
        </p:nvPicPr>
        <p:blipFill>
          <a:blip r:embed="rId3"/>
          <a:stretch>
            <a:fillRect/>
          </a:stretch>
        </p:blipFill>
        <p:spPr>
          <a:xfrm>
            <a:off x="9863051" y="5031532"/>
            <a:ext cx="1536779" cy="38102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8" name="任意多边形: 形状 37"/>
          <p:cNvSpPr/>
          <p:nvPr/>
        </p:nvSpPr>
        <p:spPr>
          <a:xfrm>
            <a:off x="7805902" y="5093816"/>
            <a:ext cx="1233944" cy="256451"/>
          </a:xfrm>
          <a:custGeom>
            <a:avLst/>
            <a:gdLst>
              <a:gd name="connsiteX0" fmla="*/ 176166 w 377072"/>
              <a:gd name="connsiteY0" fmla="*/ 0 h 256451"/>
              <a:gd name="connsiteX1" fmla="*/ 187937 w 377072"/>
              <a:gd name="connsiteY1" fmla="*/ 3207 h 256451"/>
              <a:gd name="connsiteX2" fmla="*/ 365715 w 377072"/>
              <a:gd name="connsiteY2" fmla="*/ 108401 h 256451"/>
              <a:gd name="connsiteX3" fmla="*/ 373863 w 377072"/>
              <a:gd name="connsiteY3" fmla="*/ 140016 h 256451"/>
              <a:gd name="connsiteX4" fmla="*/ 365715 w 377072"/>
              <a:gd name="connsiteY4" fmla="*/ 148167 h 256451"/>
              <a:gd name="connsiteX5" fmla="*/ 187937 w 377072"/>
              <a:gd name="connsiteY5" fmla="*/ 253241 h 256451"/>
              <a:gd name="connsiteX6" fmla="*/ 156319 w 377072"/>
              <a:gd name="connsiteY6" fmla="*/ 245099 h 256451"/>
              <a:gd name="connsiteX7" fmla="*/ 153112 w 377072"/>
              <a:gd name="connsiteY7" fmla="*/ 233358 h 256451"/>
              <a:gd name="connsiteX8" fmla="*/ 153112 w 377072"/>
              <a:gd name="connsiteY8" fmla="*/ 190562 h 256451"/>
              <a:gd name="connsiteX9" fmla="*/ 10331 w 377072"/>
              <a:gd name="connsiteY9" fmla="*/ 190562 h 256451"/>
              <a:gd name="connsiteX10" fmla="*/ 0 w 377072"/>
              <a:gd name="connsiteY10" fmla="*/ 190562 h 256451"/>
              <a:gd name="connsiteX11" fmla="*/ 0 w 377072"/>
              <a:gd name="connsiteY11" fmla="*/ 66054 h 256451"/>
              <a:gd name="connsiteX12" fmla="*/ 10331 w 377072"/>
              <a:gd name="connsiteY12" fmla="*/ 66054 h 256451"/>
              <a:gd name="connsiteX13" fmla="*/ 153112 w 377072"/>
              <a:gd name="connsiteY13" fmla="*/ 66054 h 256451"/>
              <a:gd name="connsiteX14" fmla="*/ 153112 w 377072"/>
              <a:gd name="connsiteY14" fmla="*/ 23120 h 256451"/>
              <a:gd name="connsiteX15" fmla="*/ 176166 w 377072"/>
              <a:gd name="connsiteY15" fmla="*/ 0 h 256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7072" h="256451">
                <a:moveTo>
                  <a:pt x="176166" y="0"/>
                </a:moveTo>
                <a:cubicBezTo>
                  <a:pt x="180307" y="-6"/>
                  <a:pt x="184370" y="1102"/>
                  <a:pt x="187937" y="3207"/>
                </a:cubicBezTo>
                <a:lnTo>
                  <a:pt x="365715" y="108401"/>
                </a:lnTo>
                <a:cubicBezTo>
                  <a:pt x="376696" y="114881"/>
                  <a:pt x="380346" y="129036"/>
                  <a:pt x="373863" y="140016"/>
                </a:cubicBezTo>
                <a:cubicBezTo>
                  <a:pt x="371881" y="143379"/>
                  <a:pt x="369078" y="146182"/>
                  <a:pt x="365715" y="148167"/>
                </a:cubicBezTo>
                <a:lnTo>
                  <a:pt x="187937" y="253241"/>
                </a:lnTo>
                <a:cubicBezTo>
                  <a:pt x="176956" y="259724"/>
                  <a:pt x="162802" y="256080"/>
                  <a:pt x="156319" y="245099"/>
                </a:cubicBezTo>
                <a:cubicBezTo>
                  <a:pt x="154220" y="241542"/>
                  <a:pt x="153112" y="237488"/>
                  <a:pt x="153112" y="233358"/>
                </a:cubicBezTo>
                <a:lnTo>
                  <a:pt x="153112" y="190562"/>
                </a:lnTo>
                <a:lnTo>
                  <a:pt x="10331" y="190562"/>
                </a:lnTo>
                <a:cubicBezTo>
                  <a:pt x="4625" y="190562"/>
                  <a:pt x="0" y="190562"/>
                  <a:pt x="0" y="190562"/>
                </a:cubicBezTo>
                <a:lnTo>
                  <a:pt x="0" y="66054"/>
                </a:lnTo>
                <a:cubicBezTo>
                  <a:pt x="0" y="66054"/>
                  <a:pt x="4625" y="66054"/>
                  <a:pt x="10331" y="66054"/>
                </a:cubicBezTo>
                <a:lnTo>
                  <a:pt x="153112" y="66054"/>
                </a:lnTo>
                <a:lnTo>
                  <a:pt x="153112" y="23120"/>
                </a:lnTo>
                <a:cubicBezTo>
                  <a:pt x="153094" y="10370"/>
                  <a:pt x="163416" y="18"/>
                  <a:pt x="176166" y="0"/>
                </a:cubicBezTo>
                <a:close/>
              </a:path>
            </a:pathLst>
          </a:custGeom>
          <a:gradFill>
            <a:gsLst>
              <a:gs pos="60000">
                <a:srgbClr val="ADCBF4"/>
              </a:gs>
              <a:gs pos="0">
                <a:schemeClr val="bg1">
                  <a:alpha val="0"/>
                </a:schemeClr>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p:cNvPicPr>
            <a:picLocks noChangeAspect="1"/>
          </p:cNvPicPr>
          <p:nvPr/>
        </p:nvPicPr>
        <p:blipFill rotWithShape="1">
          <a:blip r:embed="rId1">
            <a:duotone>
              <a:schemeClr val="accent5">
                <a:shade val="45000"/>
                <a:satMod val="135000"/>
              </a:schemeClr>
              <a:prstClr val="white"/>
            </a:duotone>
            <a:extLst>
              <a:ext uri="{28A0092B-C50C-407E-A947-70E740481C1C}">
                <a14:useLocalDpi xmlns:a14="http://schemas.microsoft.com/office/drawing/2010/main" val="0"/>
              </a:ext>
            </a:extLst>
          </a:blip>
          <a:srcRect l="18858" r="47266"/>
          <a:stretch>
            <a:fillRect/>
          </a:stretch>
        </p:blipFill>
        <p:spPr>
          <a:xfrm>
            <a:off x="8977006" y="0"/>
            <a:ext cx="3214993" cy="6858000"/>
          </a:xfrm>
          <a:prstGeom prst="rect">
            <a:avLst/>
          </a:prstGeom>
        </p:spPr>
      </p:pic>
      <p:sp>
        <p:nvSpPr>
          <p:cNvPr id="9" name="!!矩形: 圆角 6"/>
          <p:cNvSpPr/>
          <p:nvPr/>
        </p:nvSpPr>
        <p:spPr>
          <a:xfrm>
            <a:off x="7678999" y="1635075"/>
            <a:ext cx="3357336" cy="3339788"/>
          </a:xfrm>
          <a:prstGeom prst="roundRect">
            <a:avLst>
              <a:gd name="adj" fmla="val 6129"/>
            </a:avLst>
          </a:prstGeom>
          <a:gradFill>
            <a:gsLst>
              <a:gs pos="7000">
                <a:schemeClr val="accent1"/>
              </a:gs>
              <a:gs pos="100000">
                <a:schemeClr val="accent2"/>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cxnSp>
        <p:nvCxnSpPr>
          <p:cNvPr id="10" name="直接连接符 9"/>
          <p:cNvCxnSpPr/>
          <p:nvPr/>
        </p:nvCxnSpPr>
        <p:spPr>
          <a:xfrm>
            <a:off x="853441" y="2681682"/>
            <a:ext cx="6258684"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755933" y="1923147"/>
            <a:ext cx="6453700" cy="570284"/>
          </a:xfrm>
          <a:prstGeom prst="rect">
            <a:avLst/>
          </a:prstGeom>
        </p:spPr>
        <p:txBody>
          <a:bodyPr wrap="square">
            <a:spAutoFit/>
            <a:scene3d>
              <a:camera prst="orthographicFront"/>
              <a:lightRig rig="threePt" dir="t"/>
            </a:scene3d>
            <a:sp3d contourW="12700"/>
          </a:bodyPr>
          <a:lstStyle>
            <a:defPPr>
              <a:defRPr lang="zh-CN"/>
            </a:defPPr>
            <a:lvl1pPr>
              <a:lnSpc>
                <a:spcPct val="150000"/>
              </a:lnSpc>
              <a:spcBef>
                <a:spcPts val="1200"/>
              </a:spcBef>
              <a:defRPr sz="1100" spc="100">
                <a:solidFill>
                  <a:schemeClr val="tx2"/>
                </a:solidFill>
                <a:latin typeface="微软雅黑" panose="020B050302020402020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Parameter Efficient Fine-Tuning (PEFT) is a technique used to enhance the </a:t>
            </a:r>
            <a:r>
              <a:rPr lang="en-US" altLang="zh-CN" dirty="0" err="1"/>
              <a:t>perfor</a:t>
            </a:r>
            <a:r>
              <a:rPr lang="en-US" altLang="zh-CN" dirty="0"/>
              <a:t> </a:t>
            </a:r>
            <a:r>
              <a:rPr lang="en-US" altLang="zh-CN" dirty="0" err="1"/>
              <a:t>mance</a:t>
            </a:r>
            <a:r>
              <a:rPr lang="en-US" altLang="zh-CN" dirty="0"/>
              <a:t> of pre-trained language models on specific downstream tasks. </a:t>
            </a:r>
            <a:endParaRPr lang="zh-CN" altLang="zh-CN" dirty="0"/>
          </a:p>
        </p:txBody>
      </p:sp>
      <p:sp>
        <p:nvSpPr>
          <p:cNvPr id="12" name="文本框 11"/>
          <p:cNvSpPr txBox="1"/>
          <p:nvPr/>
        </p:nvSpPr>
        <p:spPr>
          <a:xfrm>
            <a:off x="777327" y="2781258"/>
            <a:ext cx="6453700" cy="824200"/>
          </a:xfrm>
          <a:prstGeom prst="rect">
            <a:avLst/>
          </a:prstGeom>
        </p:spPr>
        <p:txBody>
          <a:bodyPr wrap="square">
            <a:spAutoFit/>
            <a:scene3d>
              <a:camera prst="orthographicFront"/>
              <a:lightRig rig="threePt" dir="t"/>
            </a:scene3d>
            <a:sp3d contourW="12700"/>
          </a:bodyPr>
          <a:lstStyle>
            <a:defPPr>
              <a:defRPr lang="zh-CN"/>
            </a:defPPr>
            <a:lvl1pPr>
              <a:lnSpc>
                <a:spcPct val="150000"/>
              </a:lnSpc>
              <a:spcBef>
                <a:spcPts val="1200"/>
              </a:spcBef>
              <a:defRPr sz="1100" spc="100">
                <a:solidFill>
                  <a:schemeClr val="tx2"/>
                </a:solidFill>
                <a:latin typeface="微软雅黑" panose="020B050302020402020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As an example of addition-based fine-tuning, the addition-based fine-tuning method in volves adding extra parameters by introducing adapter mod ules to each layer of the pre-trained model. </a:t>
            </a:r>
            <a:endParaRPr lang="zh-CN" altLang="zh-CN" dirty="0"/>
          </a:p>
        </p:txBody>
      </p:sp>
      <p:sp>
        <p:nvSpPr>
          <p:cNvPr id="15" name="文本框 14"/>
          <p:cNvSpPr txBox="1"/>
          <p:nvPr/>
        </p:nvSpPr>
        <p:spPr>
          <a:xfrm>
            <a:off x="8107523" y="1208979"/>
            <a:ext cx="2888343" cy="674159"/>
          </a:xfrm>
          <a:prstGeom prst="rect">
            <a:avLst/>
          </a:prstGeom>
          <a:noFill/>
        </p:spPr>
        <p:txBody>
          <a:bodyPr wrap="square" lIns="0" tIns="0" rIns="0" bIns="0" anchor="ctr" anchorCtr="0">
            <a:normAutofit/>
          </a:bodyPr>
          <a:lstStyle>
            <a:defPPr>
              <a:defRPr lang="zh-CN"/>
            </a:defPPr>
            <a:lvl1pPr algn="ctr">
              <a:lnSpc>
                <a:spcPct val="130000"/>
              </a:lnSpc>
              <a:defRPr sz="3600">
                <a:solidFill>
                  <a:schemeClr val="accent2"/>
                </a:solidFill>
                <a:latin typeface="+mj-ea"/>
                <a:ea typeface="+mj-ea"/>
                <a:cs typeface="OPPOSans L" panose="00020600040101010101" pitchFamily="18" charset="-122"/>
              </a:defRPr>
            </a:lvl1pPr>
          </a:lstStyle>
          <a:p>
            <a:pPr algn="just"/>
            <a:endParaRPr lang="zh-CN" altLang="en-US" dirty="0">
              <a:solidFill>
                <a:schemeClr val="bg1"/>
              </a:solidFill>
              <a:latin typeface="+mj-lt"/>
            </a:endParaRPr>
          </a:p>
        </p:txBody>
      </p:sp>
      <p:cxnSp>
        <p:nvCxnSpPr>
          <p:cNvPr id="22" name="直接连接符 21"/>
          <p:cNvCxnSpPr/>
          <p:nvPr/>
        </p:nvCxnSpPr>
        <p:spPr>
          <a:xfrm>
            <a:off x="836816" y="1758644"/>
            <a:ext cx="328356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custDataLst>
              <p:tags r:id="rId2"/>
            </p:custDataLst>
          </p:nvPr>
        </p:nvSpPr>
        <p:spPr>
          <a:xfrm>
            <a:off x="836816" y="1329969"/>
            <a:ext cx="4405602" cy="399508"/>
          </a:xfrm>
          <a:prstGeom prst="rect">
            <a:avLst/>
          </a:prstGeom>
          <a:noFill/>
        </p:spPr>
        <p:txBody>
          <a:bodyPr wrap="square" lIns="0" tIns="0" rIns="0" bIns="0" rtlCol="0" anchor="t">
            <a:normAutofit/>
          </a:bodyPr>
          <a:lstStyle/>
          <a:p>
            <a:pPr algn="just">
              <a:lnSpc>
                <a:spcPct val="130000"/>
              </a:lnSpc>
            </a:pPr>
            <a:r>
              <a:rPr lang="en-US" altLang="zh-CN" sz="2000" dirty="0">
                <a:solidFill>
                  <a:schemeClr val="accent1"/>
                </a:solidFill>
                <a:latin typeface="Times New Roman" panose="02020603050405020304" charset="0"/>
                <a:cs typeface="Times New Roman" panose="02020603050405020304" charset="0"/>
                <a:sym typeface="OPPOSans L" panose="00020600040101010101" pitchFamily="18" charset="-122"/>
              </a:rPr>
              <a:t>Parameter Efficient Fine-Tuning</a:t>
            </a:r>
            <a:endParaRPr lang="zh-CN" altLang="en-US" sz="2000" dirty="0">
              <a:solidFill>
                <a:schemeClr val="tx2"/>
              </a:solidFill>
              <a:latin typeface="Times New Roman" panose="02020603050405020304" charset="0"/>
              <a:cs typeface="Times New Roman" panose="02020603050405020304" charset="0"/>
              <a:sym typeface="OPPOSans L" panose="00020600040101010101" pitchFamily="18" charset="-122"/>
            </a:endParaRPr>
          </a:p>
        </p:txBody>
      </p:sp>
      <p:pic>
        <p:nvPicPr>
          <p:cNvPr id="27" name="图片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08187" y="1842914"/>
            <a:ext cx="3098959" cy="2876698"/>
          </a:xfrm>
          <a:prstGeom prst="snip2DiagRect">
            <a:avLst/>
          </a:prstGeom>
          <a:solidFill>
            <a:srgbClr val="FFFFFF">
              <a:shade val="85000"/>
            </a:srgbClr>
          </a:solidFill>
          <a:ln w="88900" cap="sq">
            <a:solidFill>
              <a:srgbClr val="FFFFFF"/>
            </a:solidFill>
            <a:miter lim="800000"/>
            <a:headEnd/>
            <a:tailEnd/>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8" name="文本框 27"/>
          <p:cNvSpPr txBox="1"/>
          <p:nvPr/>
        </p:nvSpPr>
        <p:spPr>
          <a:xfrm>
            <a:off x="2438091" y="385434"/>
            <a:ext cx="7150100" cy="521970"/>
          </a:xfrm>
          <a:prstGeom prst="rect">
            <a:avLst/>
          </a:prstGeom>
          <a:noFill/>
        </p:spPr>
        <p:txBody>
          <a:bodyPr wrap="none" rtlCol="0" anchor="ctr">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pPr algn="l"/>
            <a:r>
              <a:rPr lang="en-US" altLang="zh-CN" sz="2800" b="0" i="0" dirty="0">
                <a:effectLst/>
                <a:latin typeface="Montserrat" panose="00000500000000000000" pitchFamily="2" charset="0"/>
              </a:rPr>
              <a:t>Representative Fine-tuning Techniques</a:t>
            </a:r>
            <a:endParaRPr lang="en-US" altLang="zh-CN" sz="2800" b="0" i="0" dirty="0">
              <a:effectLst/>
              <a:latin typeface="Montserrat" panose="00000500000000000000" pitchFamily="2" charset="0"/>
            </a:endParaRPr>
          </a:p>
        </p:txBody>
      </p:sp>
      <p:cxnSp>
        <p:nvCxnSpPr>
          <p:cNvPr id="29" name="直接连接符 28"/>
          <p:cNvCxnSpPr/>
          <p:nvPr/>
        </p:nvCxnSpPr>
        <p:spPr>
          <a:xfrm>
            <a:off x="5857389" y="1111349"/>
            <a:ext cx="44974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矩形: 圆角 32"/>
          <p:cNvSpPr/>
          <p:nvPr/>
        </p:nvSpPr>
        <p:spPr>
          <a:xfrm>
            <a:off x="245856" y="4074895"/>
            <a:ext cx="4119267" cy="1142760"/>
          </a:xfrm>
          <a:prstGeom prst="roundRect">
            <a:avLst>
              <a:gd name="adj" fmla="val 10980"/>
            </a:avLst>
          </a:prstGeom>
          <a:gradFill>
            <a:gsLst>
              <a:gs pos="7000">
                <a:schemeClr val="accent1"/>
              </a:gs>
              <a:gs pos="100000">
                <a:schemeClr val="accent2"/>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bg1"/>
                </a:solidFill>
                <a:latin typeface="Times New Roman" panose="02020603050405020304" charset="0"/>
                <a:cs typeface="Times New Roman" panose="02020603050405020304" charset="0"/>
              </a:rPr>
              <a:t>By only fine-tuning the newly added adapter structures and the layer norm layers</a:t>
            </a:r>
            <a:endParaRPr lang="zh-CN" altLang="en-US" dirty="0"/>
          </a:p>
        </p:txBody>
      </p:sp>
      <p:sp>
        <p:nvSpPr>
          <p:cNvPr id="34" name="任意多边形 20"/>
          <p:cNvSpPr/>
          <p:nvPr/>
        </p:nvSpPr>
        <p:spPr>
          <a:xfrm>
            <a:off x="5014127" y="5217655"/>
            <a:ext cx="1606078" cy="293585"/>
          </a:xfrm>
          <a:custGeom>
            <a:avLst/>
            <a:gdLst>
              <a:gd name="connsiteX0" fmla="*/ 1324243 w 1674229"/>
              <a:gd name="connsiteY0" fmla="*/ 0 h 204783"/>
              <a:gd name="connsiteX1" fmla="*/ 1674229 w 1674229"/>
              <a:gd name="connsiteY1" fmla="*/ 204783 h 204783"/>
              <a:gd name="connsiteX2" fmla="*/ 0 w 1674229"/>
              <a:gd name="connsiteY2" fmla="*/ 204783 h 204783"/>
              <a:gd name="connsiteX3" fmla="*/ 0 w 1674229"/>
              <a:gd name="connsiteY3" fmla="*/ 129461 h 204783"/>
              <a:gd name="connsiteX4" fmla="*/ 1324243 w 1674229"/>
              <a:gd name="connsiteY4" fmla="*/ 129461 h 204783"/>
              <a:gd name="connsiteX5" fmla="*/ 1324243 w 1674229"/>
              <a:gd name="connsiteY5" fmla="*/ 0 h 204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4229" h="204783">
                <a:moveTo>
                  <a:pt x="1324243" y="0"/>
                </a:moveTo>
                <a:lnTo>
                  <a:pt x="1674229" y="204783"/>
                </a:lnTo>
                <a:lnTo>
                  <a:pt x="0" y="204783"/>
                </a:lnTo>
                <a:lnTo>
                  <a:pt x="0" y="129461"/>
                </a:lnTo>
                <a:lnTo>
                  <a:pt x="1324243" y="129461"/>
                </a:lnTo>
                <a:lnTo>
                  <a:pt x="1324243" y="0"/>
                </a:lnTo>
                <a:close/>
              </a:path>
            </a:pathLst>
          </a:custGeom>
          <a:gradFill>
            <a:gsLst>
              <a:gs pos="0">
                <a:schemeClr val="accent1">
                  <a:lumMod val="5000"/>
                  <a:lumOff val="95000"/>
                  <a:alpha val="0"/>
                </a:schemeClr>
              </a:gs>
              <a:gs pos="70000">
                <a:schemeClr val="accent1"/>
              </a:gs>
            </a:gsLst>
            <a:lin ang="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22"/>
          <p:cNvSpPr/>
          <p:nvPr/>
        </p:nvSpPr>
        <p:spPr>
          <a:xfrm flipH="1" flipV="1">
            <a:off x="5092780" y="5849872"/>
            <a:ext cx="1606076" cy="372538"/>
          </a:xfrm>
          <a:custGeom>
            <a:avLst/>
            <a:gdLst>
              <a:gd name="connsiteX0" fmla="*/ 1324243 w 1674229"/>
              <a:gd name="connsiteY0" fmla="*/ 0 h 204783"/>
              <a:gd name="connsiteX1" fmla="*/ 1674229 w 1674229"/>
              <a:gd name="connsiteY1" fmla="*/ 204783 h 204783"/>
              <a:gd name="connsiteX2" fmla="*/ 0 w 1674229"/>
              <a:gd name="connsiteY2" fmla="*/ 204783 h 204783"/>
              <a:gd name="connsiteX3" fmla="*/ 0 w 1674229"/>
              <a:gd name="connsiteY3" fmla="*/ 129461 h 204783"/>
              <a:gd name="connsiteX4" fmla="*/ 1324243 w 1674229"/>
              <a:gd name="connsiteY4" fmla="*/ 129461 h 204783"/>
              <a:gd name="connsiteX5" fmla="*/ 1324243 w 1674229"/>
              <a:gd name="connsiteY5" fmla="*/ 0 h 204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4229" h="204783">
                <a:moveTo>
                  <a:pt x="1324243" y="0"/>
                </a:moveTo>
                <a:lnTo>
                  <a:pt x="1674229" y="204783"/>
                </a:lnTo>
                <a:lnTo>
                  <a:pt x="0" y="204783"/>
                </a:lnTo>
                <a:lnTo>
                  <a:pt x="0" y="129461"/>
                </a:lnTo>
                <a:lnTo>
                  <a:pt x="1324243" y="129461"/>
                </a:lnTo>
                <a:lnTo>
                  <a:pt x="1324243" y="0"/>
                </a:lnTo>
                <a:close/>
              </a:path>
            </a:pathLst>
          </a:custGeom>
          <a:gradFill>
            <a:gsLst>
              <a:gs pos="0">
                <a:schemeClr val="accent1">
                  <a:lumMod val="5000"/>
                  <a:lumOff val="95000"/>
                  <a:alpha val="0"/>
                </a:schemeClr>
              </a:gs>
              <a:gs pos="70000">
                <a:schemeClr val="accent1"/>
              </a:gs>
            </a:gsLst>
            <a:lin ang="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nvSpPr>
        <p:spPr>
          <a:xfrm>
            <a:off x="3323620" y="5365391"/>
            <a:ext cx="2110970" cy="584775"/>
          </a:xfrm>
          <a:prstGeom prst="rect">
            <a:avLst/>
          </a:prstGeom>
          <a:noFill/>
        </p:spPr>
        <p:txBody>
          <a:bodyPr wrap="square">
            <a:spAutoFit/>
          </a:bodyPr>
          <a:lstStyle/>
          <a:p>
            <a:pPr algn="l"/>
            <a:r>
              <a:rPr lang="en-US" altLang="zh-CN" sz="1600" b="1" i="0" dirty="0">
                <a:effectLst/>
                <a:latin typeface="Times New Roman" panose="02020603050405020304" charset="0"/>
                <a:cs typeface="Times New Roman" panose="02020603050405020304" charset="0"/>
              </a:rPr>
              <a:t>Classic Parameter Fine-tuning</a:t>
            </a:r>
            <a:endParaRPr lang="en-US" altLang="zh-CN" sz="1600" b="1" i="0" dirty="0">
              <a:effectLst/>
              <a:latin typeface="Times New Roman" panose="02020603050405020304" charset="0"/>
              <a:cs typeface="Times New Roman" panose="02020603050405020304" charset="0"/>
            </a:endParaRPr>
          </a:p>
        </p:txBody>
      </p:sp>
      <p:sp>
        <p:nvSpPr>
          <p:cNvPr id="39" name="文本框 38"/>
          <p:cNvSpPr txBox="1"/>
          <p:nvPr/>
        </p:nvSpPr>
        <p:spPr>
          <a:xfrm>
            <a:off x="6620205" y="5271132"/>
            <a:ext cx="2181022" cy="700576"/>
          </a:xfrm>
          <a:prstGeom prst="rect">
            <a:avLst/>
          </a:prstGeom>
          <a:noFill/>
        </p:spPr>
        <p:txBody>
          <a:bodyPr wrap="square">
            <a:spAutoFit/>
          </a:bodyPr>
          <a:lstStyle/>
          <a:p>
            <a:pPr>
              <a:lnSpc>
                <a:spcPct val="130000"/>
              </a:lnSpc>
            </a:pPr>
            <a:r>
              <a:rPr lang="en-US" altLang="zh-CN" sz="1600" b="1" dirty="0">
                <a:latin typeface="Times New Roman" panose="02020603050405020304" charset="0"/>
                <a:cs typeface="Times New Roman" panose="02020603050405020304" charset="0"/>
                <a:sym typeface="OPPOSans L" panose="00020600040101010101" pitchFamily="18" charset="-122"/>
              </a:rPr>
              <a:t>Parameter Efficient Fine-Tuning</a:t>
            </a:r>
            <a:endParaRPr lang="zh-CN" altLang="en-US" sz="1600" b="1" dirty="0">
              <a:latin typeface="Times New Roman" panose="02020603050405020304" charset="0"/>
              <a:cs typeface="Times New Roman" panose="02020603050405020304" charset="0"/>
              <a:sym typeface="OPPOSans L" panose="00020600040101010101" pitchFamily="18" charset="-122"/>
            </a:endParaRPr>
          </a:p>
        </p:txBody>
      </p:sp>
      <p:grpSp>
        <p:nvGrpSpPr>
          <p:cNvPr id="40" name="组合 39"/>
          <p:cNvGrpSpPr/>
          <p:nvPr/>
        </p:nvGrpSpPr>
        <p:grpSpPr>
          <a:xfrm>
            <a:off x="3823331" y="4517483"/>
            <a:ext cx="404258" cy="404258"/>
            <a:chOff x="1763360" y="1689099"/>
            <a:chExt cx="502920" cy="502920"/>
          </a:xfrm>
        </p:grpSpPr>
        <p:sp>
          <p:nvSpPr>
            <p:cNvPr id="41" name="椭圆 40"/>
            <p:cNvSpPr/>
            <p:nvPr/>
          </p:nvSpPr>
          <p:spPr>
            <a:xfrm>
              <a:off x="1763360" y="1689099"/>
              <a:ext cx="502920" cy="502920"/>
            </a:xfrm>
            <a:prstGeom prst="ellipse">
              <a:avLst/>
            </a:prstGeom>
            <a:gradFill>
              <a:gsLst>
                <a:gs pos="7000">
                  <a:schemeClr val="accent1"/>
                </a:gs>
                <a:gs pos="100000">
                  <a:schemeClr val="accent2"/>
                </a:gs>
              </a:gsLst>
              <a:lin ang="18600000" scaled="0"/>
            </a:gradFill>
            <a:ln w="38100">
              <a:solidFill>
                <a:srgbClr val="F4F9FF"/>
              </a:solid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42" name="矩形: 圆角"/>
            <p:cNvSpPr/>
            <p:nvPr/>
          </p:nvSpPr>
          <p:spPr>
            <a:xfrm>
              <a:off x="1873307" y="1821771"/>
              <a:ext cx="304843" cy="219309"/>
            </a:xfrm>
            <a:custGeom>
              <a:avLst/>
              <a:gdLst>
                <a:gd name="T0" fmla="*/ 3421 w 8754"/>
                <a:gd name="T1" fmla="*/ 6088 h 6297"/>
                <a:gd name="T2" fmla="*/ 8754 w 8754"/>
                <a:gd name="T3" fmla="*/ 754 h 6297"/>
                <a:gd name="T4" fmla="*/ 8000 w 8754"/>
                <a:gd name="T5" fmla="*/ 0 h 6297"/>
                <a:gd name="T6" fmla="*/ 3044 w 8754"/>
                <a:gd name="T7" fmla="*/ 4957 h 6297"/>
                <a:gd name="T8" fmla="*/ 754 w 8754"/>
                <a:gd name="T9" fmla="*/ 2667 h 6297"/>
                <a:gd name="T10" fmla="*/ 0 w 8754"/>
                <a:gd name="T11" fmla="*/ 3421 h 6297"/>
                <a:gd name="T12" fmla="*/ 2667 w 8754"/>
                <a:gd name="T13" fmla="*/ 6088 h 6297"/>
                <a:gd name="T14" fmla="*/ 3421 w 8754"/>
                <a:gd name="T15" fmla="*/ 6088 h 629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54" h="6297">
                  <a:moveTo>
                    <a:pt x="3421" y="6088"/>
                  </a:moveTo>
                  <a:lnTo>
                    <a:pt x="8754" y="754"/>
                  </a:lnTo>
                  <a:lnTo>
                    <a:pt x="8000" y="0"/>
                  </a:lnTo>
                  <a:lnTo>
                    <a:pt x="3044" y="4957"/>
                  </a:lnTo>
                  <a:lnTo>
                    <a:pt x="754" y="2667"/>
                  </a:lnTo>
                  <a:lnTo>
                    <a:pt x="0" y="3421"/>
                  </a:lnTo>
                  <a:lnTo>
                    <a:pt x="2667" y="6088"/>
                  </a:lnTo>
                  <a:cubicBezTo>
                    <a:pt x="2875" y="6297"/>
                    <a:pt x="3213" y="6297"/>
                    <a:pt x="3421" y="60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文本框 43"/>
          <p:cNvSpPr txBox="1"/>
          <p:nvPr/>
        </p:nvSpPr>
        <p:spPr>
          <a:xfrm>
            <a:off x="5231778" y="5479303"/>
            <a:ext cx="1564206" cy="369332"/>
          </a:xfrm>
          <a:prstGeom prst="rect">
            <a:avLst/>
          </a:prstGeom>
          <a:noFill/>
        </p:spPr>
        <p:txBody>
          <a:bodyPr wrap="square">
            <a:spAutoFit/>
          </a:bodyPr>
          <a:lstStyle/>
          <a:p>
            <a:r>
              <a:rPr lang="en-US" altLang="zh-CN" dirty="0">
                <a:highlight>
                  <a:srgbClr val="FFFF00"/>
                </a:highlight>
                <a:latin typeface="Times New Roman" panose="02020603050405020304" charset="0"/>
                <a:cs typeface="Times New Roman" panose="02020603050405020304" charset="0"/>
              </a:rPr>
              <a:t>same effect</a:t>
            </a:r>
            <a:endParaRPr lang="zh-CN" altLang="en-US" dirty="0">
              <a:highlight>
                <a:srgbClr val="FFFF00"/>
              </a:highlight>
              <a:latin typeface="Times New Roman" panose="02020603050405020304" charset="0"/>
              <a:cs typeface="Times New Roman" panose="02020603050405020304" charset="0"/>
            </a:endParaRPr>
          </a:p>
        </p:txBody>
      </p:sp>
      <p:sp>
        <p:nvSpPr>
          <p:cNvPr id="46" name="文本框 45"/>
          <p:cNvSpPr txBox="1"/>
          <p:nvPr/>
        </p:nvSpPr>
        <p:spPr>
          <a:xfrm>
            <a:off x="4494311" y="4074895"/>
            <a:ext cx="3257150" cy="369332"/>
          </a:xfrm>
          <a:prstGeom prst="rect">
            <a:avLst/>
          </a:prstGeom>
          <a:noFill/>
        </p:spPr>
        <p:txBody>
          <a:bodyPr wrap="square">
            <a:spAutoFit/>
          </a:bodyPr>
          <a:lstStyle/>
          <a:p>
            <a:r>
              <a:rPr lang="en-US" altLang="zh-CN" dirty="0">
                <a:solidFill>
                  <a:srgbClr val="FF0000"/>
                </a:solidFill>
                <a:latin typeface="Times New Roman" panose="02020603050405020304" charset="0"/>
                <a:cs typeface="Times New Roman" panose="02020603050405020304" charset="0"/>
              </a:rPr>
              <a:t>The process can be expressed as</a:t>
            </a:r>
            <a:endParaRPr lang="zh-CN" altLang="en-US" dirty="0">
              <a:solidFill>
                <a:srgbClr val="FF0000"/>
              </a:solidFill>
              <a:latin typeface="Times New Roman" panose="02020603050405020304" charset="0"/>
              <a:cs typeface="Times New Roman" panose="02020603050405020304" charset="0"/>
            </a:endParaRPr>
          </a:p>
        </p:txBody>
      </p:sp>
      <p:pic>
        <p:nvPicPr>
          <p:cNvPr id="48" name="图片 47"/>
          <p:cNvPicPr>
            <a:picLocks noChangeAspect="1"/>
          </p:cNvPicPr>
          <p:nvPr/>
        </p:nvPicPr>
        <p:blipFill>
          <a:blip r:embed="rId4"/>
          <a:stretch>
            <a:fillRect/>
          </a:stretch>
        </p:blipFill>
        <p:spPr>
          <a:xfrm>
            <a:off x="5155913" y="4611819"/>
            <a:ext cx="1852695" cy="33381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5656518" y="2010683"/>
            <a:ext cx="6598672" cy="3610511"/>
          </a:xfrm>
          <a:prstGeom prst="ellipse">
            <a:avLst/>
          </a:prstGeom>
          <a:gradFill>
            <a:gsLst>
              <a:gs pos="7000">
                <a:schemeClr val="accent1"/>
              </a:gs>
              <a:gs pos="100000">
                <a:schemeClr val="accent2"/>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pic>
        <p:nvPicPr>
          <p:cNvPr id="19" name="图片 1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720852" y="2667703"/>
            <a:ext cx="4573511" cy="229647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7" name="任意多边形: 形状 26"/>
          <p:cNvSpPr/>
          <p:nvPr/>
        </p:nvSpPr>
        <p:spPr>
          <a:xfrm>
            <a:off x="825412" y="2230340"/>
            <a:ext cx="4558643" cy="1914553"/>
          </a:xfrm>
          <a:custGeom>
            <a:avLst/>
            <a:gdLst>
              <a:gd name="connsiteX0" fmla="*/ 0 w 2574201"/>
              <a:gd name="connsiteY0" fmla="*/ 0 h 1914553"/>
              <a:gd name="connsiteX1" fmla="*/ 2574201 w 2574201"/>
              <a:gd name="connsiteY1" fmla="*/ 0 h 1914553"/>
              <a:gd name="connsiteX2" fmla="*/ 2574201 w 2574201"/>
              <a:gd name="connsiteY2" fmla="*/ 1874602 h 1914553"/>
              <a:gd name="connsiteX3" fmla="*/ 2534250 w 2574201"/>
              <a:gd name="connsiteY3" fmla="*/ 1914553 h 1914553"/>
              <a:gd name="connsiteX4" fmla="*/ 39952 w 2574201"/>
              <a:gd name="connsiteY4" fmla="*/ 1914553 h 1914553"/>
              <a:gd name="connsiteX5" fmla="*/ 0 w 2574201"/>
              <a:gd name="connsiteY5" fmla="*/ 1874602 h 1914553"/>
              <a:gd name="connsiteX6" fmla="*/ 0 w 2574201"/>
              <a:gd name="connsiteY6" fmla="*/ 0 h 1914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4201" h="1914553">
                <a:moveTo>
                  <a:pt x="0" y="0"/>
                </a:moveTo>
                <a:lnTo>
                  <a:pt x="2574201" y="0"/>
                </a:lnTo>
                <a:lnTo>
                  <a:pt x="2574201" y="1874602"/>
                </a:lnTo>
                <a:cubicBezTo>
                  <a:pt x="2574201" y="1896666"/>
                  <a:pt x="2556314" y="1914553"/>
                  <a:pt x="2534250" y="1914553"/>
                </a:cubicBezTo>
                <a:lnTo>
                  <a:pt x="39952" y="1914553"/>
                </a:lnTo>
                <a:cubicBezTo>
                  <a:pt x="17887" y="1914553"/>
                  <a:pt x="0" y="1896666"/>
                  <a:pt x="0" y="1874602"/>
                </a:cubicBezTo>
                <a:lnTo>
                  <a:pt x="0" y="0"/>
                </a:lnTo>
                <a:close/>
              </a:path>
            </a:pathLst>
          </a:custGeom>
          <a:gradFill>
            <a:gsLst>
              <a:gs pos="0">
                <a:srgbClr val="DEE0F5"/>
              </a:gs>
              <a:gs pos="100000">
                <a:srgbClr val="EFF5FE"/>
              </a:gs>
            </a:gsLst>
            <a:lin ang="2700000" scaled="0"/>
          </a:gradFill>
          <a:ln>
            <a:noFill/>
          </a:ln>
          <a:effectLst>
            <a:outerShdw blurRad="342900" dist="342900" dir="5400000" sx="87000" sy="87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noAutofit/>
          </a:bodyPr>
          <a:lstStyle/>
          <a:p>
            <a:pPr>
              <a:lnSpc>
                <a:spcPct val="150000"/>
              </a:lnSpc>
            </a:pPr>
            <a:r>
              <a:rPr lang="en-US" altLang="zh-CN" sz="1200" dirty="0">
                <a:solidFill>
                  <a:schemeClr val="tx1"/>
                </a:solidFill>
                <a:highlight>
                  <a:srgbClr val="FFFF00"/>
                </a:highlight>
                <a:latin typeface="Times New Roman" panose="02020603050405020304" charset="0"/>
                <a:ea typeface="+mj-ea"/>
                <a:cs typeface="Times New Roman" panose="02020603050405020304" charset="0"/>
              </a:rPr>
              <a:t>Bridging the Gap between Pre-training and Fine-tuning</a:t>
            </a:r>
            <a:r>
              <a:rPr lang="en-US" altLang="zh-CN" sz="1200" dirty="0">
                <a:solidFill>
                  <a:schemeClr val="tx1"/>
                </a:solidFill>
                <a:latin typeface="Times New Roman" panose="02020603050405020304" charset="0"/>
                <a:ea typeface="+mj-ea"/>
                <a:cs typeface="Times New Roman" panose="02020603050405020304" charset="0"/>
              </a:rPr>
              <a:t>: Pre-training tasks primarily focus on Masked Language Modeling (MLM), while downstream tasks introduce new training parameters, resulting in significant differences between the objectives of the two stages. </a:t>
            </a:r>
            <a:endParaRPr lang="zh-CN" altLang="en-US" sz="1200" dirty="0">
              <a:solidFill>
                <a:schemeClr val="tx1"/>
              </a:solidFill>
              <a:latin typeface="Times New Roman" panose="02020603050405020304" charset="0"/>
              <a:ea typeface="+mj-ea"/>
              <a:cs typeface="Times New Roman" panose="02020603050405020304" charset="0"/>
            </a:endParaRPr>
          </a:p>
        </p:txBody>
      </p:sp>
      <p:sp>
        <p:nvSpPr>
          <p:cNvPr id="28" name="任意多边形: 形状 27"/>
          <p:cNvSpPr/>
          <p:nvPr/>
        </p:nvSpPr>
        <p:spPr>
          <a:xfrm>
            <a:off x="825413" y="1429644"/>
            <a:ext cx="4558643" cy="540544"/>
          </a:xfrm>
          <a:custGeom>
            <a:avLst/>
            <a:gdLst>
              <a:gd name="connsiteX0" fmla="*/ 39952 w 2574201"/>
              <a:gd name="connsiteY0" fmla="*/ 0 h 540544"/>
              <a:gd name="connsiteX1" fmla="*/ 2534250 w 2574201"/>
              <a:gd name="connsiteY1" fmla="*/ 0 h 540544"/>
              <a:gd name="connsiteX2" fmla="*/ 2574201 w 2574201"/>
              <a:gd name="connsiteY2" fmla="*/ 39951 h 540544"/>
              <a:gd name="connsiteX3" fmla="*/ 2574201 w 2574201"/>
              <a:gd name="connsiteY3" fmla="*/ 109801 h 540544"/>
              <a:gd name="connsiteX4" fmla="*/ 2574201 w 2574201"/>
              <a:gd name="connsiteY4" fmla="*/ 470694 h 540544"/>
              <a:gd name="connsiteX5" fmla="*/ 2574201 w 2574201"/>
              <a:gd name="connsiteY5" fmla="*/ 540544 h 540544"/>
              <a:gd name="connsiteX6" fmla="*/ 0 w 2574201"/>
              <a:gd name="connsiteY6" fmla="*/ 540544 h 540544"/>
              <a:gd name="connsiteX7" fmla="*/ 0 w 2574201"/>
              <a:gd name="connsiteY7" fmla="*/ 470694 h 540544"/>
              <a:gd name="connsiteX8" fmla="*/ 0 w 2574201"/>
              <a:gd name="connsiteY8" fmla="*/ 109801 h 540544"/>
              <a:gd name="connsiteX9" fmla="*/ 0 w 2574201"/>
              <a:gd name="connsiteY9" fmla="*/ 39951 h 540544"/>
              <a:gd name="connsiteX10" fmla="*/ 39952 w 2574201"/>
              <a:gd name="connsiteY10" fmla="*/ 0 h 540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74201" h="540544">
                <a:moveTo>
                  <a:pt x="39952" y="0"/>
                </a:moveTo>
                <a:lnTo>
                  <a:pt x="2534250" y="0"/>
                </a:lnTo>
                <a:cubicBezTo>
                  <a:pt x="2556314" y="0"/>
                  <a:pt x="2574201" y="17887"/>
                  <a:pt x="2574201" y="39951"/>
                </a:cubicBezTo>
                <a:lnTo>
                  <a:pt x="2574201" y="109801"/>
                </a:lnTo>
                <a:lnTo>
                  <a:pt x="2574201" y="470694"/>
                </a:lnTo>
                <a:lnTo>
                  <a:pt x="2574201" y="540544"/>
                </a:lnTo>
                <a:lnTo>
                  <a:pt x="0" y="540544"/>
                </a:lnTo>
                <a:lnTo>
                  <a:pt x="0" y="470694"/>
                </a:lnTo>
                <a:lnTo>
                  <a:pt x="0" y="109801"/>
                </a:lnTo>
                <a:lnTo>
                  <a:pt x="0" y="39951"/>
                </a:lnTo>
                <a:cubicBezTo>
                  <a:pt x="0" y="17887"/>
                  <a:pt x="17887" y="0"/>
                  <a:pt x="39952" y="0"/>
                </a:cubicBezTo>
                <a:close/>
              </a:path>
            </a:pathLst>
          </a:custGeom>
          <a:gradFill>
            <a:gsLst>
              <a:gs pos="7000">
                <a:schemeClr val="accent1"/>
              </a:gs>
              <a:gs pos="100000">
                <a:schemeClr val="accent2"/>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800" dirty="0">
                <a:solidFill>
                  <a:schemeClr val="bg1"/>
                </a:solidFill>
                <a:latin typeface="Times New Roman" panose="02020603050405020304" charset="0"/>
                <a:cs typeface="Times New Roman" panose="02020603050405020304" charset="0"/>
              </a:rPr>
              <a:t>Prompt Tuning mainly addresses two issues</a:t>
            </a:r>
            <a:endParaRPr lang="zh-CN" altLang="en-US" sz="1800" dirty="0">
              <a:solidFill>
                <a:schemeClr val="bg1"/>
              </a:solidFill>
              <a:latin typeface="Times New Roman" panose="02020603050405020304" charset="0"/>
              <a:cs typeface="Times New Roman" panose="02020603050405020304" charset="0"/>
            </a:endParaRPr>
          </a:p>
        </p:txBody>
      </p:sp>
      <p:sp>
        <p:nvSpPr>
          <p:cNvPr id="30" name="任意多边形: 形状 29"/>
          <p:cNvSpPr/>
          <p:nvPr/>
        </p:nvSpPr>
        <p:spPr>
          <a:xfrm>
            <a:off x="825413" y="4471079"/>
            <a:ext cx="4558642" cy="1914553"/>
          </a:xfrm>
          <a:custGeom>
            <a:avLst/>
            <a:gdLst>
              <a:gd name="connsiteX0" fmla="*/ 0 w 2574201"/>
              <a:gd name="connsiteY0" fmla="*/ 0 h 1914553"/>
              <a:gd name="connsiteX1" fmla="*/ 2574201 w 2574201"/>
              <a:gd name="connsiteY1" fmla="*/ 0 h 1914553"/>
              <a:gd name="connsiteX2" fmla="*/ 2574201 w 2574201"/>
              <a:gd name="connsiteY2" fmla="*/ 1874602 h 1914553"/>
              <a:gd name="connsiteX3" fmla="*/ 2534250 w 2574201"/>
              <a:gd name="connsiteY3" fmla="*/ 1914553 h 1914553"/>
              <a:gd name="connsiteX4" fmla="*/ 39952 w 2574201"/>
              <a:gd name="connsiteY4" fmla="*/ 1914553 h 1914553"/>
              <a:gd name="connsiteX5" fmla="*/ 0 w 2574201"/>
              <a:gd name="connsiteY5" fmla="*/ 1874602 h 1914553"/>
              <a:gd name="connsiteX6" fmla="*/ 0 w 2574201"/>
              <a:gd name="connsiteY6" fmla="*/ 0 h 1914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4201" h="1914553">
                <a:moveTo>
                  <a:pt x="0" y="0"/>
                </a:moveTo>
                <a:lnTo>
                  <a:pt x="2574201" y="0"/>
                </a:lnTo>
                <a:lnTo>
                  <a:pt x="2574201" y="1874602"/>
                </a:lnTo>
                <a:cubicBezTo>
                  <a:pt x="2574201" y="1896666"/>
                  <a:pt x="2556314" y="1914553"/>
                  <a:pt x="2534250" y="1914553"/>
                </a:cubicBezTo>
                <a:lnTo>
                  <a:pt x="39952" y="1914553"/>
                </a:lnTo>
                <a:cubicBezTo>
                  <a:pt x="17887" y="1914553"/>
                  <a:pt x="0" y="1896666"/>
                  <a:pt x="0" y="1874602"/>
                </a:cubicBezTo>
                <a:lnTo>
                  <a:pt x="0" y="0"/>
                </a:lnTo>
                <a:close/>
              </a:path>
            </a:pathLst>
          </a:custGeom>
          <a:gradFill>
            <a:gsLst>
              <a:gs pos="0">
                <a:srgbClr val="DEE0F5"/>
              </a:gs>
              <a:gs pos="100000">
                <a:srgbClr val="EFF5FE"/>
              </a:gs>
            </a:gsLst>
            <a:lin ang="2700000" scaled="0"/>
          </a:gradFill>
          <a:ln>
            <a:noFill/>
          </a:ln>
          <a:effectLst>
            <a:outerShdw blurRad="342900" dist="342900" dir="5400000" sx="87000" sy="87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noAutofit/>
          </a:bodyPr>
          <a:lstStyle/>
          <a:p>
            <a:pPr>
              <a:lnSpc>
                <a:spcPct val="150000"/>
              </a:lnSpc>
            </a:pPr>
            <a:r>
              <a:rPr lang="en-US" altLang="zh-CN" sz="1200" dirty="0">
                <a:solidFill>
                  <a:schemeClr val="tx1"/>
                </a:solidFill>
                <a:highlight>
                  <a:srgbClr val="FFFF00"/>
                </a:highlight>
                <a:latin typeface="Times New Roman" panose="02020603050405020304" charset="0"/>
                <a:ea typeface="+mj-ea"/>
                <a:cs typeface="Times New Roman" panose="02020603050405020304" charset="0"/>
              </a:rPr>
              <a:t>Avoiding Overfitting of the Head</a:t>
            </a:r>
            <a:r>
              <a:rPr lang="en-US" altLang="zh-CN" sz="1200" dirty="0">
                <a:solidFill>
                  <a:schemeClr val="tx1"/>
                </a:solidFill>
                <a:latin typeface="Times New Roman" panose="02020603050405020304" charset="0"/>
                <a:ea typeface="+mj-ea"/>
                <a:cs typeface="Times New Roman" panose="02020603050405020304" charset="0"/>
              </a:rPr>
              <a:t>: During the Fine-tuning stage, additional parameters are introduced to adapt to specific task requirements, which can easily lead to overfitting when the number of training samples is limited, thereby reducing the model's generalization ability. </a:t>
            </a:r>
            <a:endParaRPr lang="zh-CN" altLang="en-US" sz="1200" dirty="0">
              <a:solidFill>
                <a:schemeClr val="tx1"/>
              </a:solidFill>
              <a:latin typeface="Times New Roman" panose="02020603050405020304" charset="0"/>
              <a:ea typeface="+mj-ea"/>
              <a:cs typeface="Times New Roman" panose="02020603050405020304" charset="0"/>
            </a:endParaRPr>
          </a:p>
        </p:txBody>
      </p:sp>
      <p:sp>
        <p:nvSpPr>
          <p:cNvPr id="34" name="文本框 33"/>
          <p:cNvSpPr txBox="1"/>
          <p:nvPr/>
        </p:nvSpPr>
        <p:spPr>
          <a:xfrm>
            <a:off x="2520641" y="411469"/>
            <a:ext cx="7150100" cy="521970"/>
          </a:xfrm>
          <a:prstGeom prst="rect">
            <a:avLst/>
          </a:prstGeom>
          <a:noFill/>
        </p:spPr>
        <p:txBody>
          <a:bodyPr wrap="none" rtlCol="0" anchor="ctr">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pPr algn="l"/>
            <a:r>
              <a:rPr lang="en-US" altLang="zh-CN" sz="2800" b="0" i="0" dirty="0">
                <a:effectLst/>
                <a:latin typeface="Montserrat" panose="00000500000000000000" pitchFamily="2" charset="0"/>
              </a:rPr>
              <a:t>Representative Fine-tuning Techniques</a:t>
            </a:r>
            <a:endParaRPr lang="en-US" altLang="zh-CN" sz="2800" b="0" i="0" dirty="0">
              <a:effectLst/>
              <a:latin typeface="Montserrat" panose="00000500000000000000" pitchFamily="2" charset="0"/>
            </a:endParaRPr>
          </a:p>
        </p:txBody>
      </p:sp>
      <p:cxnSp>
        <p:nvCxnSpPr>
          <p:cNvPr id="35" name="直接连接符 34"/>
          <p:cNvCxnSpPr/>
          <p:nvPr/>
        </p:nvCxnSpPr>
        <p:spPr>
          <a:xfrm>
            <a:off x="5857389" y="1111349"/>
            <a:ext cx="44974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4148204" y="1862128"/>
            <a:ext cx="1860591" cy="1715887"/>
          </a:xfrm>
          <a:custGeom>
            <a:avLst/>
            <a:gdLst>
              <a:gd name="connsiteX0" fmla="*/ 1860591 w 1860591"/>
              <a:gd name="connsiteY0" fmla="*/ 0 h 1715887"/>
              <a:gd name="connsiteX1" fmla="*/ 1860591 w 1860591"/>
              <a:gd name="connsiteY1" fmla="*/ 938998 h 1715887"/>
              <a:gd name="connsiteX2" fmla="*/ 1785980 w 1860591"/>
              <a:gd name="connsiteY2" fmla="*/ 942766 h 1715887"/>
              <a:gd name="connsiteX3" fmla="*/ 949516 w 1860591"/>
              <a:gd name="connsiteY3" fmla="*/ 1699022 h 1715887"/>
              <a:gd name="connsiteX4" fmla="*/ 946942 w 1860591"/>
              <a:gd name="connsiteY4" fmla="*/ 1715887 h 1715887"/>
              <a:gd name="connsiteX5" fmla="*/ 0 w 1860591"/>
              <a:gd name="connsiteY5" fmla="*/ 1715887 h 1715887"/>
              <a:gd name="connsiteX6" fmla="*/ 920 w 1860591"/>
              <a:gd name="connsiteY6" fmla="*/ 1697669 h 1715887"/>
              <a:gd name="connsiteX7" fmla="*/ 1689973 w 1860591"/>
              <a:gd name="connsiteY7" fmla="*/ 8616 h 1715887"/>
              <a:gd name="connsiteX8" fmla="*/ 1860591 w 1860591"/>
              <a:gd name="connsiteY8" fmla="*/ 0 h 1715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60591" h="1715887">
                <a:moveTo>
                  <a:pt x="1860591" y="0"/>
                </a:moveTo>
                <a:lnTo>
                  <a:pt x="1860591" y="938998"/>
                </a:lnTo>
                <a:lnTo>
                  <a:pt x="1785980" y="942766"/>
                </a:lnTo>
                <a:cubicBezTo>
                  <a:pt x="1369367" y="985075"/>
                  <a:pt x="1032058" y="1295648"/>
                  <a:pt x="949516" y="1699022"/>
                </a:cubicBezTo>
                <a:lnTo>
                  <a:pt x="946942" y="1715887"/>
                </a:lnTo>
                <a:lnTo>
                  <a:pt x="0" y="1715887"/>
                </a:lnTo>
                <a:lnTo>
                  <a:pt x="920" y="1697669"/>
                </a:lnTo>
                <a:cubicBezTo>
                  <a:pt x="91364" y="807079"/>
                  <a:pt x="799383" y="99060"/>
                  <a:pt x="1689973" y="8616"/>
                </a:cubicBezTo>
                <a:lnTo>
                  <a:pt x="1860591" y="0"/>
                </a:lnTo>
                <a:close/>
              </a:path>
            </a:pathLst>
          </a:custGeom>
          <a:gradFill>
            <a:gsLst>
              <a:gs pos="100000">
                <a:schemeClr val="accent1">
                  <a:lumMod val="40000"/>
                  <a:lumOff val="60000"/>
                </a:schemeClr>
              </a:gs>
              <a:gs pos="0">
                <a:srgbClr val="F4F9F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形状 2"/>
          <p:cNvSpPr/>
          <p:nvPr/>
        </p:nvSpPr>
        <p:spPr>
          <a:xfrm>
            <a:off x="6054513" y="1862128"/>
            <a:ext cx="1860590" cy="1715887"/>
          </a:xfrm>
          <a:custGeom>
            <a:avLst/>
            <a:gdLst>
              <a:gd name="connsiteX0" fmla="*/ 0 w 1860590"/>
              <a:gd name="connsiteY0" fmla="*/ 0 h 1715887"/>
              <a:gd name="connsiteX1" fmla="*/ 170617 w 1860590"/>
              <a:gd name="connsiteY1" fmla="*/ 8616 h 1715887"/>
              <a:gd name="connsiteX2" fmla="*/ 1859670 w 1860590"/>
              <a:gd name="connsiteY2" fmla="*/ 1697669 h 1715887"/>
              <a:gd name="connsiteX3" fmla="*/ 1860590 w 1860590"/>
              <a:gd name="connsiteY3" fmla="*/ 1715887 h 1715887"/>
              <a:gd name="connsiteX4" fmla="*/ 913648 w 1860590"/>
              <a:gd name="connsiteY4" fmla="*/ 1715887 h 1715887"/>
              <a:gd name="connsiteX5" fmla="*/ 911074 w 1860590"/>
              <a:gd name="connsiteY5" fmla="*/ 1699022 h 1715887"/>
              <a:gd name="connsiteX6" fmla="*/ 74610 w 1860590"/>
              <a:gd name="connsiteY6" fmla="*/ 942766 h 1715887"/>
              <a:gd name="connsiteX7" fmla="*/ 0 w 1860590"/>
              <a:gd name="connsiteY7" fmla="*/ 938998 h 1715887"/>
              <a:gd name="connsiteX8" fmla="*/ 0 w 1860590"/>
              <a:gd name="connsiteY8" fmla="*/ 0 h 1715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60590" h="1715887">
                <a:moveTo>
                  <a:pt x="0" y="0"/>
                </a:moveTo>
                <a:lnTo>
                  <a:pt x="170617" y="8616"/>
                </a:lnTo>
                <a:cubicBezTo>
                  <a:pt x="1061207" y="99060"/>
                  <a:pt x="1769226" y="807079"/>
                  <a:pt x="1859670" y="1697669"/>
                </a:cubicBezTo>
                <a:lnTo>
                  <a:pt x="1860590" y="1715887"/>
                </a:lnTo>
                <a:lnTo>
                  <a:pt x="913648" y="1715887"/>
                </a:lnTo>
                <a:lnTo>
                  <a:pt x="911074" y="1699022"/>
                </a:lnTo>
                <a:cubicBezTo>
                  <a:pt x="828532" y="1295648"/>
                  <a:pt x="491224" y="985075"/>
                  <a:pt x="74610" y="942766"/>
                </a:cubicBezTo>
                <a:lnTo>
                  <a:pt x="0" y="938998"/>
                </a:lnTo>
                <a:lnTo>
                  <a:pt x="0" y="0"/>
                </a:lnTo>
                <a:close/>
              </a:path>
            </a:pathLst>
          </a:custGeom>
          <a:gradFill>
            <a:gsLst>
              <a:gs pos="0">
                <a:schemeClr val="accent1">
                  <a:lumMod val="60000"/>
                  <a:lumOff val="40000"/>
                </a:schemeClr>
              </a:gs>
              <a:gs pos="100000">
                <a:srgbClr val="F4F9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任意多边形: 形状 3"/>
          <p:cNvSpPr/>
          <p:nvPr/>
        </p:nvSpPr>
        <p:spPr>
          <a:xfrm>
            <a:off x="4139354" y="3623733"/>
            <a:ext cx="1869441" cy="2020686"/>
          </a:xfrm>
          <a:custGeom>
            <a:avLst/>
            <a:gdLst>
              <a:gd name="connsiteX0" fmla="*/ 6541 w 1869441"/>
              <a:gd name="connsiteY0" fmla="*/ 0 h 2020686"/>
              <a:gd name="connsiteX1" fmla="*/ 948815 w 1869441"/>
              <a:gd name="connsiteY1" fmla="*/ 0 h 2020686"/>
              <a:gd name="connsiteX2" fmla="*/ 943920 w 1869441"/>
              <a:gd name="connsiteY2" fmla="*/ 32070 h 2020686"/>
              <a:gd name="connsiteX3" fmla="*/ 938998 w 1869441"/>
              <a:gd name="connsiteY3" fmla="*/ 129540 h 2020686"/>
              <a:gd name="connsiteX4" fmla="*/ 1794830 w 1869441"/>
              <a:gd name="connsiteY4" fmla="*/ 1077920 h 2020686"/>
              <a:gd name="connsiteX5" fmla="*/ 1869441 w 1869441"/>
              <a:gd name="connsiteY5" fmla="*/ 1081688 h 2020686"/>
              <a:gd name="connsiteX6" fmla="*/ 1869441 w 1869441"/>
              <a:gd name="connsiteY6" fmla="*/ 2020686 h 2020686"/>
              <a:gd name="connsiteX7" fmla="*/ 1698823 w 1869441"/>
              <a:gd name="connsiteY7" fmla="*/ 2012070 h 2020686"/>
              <a:gd name="connsiteX8" fmla="*/ 0 w 1869441"/>
              <a:gd name="connsiteY8" fmla="*/ 129540 h 2020686"/>
              <a:gd name="connsiteX9" fmla="*/ 6541 w 1869441"/>
              <a:gd name="connsiteY9" fmla="*/ 0 h 2020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69441" h="2020686">
                <a:moveTo>
                  <a:pt x="6541" y="0"/>
                </a:moveTo>
                <a:lnTo>
                  <a:pt x="948815" y="0"/>
                </a:lnTo>
                <a:lnTo>
                  <a:pt x="943920" y="32070"/>
                </a:lnTo>
                <a:cubicBezTo>
                  <a:pt x="940665" y="64118"/>
                  <a:pt x="938998" y="96634"/>
                  <a:pt x="938998" y="129540"/>
                </a:cubicBezTo>
                <a:cubicBezTo>
                  <a:pt x="938998" y="623128"/>
                  <a:pt x="1314122" y="1029102"/>
                  <a:pt x="1794830" y="1077920"/>
                </a:cubicBezTo>
                <a:lnTo>
                  <a:pt x="1869441" y="1081688"/>
                </a:lnTo>
                <a:lnTo>
                  <a:pt x="1869441" y="2020686"/>
                </a:lnTo>
                <a:lnTo>
                  <a:pt x="1698823" y="2012070"/>
                </a:lnTo>
                <a:cubicBezTo>
                  <a:pt x="744620" y="1915166"/>
                  <a:pt x="0" y="1109310"/>
                  <a:pt x="0" y="129540"/>
                </a:cubicBezTo>
                <a:lnTo>
                  <a:pt x="6541" y="0"/>
                </a:lnTo>
                <a:close/>
              </a:path>
            </a:pathLst>
          </a:custGeom>
          <a:gradFill>
            <a:gsLst>
              <a:gs pos="100000">
                <a:schemeClr val="accent1">
                  <a:lumMod val="60000"/>
                  <a:lumOff val="40000"/>
                </a:schemeClr>
              </a:gs>
              <a:gs pos="0">
                <a:srgbClr val="F4F9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任意多边形: 形状 4"/>
          <p:cNvSpPr/>
          <p:nvPr/>
        </p:nvSpPr>
        <p:spPr>
          <a:xfrm>
            <a:off x="6054513" y="3623733"/>
            <a:ext cx="1869440" cy="2020686"/>
          </a:xfrm>
          <a:custGeom>
            <a:avLst/>
            <a:gdLst>
              <a:gd name="connsiteX0" fmla="*/ 920626 w 1869440"/>
              <a:gd name="connsiteY0" fmla="*/ 0 h 2020686"/>
              <a:gd name="connsiteX1" fmla="*/ 1862899 w 1869440"/>
              <a:gd name="connsiteY1" fmla="*/ 0 h 2020686"/>
              <a:gd name="connsiteX2" fmla="*/ 1869440 w 1869440"/>
              <a:gd name="connsiteY2" fmla="*/ 129540 h 2020686"/>
              <a:gd name="connsiteX3" fmla="*/ 170617 w 1869440"/>
              <a:gd name="connsiteY3" fmla="*/ 2012070 h 2020686"/>
              <a:gd name="connsiteX4" fmla="*/ 0 w 1869440"/>
              <a:gd name="connsiteY4" fmla="*/ 2020686 h 2020686"/>
              <a:gd name="connsiteX5" fmla="*/ 0 w 1869440"/>
              <a:gd name="connsiteY5" fmla="*/ 1081688 h 2020686"/>
              <a:gd name="connsiteX6" fmla="*/ 74610 w 1869440"/>
              <a:gd name="connsiteY6" fmla="*/ 1077920 h 2020686"/>
              <a:gd name="connsiteX7" fmla="*/ 930442 w 1869440"/>
              <a:gd name="connsiteY7" fmla="*/ 129540 h 2020686"/>
              <a:gd name="connsiteX8" fmla="*/ 925520 w 1869440"/>
              <a:gd name="connsiteY8" fmla="*/ 32070 h 2020686"/>
              <a:gd name="connsiteX9" fmla="*/ 920626 w 1869440"/>
              <a:gd name="connsiteY9" fmla="*/ 0 h 2020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69440" h="2020686">
                <a:moveTo>
                  <a:pt x="920626" y="0"/>
                </a:moveTo>
                <a:lnTo>
                  <a:pt x="1862899" y="0"/>
                </a:lnTo>
                <a:lnTo>
                  <a:pt x="1869440" y="129540"/>
                </a:lnTo>
                <a:cubicBezTo>
                  <a:pt x="1869440" y="1109310"/>
                  <a:pt x="1124820" y="1915166"/>
                  <a:pt x="170617" y="2012070"/>
                </a:cubicBezTo>
                <a:lnTo>
                  <a:pt x="0" y="2020686"/>
                </a:lnTo>
                <a:lnTo>
                  <a:pt x="0" y="1081688"/>
                </a:lnTo>
                <a:lnTo>
                  <a:pt x="74610" y="1077920"/>
                </a:lnTo>
                <a:cubicBezTo>
                  <a:pt x="555318" y="1029102"/>
                  <a:pt x="930442" y="623128"/>
                  <a:pt x="930442" y="129540"/>
                </a:cubicBezTo>
                <a:cubicBezTo>
                  <a:pt x="930442" y="96634"/>
                  <a:pt x="928775" y="64118"/>
                  <a:pt x="925520" y="32070"/>
                </a:cubicBezTo>
                <a:lnTo>
                  <a:pt x="920626" y="0"/>
                </a:lnTo>
                <a:close/>
              </a:path>
            </a:pathLst>
          </a:custGeom>
          <a:gradFill>
            <a:gsLst>
              <a:gs pos="0">
                <a:schemeClr val="accent1">
                  <a:lumMod val="60000"/>
                  <a:lumOff val="40000"/>
                </a:schemeClr>
              </a:gs>
              <a:gs pos="100000">
                <a:srgbClr val="F4F9F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矩形 5"/>
          <p:cNvSpPr/>
          <p:nvPr/>
        </p:nvSpPr>
        <p:spPr>
          <a:xfrm>
            <a:off x="4139354" y="3625602"/>
            <a:ext cx="947671" cy="947671"/>
          </a:xfrm>
          <a:prstGeom prst="rect">
            <a:avLst/>
          </a:prstGeom>
          <a:gradFill>
            <a:gsLst>
              <a:gs pos="7000">
                <a:schemeClr val="accent1"/>
              </a:gs>
              <a:gs pos="100000">
                <a:schemeClr val="accent2"/>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latin typeface="+mj-lt"/>
              </a:rPr>
              <a:t>2</a:t>
            </a:r>
            <a:endParaRPr lang="zh-CN" altLang="en-US" sz="3600" dirty="0">
              <a:latin typeface="+mj-lt"/>
            </a:endParaRPr>
          </a:p>
        </p:txBody>
      </p:sp>
      <p:sp>
        <p:nvSpPr>
          <p:cNvPr id="7" name="矩形 6"/>
          <p:cNvSpPr/>
          <p:nvPr/>
        </p:nvSpPr>
        <p:spPr>
          <a:xfrm>
            <a:off x="5063279" y="1862128"/>
            <a:ext cx="947671" cy="947671"/>
          </a:xfrm>
          <a:prstGeom prst="rect">
            <a:avLst/>
          </a:prstGeom>
          <a:gradFill>
            <a:gsLst>
              <a:gs pos="7000">
                <a:schemeClr val="accent1"/>
              </a:gs>
              <a:gs pos="100000">
                <a:schemeClr val="accent2"/>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latin typeface="+mj-lt"/>
              </a:rPr>
              <a:t>1</a:t>
            </a:r>
            <a:endParaRPr lang="zh-CN" altLang="en-US" sz="3600" dirty="0">
              <a:latin typeface="+mj-lt"/>
            </a:endParaRPr>
          </a:p>
        </p:txBody>
      </p:sp>
      <p:sp>
        <p:nvSpPr>
          <p:cNvPr id="8" name="矩形 7"/>
          <p:cNvSpPr/>
          <p:nvPr/>
        </p:nvSpPr>
        <p:spPr>
          <a:xfrm>
            <a:off x="6967432" y="2627303"/>
            <a:ext cx="947671" cy="947671"/>
          </a:xfrm>
          <a:prstGeom prst="rect">
            <a:avLst/>
          </a:prstGeom>
          <a:gradFill>
            <a:gsLst>
              <a:gs pos="7000">
                <a:schemeClr val="accent1"/>
              </a:gs>
              <a:gs pos="100000">
                <a:schemeClr val="accent2"/>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latin typeface="+mj-lt"/>
              </a:rPr>
              <a:t>3</a:t>
            </a:r>
            <a:endParaRPr lang="zh-CN" altLang="en-US" sz="3600" dirty="0">
              <a:latin typeface="+mj-lt"/>
            </a:endParaRPr>
          </a:p>
        </p:txBody>
      </p:sp>
      <p:sp>
        <p:nvSpPr>
          <p:cNvPr id="9" name="矩形 8"/>
          <p:cNvSpPr/>
          <p:nvPr/>
        </p:nvSpPr>
        <p:spPr>
          <a:xfrm>
            <a:off x="6056207" y="4696748"/>
            <a:ext cx="947671" cy="947671"/>
          </a:xfrm>
          <a:prstGeom prst="rect">
            <a:avLst/>
          </a:prstGeom>
          <a:gradFill>
            <a:gsLst>
              <a:gs pos="7000">
                <a:schemeClr val="accent1"/>
              </a:gs>
              <a:gs pos="100000">
                <a:schemeClr val="accent2"/>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latin typeface="+mj-lt"/>
              </a:rPr>
              <a:t>4</a:t>
            </a:r>
            <a:endParaRPr lang="zh-CN" altLang="en-US" sz="3600" dirty="0">
              <a:latin typeface="+mj-lt"/>
            </a:endParaRPr>
          </a:p>
        </p:txBody>
      </p:sp>
      <p:sp>
        <p:nvSpPr>
          <p:cNvPr id="10" name="文本框 9"/>
          <p:cNvSpPr txBox="1"/>
          <p:nvPr/>
        </p:nvSpPr>
        <p:spPr>
          <a:xfrm>
            <a:off x="8408128" y="1504004"/>
            <a:ext cx="2967355" cy="400110"/>
          </a:xfrm>
          <a:prstGeom prst="rect">
            <a:avLst/>
          </a:prstGeom>
          <a:noFill/>
        </p:spPr>
        <p:txBody>
          <a:bodyPr wrap="square">
            <a:spAutoFit/>
          </a:bodyPr>
          <a:lstStyle/>
          <a:p>
            <a:r>
              <a:rPr lang="en-US" altLang="zh-CN" sz="2000" dirty="0">
                <a:solidFill>
                  <a:schemeClr val="bg1"/>
                </a:solidFill>
                <a:highlight>
                  <a:srgbClr val="505CCC"/>
                </a:highlight>
                <a:latin typeface="Times New Roman" panose="02020603050405020304" charset="0"/>
                <a:cs typeface="Times New Roman" panose="02020603050405020304" charset="0"/>
              </a:rPr>
              <a:t>Policy Optimization</a:t>
            </a:r>
            <a:endParaRPr lang="zh-CN" altLang="en-US" sz="2000" dirty="0">
              <a:solidFill>
                <a:schemeClr val="bg1"/>
              </a:solidFill>
              <a:highlight>
                <a:srgbClr val="505CCC"/>
              </a:highlight>
              <a:latin typeface="Times New Roman" panose="02020603050405020304" charset="0"/>
              <a:ea typeface="+mj-ea"/>
              <a:cs typeface="Times New Roman" panose="02020603050405020304" charset="0"/>
            </a:endParaRPr>
          </a:p>
        </p:txBody>
      </p:sp>
      <p:sp>
        <p:nvSpPr>
          <p:cNvPr id="11" name="文本框 10"/>
          <p:cNvSpPr txBox="1"/>
          <p:nvPr/>
        </p:nvSpPr>
        <p:spPr>
          <a:xfrm>
            <a:off x="8427588" y="2082669"/>
            <a:ext cx="3306228" cy="1346331"/>
          </a:xfrm>
          <a:prstGeom prst="rect">
            <a:avLst/>
          </a:prstGeom>
        </p:spPr>
        <p:txBody>
          <a:bodyPr wrap="square">
            <a:spAutoFit/>
            <a:scene3d>
              <a:camera prst="orthographicFront"/>
              <a:lightRig rig="threePt" dir="t"/>
            </a:scene3d>
            <a:sp3d contourW="12700"/>
          </a:bodyPr>
          <a:lstStyle>
            <a:defPPr>
              <a:defRPr lang="zh-CN"/>
            </a:defPPr>
            <a:lvl1pPr>
              <a:lnSpc>
                <a:spcPct val="150000"/>
              </a:lnSpc>
              <a:spcBef>
                <a:spcPts val="1200"/>
              </a:spcBef>
              <a:defRPr sz="1100" spc="100">
                <a:solidFill>
                  <a:prstClr val="black">
                    <a:lumMod val="75000"/>
                    <a:lumOff val="25000"/>
                  </a:prstClr>
                </a:solidFill>
                <a:latin typeface="微软雅黑" panose="020B0503020204020204" charset="-122"/>
              </a:defRPr>
            </a:lvl1pPr>
          </a:lstStyle>
          <a:p>
            <a:r>
              <a:rPr lang="en-US" altLang="zh-CN" sz="1400" dirty="0">
                <a:latin typeface="Times New Roman" panose="02020603050405020304" charset="0"/>
                <a:cs typeface="Times New Roman" panose="02020603050405020304" charset="0"/>
              </a:rPr>
              <a:t>The language model's parameters are adjusted through policy optimization algorithms, such as Proximal Policy Optimization (PPO).</a:t>
            </a:r>
            <a:endParaRPr lang="zh-CN" altLang="en-US" sz="1400" dirty="0">
              <a:solidFill>
                <a:schemeClr val="tx2"/>
              </a:solidFill>
              <a:latin typeface="Times New Roman" panose="02020603050405020304" charset="0"/>
              <a:cs typeface="Times New Roman" panose="02020603050405020304" charset="0"/>
            </a:endParaRPr>
          </a:p>
        </p:txBody>
      </p:sp>
      <p:sp>
        <p:nvSpPr>
          <p:cNvPr id="12" name="文本框 11"/>
          <p:cNvSpPr txBox="1"/>
          <p:nvPr/>
        </p:nvSpPr>
        <p:spPr>
          <a:xfrm>
            <a:off x="8447157" y="3932581"/>
            <a:ext cx="3306228" cy="400110"/>
          </a:xfrm>
          <a:prstGeom prst="rect">
            <a:avLst/>
          </a:prstGeom>
          <a:noFill/>
        </p:spPr>
        <p:txBody>
          <a:bodyPr wrap="square">
            <a:spAutoFit/>
          </a:bodyPr>
          <a:lstStyle/>
          <a:p>
            <a:r>
              <a:rPr lang="en-US" altLang="zh-CN" sz="2000" dirty="0">
                <a:solidFill>
                  <a:schemeClr val="bg1"/>
                </a:solidFill>
                <a:highlight>
                  <a:srgbClr val="505CCC"/>
                </a:highlight>
                <a:latin typeface="Times New Roman" panose="02020603050405020304" charset="0"/>
                <a:cs typeface="Times New Roman" panose="02020603050405020304" charset="0"/>
              </a:rPr>
              <a:t>Human-in-the-loop Approach</a:t>
            </a:r>
            <a:endParaRPr lang="zh-CN" altLang="en-US" sz="2000" dirty="0">
              <a:solidFill>
                <a:schemeClr val="bg1"/>
              </a:solidFill>
              <a:highlight>
                <a:srgbClr val="505CCC"/>
              </a:highlight>
              <a:latin typeface="Times New Roman" panose="02020603050405020304" charset="0"/>
              <a:ea typeface="+mj-ea"/>
              <a:cs typeface="Times New Roman" panose="02020603050405020304" charset="0"/>
            </a:endParaRPr>
          </a:p>
        </p:txBody>
      </p:sp>
      <p:sp>
        <p:nvSpPr>
          <p:cNvPr id="13" name="文本框 12"/>
          <p:cNvSpPr txBox="1"/>
          <p:nvPr/>
        </p:nvSpPr>
        <p:spPr>
          <a:xfrm>
            <a:off x="8519532" y="4433915"/>
            <a:ext cx="3122341" cy="1669496"/>
          </a:xfrm>
          <a:prstGeom prst="rect">
            <a:avLst/>
          </a:prstGeom>
        </p:spPr>
        <p:txBody>
          <a:bodyPr wrap="square">
            <a:spAutoFit/>
            <a:scene3d>
              <a:camera prst="orthographicFront"/>
              <a:lightRig rig="threePt" dir="t"/>
            </a:scene3d>
            <a:sp3d contourW="12700"/>
          </a:bodyPr>
          <a:lstStyle>
            <a:defPPr>
              <a:defRPr lang="zh-CN"/>
            </a:defPPr>
            <a:lvl1pPr>
              <a:lnSpc>
                <a:spcPct val="150000"/>
              </a:lnSpc>
              <a:spcBef>
                <a:spcPts val="1200"/>
              </a:spcBef>
              <a:defRPr sz="1100" spc="100">
                <a:solidFill>
                  <a:prstClr val="black">
                    <a:lumMod val="75000"/>
                    <a:lumOff val="25000"/>
                  </a:prstClr>
                </a:solidFill>
                <a:latin typeface="微软雅黑" panose="020B0503020204020204" charset="-122"/>
              </a:defRPr>
            </a:lvl1pPr>
          </a:lstStyle>
          <a:p>
            <a:r>
              <a:rPr lang="en-US" altLang="zh-CN" sz="1400" dirty="0">
                <a:latin typeface="Times New Roman" panose="02020603050405020304" charset="0"/>
                <a:cs typeface="Times New Roman" panose="02020603050405020304" charset="0"/>
              </a:rPr>
              <a:t>RL Fine-tuning often involves a human-in-the-loop component, where human evaluators provide feedback on the quality of the model's responses. </a:t>
            </a:r>
            <a:endParaRPr lang="zh-CN" altLang="en-US" sz="1400" dirty="0">
              <a:solidFill>
                <a:schemeClr val="tx2"/>
              </a:solidFill>
              <a:latin typeface="Times New Roman" panose="02020603050405020304" charset="0"/>
              <a:cs typeface="Times New Roman" panose="02020603050405020304" charset="0"/>
            </a:endParaRPr>
          </a:p>
        </p:txBody>
      </p:sp>
      <p:sp>
        <p:nvSpPr>
          <p:cNvPr id="14" name="文本框 13"/>
          <p:cNvSpPr txBox="1"/>
          <p:nvPr/>
        </p:nvSpPr>
        <p:spPr>
          <a:xfrm>
            <a:off x="869916" y="1551049"/>
            <a:ext cx="3566100" cy="400110"/>
          </a:xfrm>
          <a:prstGeom prst="rect">
            <a:avLst/>
          </a:prstGeom>
          <a:noFill/>
        </p:spPr>
        <p:txBody>
          <a:bodyPr wrap="square">
            <a:spAutoFit/>
          </a:bodyPr>
          <a:lstStyle/>
          <a:p>
            <a:r>
              <a:rPr lang="en-US" altLang="zh-CN" sz="2000" dirty="0">
                <a:solidFill>
                  <a:schemeClr val="bg1"/>
                </a:solidFill>
                <a:highlight>
                  <a:srgbClr val="505CCC"/>
                </a:highlight>
                <a:latin typeface="Times New Roman" panose="02020603050405020304" charset="0"/>
                <a:cs typeface="Times New Roman" panose="02020603050405020304" charset="0"/>
              </a:rPr>
              <a:t>Reinforcement Learning Basics</a:t>
            </a:r>
            <a:endParaRPr lang="zh-CN" altLang="en-US" sz="2000" dirty="0">
              <a:solidFill>
                <a:schemeClr val="bg1"/>
              </a:solidFill>
              <a:highlight>
                <a:srgbClr val="505CCC"/>
              </a:highlight>
              <a:latin typeface="Times New Roman" panose="02020603050405020304" charset="0"/>
              <a:ea typeface="+mj-ea"/>
              <a:cs typeface="Times New Roman" panose="02020603050405020304" charset="0"/>
            </a:endParaRPr>
          </a:p>
        </p:txBody>
      </p:sp>
      <p:sp>
        <p:nvSpPr>
          <p:cNvPr id="15" name="文本框 14"/>
          <p:cNvSpPr txBox="1"/>
          <p:nvPr/>
        </p:nvSpPr>
        <p:spPr>
          <a:xfrm>
            <a:off x="889000" y="2058326"/>
            <a:ext cx="3414773" cy="1669496"/>
          </a:xfrm>
          <a:prstGeom prst="rect">
            <a:avLst/>
          </a:prstGeom>
        </p:spPr>
        <p:txBody>
          <a:bodyPr wrap="square">
            <a:spAutoFit/>
            <a:scene3d>
              <a:camera prst="orthographicFront"/>
              <a:lightRig rig="threePt" dir="t"/>
            </a:scene3d>
            <a:sp3d contourW="12700"/>
          </a:bodyPr>
          <a:lstStyle>
            <a:defPPr>
              <a:defRPr lang="zh-CN"/>
            </a:defPPr>
            <a:lvl1pPr>
              <a:lnSpc>
                <a:spcPct val="150000"/>
              </a:lnSpc>
              <a:spcBef>
                <a:spcPts val="1200"/>
              </a:spcBef>
              <a:defRPr sz="1100" spc="100">
                <a:solidFill>
                  <a:prstClr val="black">
                    <a:lumMod val="75000"/>
                    <a:lumOff val="25000"/>
                  </a:prstClr>
                </a:solidFill>
                <a:latin typeface="微软雅黑" panose="020B0503020204020204" charset="-122"/>
              </a:defRPr>
            </a:lvl1pPr>
          </a:lstStyle>
          <a:p>
            <a:r>
              <a:rPr lang="en-US" altLang="zh-CN" sz="1400" dirty="0">
                <a:latin typeface="Times New Roman" panose="02020603050405020304" charset="0"/>
                <a:cs typeface="Times New Roman" panose="02020603050405020304" charset="0"/>
              </a:rPr>
              <a:t>The agent takes actions (generates text), and based on the feedback or reward it receives, it adjusts its behavior to maximize the cumulative reward.</a:t>
            </a:r>
            <a:endParaRPr lang="zh-CN" altLang="en-US" sz="1400" dirty="0">
              <a:solidFill>
                <a:schemeClr val="tx2"/>
              </a:solidFill>
              <a:latin typeface="Times New Roman" panose="02020603050405020304" charset="0"/>
              <a:cs typeface="Times New Roman" panose="02020603050405020304" charset="0"/>
            </a:endParaRPr>
          </a:p>
        </p:txBody>
      </p:sp>
      <p:sp>
        <p:nvSpPr>
          <p:cNvPr id="16" name="文本框 15"/>
          <p:cNvSpPr txBox="1"/>
          <p:nvPr/>
        </p:nvSpPr>
        <p:spPr>
          <a:xfrm>
            <a:off x="916690" y="4086469"/>
            <a:ext cx="3231514" cy="400110"/>
          </a:xfrm>
          <a:prstGeom prst="rect">
            <a:avLst/>
          </a:prstGeom>
          <a:noFill/>
        </p:spPr>
        <p:txBody>
          <a:bodyPr wrap="square">
            <a:spAutoFit/>
          </a:bodyPr>
          <a:lstStyle/>
          <a:p>
            <a:r>
              <a:rPr lang="en-US" altLang="zh-CN" sz="2000" dirty="0">
                <a:solidFill>
                  <a:schemeClr val="bg1"/>
                </a:solidFill>
                <a:highlight>
                  <a:srgbClr val="505CCC"/>
                </a:highlight>
                <a:latin typeface="Times New Roman" panose="02020603050405020304" charset="0"/>
                <a:cs typeface="Times New Roman" panose="02020603050405020304" charset="0"/>
              </a:rPr>
              <a:t>Reward Signal and Feedback</a:t>
            </a:r>
            <a:endParaRPr lang="zh-CN" altLang="en-US" sz="2000" dirty="0">
              <a:solidFill>
                <a:schemeClr val="bg1"/>
              </a:solidFill>
              <a:highlight>
                <a:srgbClr val="505CCC"/>
              </a:highlight>
              <a:latin typeface="Times New Roman" panose="02020603050405020304" charset="0"/>
              <a:ea typeface="+mj-ea"/>
              <a:cs typeface="Times New Roman" panose="02020603050405020304" charset="0"/>
            </a:endParaRPr>
          </a:p>
        </p:txBody>
      </p:sp>
      <p:sp>
        <p:nvSpPr>
          <p:cNvPr id="17" name="文本框 16"/>
          <p:cNvSpPr txBox="1"/>
          <p:nvPr/>
        </p:nvSpPr>
        <p:spPr>
          <a:xfrm>
            <a:off x="916690" y="4573273"/>
            <a:ext cx="3383641" cy="1669496"/>
          </a:xfrm>
          <a:prstGeom prst="rect">
            <a:avLst/>
          </a:prstGeom>
        </p:spPr>
        <p:txBody>
          <a:bodyPr wrap="square">
            <a:spAutoFit/>
            <a:scene3d>
              <a:camera prst="orthographicFront"/>
              <a:lightRig rig="threePt" dir="t"/>
            </a:scene3d>
            <a:sp3d contourW="12700"/>
          </a:bodyPr>
          <a:lstStyle>
            <a:defPPr>
              <a:defRPr lang="zh-CN"/>
            </a:defPPr>
            <a:lvl1pPr>
              <a:lnSpc>
                <a:spcPct val="150000"/>
              </a:lnSpc>
              <a:spcBef>
                <a:spcPts val="1200"/>
              </a:spcBef>
              <a:defRPr sz="1100" spc="100">
                <a:solidFill>
                  <a:prstClr val="black">
                    <a:lumMod val="75000"/>
                    <a:lumOff val="25000"/>
                  </a:prstClr>
                </a:solidFill>
                <a:latin typeface="微软雅黑" panose="020B0503020204020204" charset="-122"/>
              </a:defRPr>
            </a:lvl1pPr>
          </a:lstStyle>
          <a:p>
            <a:r>
              <a:rPr lang="en-US" altLang="zh-CN" sz="1400" dirty="0">
                <a:latin typeface="Times New Roman" panose="02020603050405020304" charset="0"/>
                <a:cs typeface="Times New Roman" panose="02020603050405020304" charset="0"/>
              </a:rPr>
              <a:t>The reward serves as a signal that encourages the model to generate responses that align with human preferences or task-specific objectives.</a:t>
            </a:r>
            <a:endParaRPr lang="zh-CN" altLang="en-US" sz="1400" dirty="0">
              <a:solidFill>
                <a:schemeClr val="tx2"/>
              </a:solidFill>
              <a:latin typeface="Times New Roman" panose="02020603050405020304" charset="0"/>
              <a:cs typeface="Times New Roman" panose="02020603050405020304" charset="0"/>
            </a:endParaRPr>
          </a:p>
        </p:txBody>
      </p:sp>
      <p:sp>
        <p:nvSpPr>
          <p:cNvPr id="19" name="文本框 18"/>
          <p:cNvSpPr txBox="1"/>
          <p:nvPr/>
        </p:nvSpPr>
        <p:spPr>
          <a:xfrm>
            <a:off x="4915884" y="3339354"/>
            <a:ext cx="2142610" cy="923330"/>
          </a:xfrm>
          <a:prstGeom prst="rect">
            <a:avLst/>
          </a:prstGeom>
          <a:noFill/>
        </p:spPr>
        <p:txBody>
          <a:bodyPr wrap="square" rtlCol="0" anchor="ctr">
            <a:spAutoFit/>
          </a:bodyPr>
          <a:lstStyle/>
          <a:p>
            <a:pPr algn="ctr"/>
            <a:r>
              <a:rPr lang="en-US" altLang="zh-CN" b="1" dirty="0">
                <a:solidFill>
                  <a:schemeClr val="accent1"/>
                </a:solidFill>
                <a:latin typeface="Times New Roman" panose="02020603050405020304" charset="0"/>
                <a:ea typeface="+mj-ea"/>
                <a:cs typeface="Times New Roman" panose="02020603050405020304" charset="0"/>
              </a:rPr>
              <a:t>Reinforcement Learning Fine-Tuning</a:t>
            </a:r>
            <a:endParaRPr lang="zh-CN" altLang="en-US" b="1" dirty="0">
              <a:solidFill>
                <a:schemeClr val="accent1"/>
              </a:solidFill>
              <a:latin typeface="Times New Roman" panose="02020603050405020304" charset="0"/>
              <a:ea typeface="+mj-ea"/>
              <a:cs typeface="Times New Roman" panose="02020603050405020304" charset="0"/>
            </a:endParaRPr>
          </a:p>
        </p:txBody>
      </p:sp>
      <p:sp>
        <p:nvSpPr>
          <p:cNvPr id="21" name="文本框 20"/>
          <p:cNvSpPr txBox="1"/>
          <p:nvPr/>
        </p:nvSpPr>
        <p:spPr>
          <a:xfrm>
            <a:off x="2520641" y="411469"/>
            <a:ext cx="7150100" cy="521970"/>
          </a:xfrm>
          <a:prstGeom prst="rect">
            <a:avLst/>
          </a:prstGeom>
          <a:noFill/>
        </p:spPr>
        <p:txBody>
          <a:bodyPr wrap="none" rtlCol="0" anchor="ctr">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pPr algn="l"/>
            <a:r>
              <a:rPr lang="en-US" altLang="zh-CN" sz="2800" b="0" i="0" dirty="0">
                <a:effectLst/>
                <a:latin typeface="Montserrat" panose="00000500000000000000" pitchFamily="2" charset="0"/>
              </a:rPr>
              <a:t>Representative Fine-tuning Techniques</a:t>
            </a:r>
            <a:endParaRPr lang="en-US" altLang="zh-CN" sz="2800" b="0" i="0" dirty="0">
              <a:effectLst/>
              <a:latin typeface="Montserrat" panose="00000500000000000000" pitchFamily="2" charset="0"/>
            </a:endParaRPr>
          </a:p>
        </p:txBody>
      </p:sp>
      <p:cxnSp>
        <p:nvCxnSpPr>
          <p:cNvPr id="22" name="直接连接符 21"/>
          <p:cNvCxnSpPr/>
          <p:nvPr/>
        </p:nvCxnSpPr>
        <p:spPr>
          <a:xfrm>
            <a:off x="5857389" y="1111349"/>
            <a:ext cx="44974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1209953" y="4178437"/>
            <a:ext cx="10045700" cy="0"/>
          </a:xfrm>
          <a:prstGeom prst="line">
            <a:avLst/>
          </a:prstGeom>
          <a:ln w="28575">
            <a:gradFill>
              <a:gsLst>
                <a:gs pos="0">
                  <a:schemeClr val="bg1"/>
                </a:gs>
                <a:gs pos="70110">
                  <a:schemeClr val="tx2">
                    <a:lumMod val="20000"/>
                    <a:lumOff val="80000"/>
                  </a:schemeClr>
                </a:gs>
                <a:gs pos="30000">
                  <a:schemeClr val="tx2">
                    <a:lumMod val="20000"/>
                    <a:lumOff val="80000"/>
                  </a:schemeClr>
                </a:gs>
                <a:gs pos="100000">
                  <a:schemeClr val="bg1"/>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70" name="文本框 69"/>
          <p:cNvSpPr txBox="1"/>
          <p:nvPr/>
        </p:nvSpPr>
        <p:spPr>
          <a:xfrm>
            <a:off x="4354079" y="476226"/>
            <a:ext cx="3757295" cy="521970"/>
          </a:xfrm>
          <a:prstGeom prst="rect">
            <a:avLst/>
          </a:prstGeom>
          <a:noFill/>
        </p:spPr>
        <p:txBody>
          <a:bodyPr wrap="none" rtlCol="0" anchor="ctr">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pPr algn="l"/>
            <a:r>
              <a:rPr lang="en-US" altLang="zh-CN" sz="2800" b="0" i="0" dirty="0">
                <a:effectLst/>
                <a:latin typeface="Montserrat" panose="00000500000000000000" pitchFamily="2" charset="0"/>
              </a:rPr>
              <a:t>Technical Summary</a:t>
            </a:r>
            <a:endParaRPr lang="en-US" altLang="zh-CN" sz="2800" b="0" i="0" dirty="0">
              <a:effectLst/>
              <a:latin typeface="Montserrat" panose="00000500000000000000" pitchFamily="2" charset="0"/>
            </a:endParaRPr>
          </a:p>
        </p:txBody>
      </p:sp>
      <p:cxnSp>
        <p:nvCxnSpPr>
          <p:cNvPr id="71" name="直接连接符 70"/>
          <p:cNvCxnSpPr/>
          <p:nvPr/>
        </p:nvCxnSpPr>
        <p:spPr>
          <a:xfrm>
            <a:off x="6007931" y="1111349"/>
            <a:ext cx="44974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1754923" y="2039786"/>
            <a:ext cx="9095213" cy="1754326"/>
          </a:xfrm>
          <a:prstGeom prst="rect">
            <a:avLst/>
          </a:prstGeom>
          <a:noFill/>
        </p:spPr>
        <p:txBody>
          <a:bodyPr wrap="square">
            <a:spAutoFit/>
          </a:bodyPr>
          <a:lstStyle/>
          <a:p>
            <a:r>
              <a:rPr lang="en-US" altLang="zh-CN" dirty="0">
                <a:latin typeface="Times New Roman" panose="02020603050405020304" charset="0"/>
                <a:cs typeface="Times New Roman" panose="02020603050405020304" charset="0"/>
              </a:rPr>
              <a:t>Fine-tuning techniques, such as full parameter tuning, parameter-efficient fine-tuning , prompt tuning, and reinforcement learning-based approaches, have shown significant promise in optimizing the balance between computational resource demands and model accuracy.</a:t>
            </a:r>
            <a:endParaRPr lang="en-US" altLang="zh-CN" dirty="0">
              <a:latin typeface="Times New Roman" panose="02020603050405020304" charset="0"/>
              <a:cs typeface="Times New Roman" panose="02020603050405020304" charset="0"/>
            </a:endParaRPr>
          </a:p>
          <a:p>
            <a:endParaRPr lang="en-US" altLang="zh-CN" dirty="0">
              <a:latin typeface="Times New Roman" panose="02020603050405020304" charset="0"/>
              <a:cs typeface="Times New Roman" panose="02020603050405020304" charset="0"/>
            </a:endParaRPr>
          </a:p>
          <a:p>
            <a:r>
              <a:rPr lang="en-US" altLang="zh-CN" dirty="0">
                <a:latin typeface="Times New Roman" panose="02020603050405020304" charset="0"/>
                <a:cs typeface="Times New Roman" panose="02020603050405020304" charset="0"/>
              </a:rPr>
              <a:t>Future research should focus on developing more efficient fine-tuning strategies that minimize resource consumption while maintaining high levels of performance. </a:t>
            </a:r>
            <a:endParaRPr lang="zh-CN" altLang="en-US" dirty="0">
              <a:latin typeface="Times New Roman" panose="02020603050405020304" charset="0"/>
              <a:cs typeface="Times New Roman" panose="02020603050405020304" charset="0"/>
            </a:endParaRPr>
          </a:p>
        </p:txBody>
      </p:sp>
      <p:cxnSp>
        <p:nvCxnSpPr>
          <p:cNvPr id="37" name="直接连接符 36"/>
          <p:cNvCxnSpPr/>
          <p:nvPr/>
        </p:nvCxnSpPr>
        <p:spPr>
          <a:xfrm flipH="1">
            <a:off x="1328899" y="1749329"/>
            <a:ext cx="10045700" cy="0"/>
          </a:xfrm>
          <a:prstGeom prst="line">
            <a:avLst/>
          </a:prstGeom>
          <a:ln w="28575">
            <a:gradFill>
              <a:gsLst>
                <a:gs pos="0">
                  <a:schemeClr val="bg1"/>
                </a:gs>
                <a:gs pos="70110">
                  <a:schemeClr val="tx2">
                    <a:lumMod val="20000"/>
                    <a:lumOff val="80000"/>
                  </a:schemeClr>
                </a:gs>
                <a:gs pos="30000">
                  <a:schemeClr val="tx2">
                    <a:lumMod val="20000"/>
                    <a:lumOff val="80000"/>
                  </a:schemeClr>
                </a:gs>
                <a:gs pos="100000">
                  <a:schemeClr val="bg1"/>
                </a:gs>
              </a:gsLst>
              <a:lin ang="0" scaled="0"/>
            </a:gra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82395" y="3089910"/>
            <a:ext cx="9426575" cy="1076325"/>
          </a:xfrm>
          <a:prstGeom prst="rect">
            <a:avLst/>
          </a:prstGeom>
          <a:noFill/>
        </p:spPr>
        <p:txBody>
          <a:bodyPr wrap="square" rtlCol="0">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pPr algn="ctr"/>
            <a:r>
              <a:rPr lang="en-US" altLang="zh-CN" sz="3200" spc="150" dirty="0">
                <a:effectLst/>
                <a:latin typeface="+mn-lt"/>
              </a:rPr>
              <a:t>The Impact of Large Language Models on Science and Technology Development</a:t>
            </a:r>
            <a:endParaRPr lang="en-US" altLang="zh-CN" sz="3200" spc="150" dirty="0">
              <a:effectLst/>
              <a:latin typeface="+mn-lt"/>
            </a:endParaRPr>
          </a:p>
        </p:txBody>
      </p:sp>
      <p:sp>
        <p:nvSpPr>
          <p:cNvPr id="10" name="任意多边形 103"/>
          <p:cNvSpPr/>
          <p:nvPr/>
        </p:nvSpPr>
        <p:spPr>
          <a:xfrm>
            <a:off x="5649327" y="1446272"/>
            <a:ext cx="900109" cy="1044125"/>
          </a:xfrm>
          <a:custGeom>
            <a:avLst/>
            <a:gdLst>
              <a:gd name="connsiteX0" fmla="*/ 317019 w 634036"/>
              <a:gd name="connsiteY0" fmla="*/ 0 h 735481"/>
              <a:gd name="connsiteX1" fmla="*/ 634036 w 634036"/>
              <a:gd name="connsiteY1" fmla="*/ 180548 h 735481"/>
              <a:gd name="connsiteX2" fmla="*/ 634036 w 634036"/>
              <a:gd name="connsiteY2" fmla="*/ 554933 h 735481"/>
              <a:gd name="connsiteX3" fmla="*/ 317019 w 634036"/>
              <a:gd name="connsiteY3" fmla="*/ 735481 h 735481"/>
              <a:gd name="connsiteX4" fmla="*/ 0 w 634036"/>
              <a:gd name="connsiteY4" fmla="*/ 554933 h 735481"/>
              <a:gd name="connsiteX5" fmla="*/ 0 w 634036"/>
              <a:gd name="connsiteY5" fmla="*/ 180548 h 735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4036" h="735481">
                <a:moveTo>
                  <a:pt x="317019" y="0"/>
                </a:moveTo>
                <a:lnTo>
                  <a:pt x="634036" y="180548"/>
                </a:lnTo>
                <a:lnTo>
                  <a:pt x="634036" y="554933"/>
                </a:lnTo>
                <a:lnTo>
                  <a:pt x="317019" y="735481"/>
                </a:lnTo>
                <a:lnTo>
                  <a:pt x="0" y="554933"/>
                </a:lnTo>
                <a:lnTo>
                  <a:pt x="0" y="180548"/>
                </a:lnTo>
                <a:close/>
              </a:path>
            </a:pathLst>
          </a:custGeom>
          <a:gradFill>
            <a:gsLst>
              <a:gs pos="7000">
                <a:srgbClr val="4C53C8"/>
              </a:gs>
              <a:gs pos="100000">
                <a:srgbClr val="7198E7"/>
              </a:gs>
            </a:gsLst>
            <a:lin ang="18600000" scaled="0"/>
          </a:gradFill>
          <a:ln w="57150">
            <a:solidFill>
              <a:srgbClr val="F4F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bg1"/>
                </a:solidFill>
                <a:latin typeface="+mj-lt"/>
                <a:ea typeface="+mj-ea"/>
              </a:rPr>
              <a:t>03</a:t>
            </a:r>
            <a:endParaRPr lang="zh-CN" altLang="en-US" sz="3600" dirty="0">
              <a:solidFill>
                <a:schemeClr val="bg1"/>
              </a:solidFill>
              <a:latin typeface="+mj-lt"/>
              <a:ea typeface="+mj-ea"/>
            </a:endParaRPr>
          </a:p>
        </p:txBody>
      </p:sp>
      <p:cxnSp>
        <p:nvCxnSpPr>
          <p:cNvPr id="17" name="直接连接符 16"/>
          <p:cNvCxnSpPr/>
          <p:nvPr/>
        </p:nvCxnSpPr>
        <p:spPr>
          <a:xfrm>
            <a:off x="5927928" y="4730115"/>
            <a:ext cx="342906" cy="0"/>
          </a:xfrm>
          <a:prstGeom prst="line">
            <a:avLst/>
          </a:prstGeom>
          <a:ln w="28575">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917709" y="504166"/>
            <a:ext cx="6356350" cy="521970"/>
          </a:xfrm>
          <a:prstGeom prst="rect">
            <a:avLst/>
          </a:prstGeom>
          <a:noFill/>
        </p:spPr>
        <p:txBody>
          <a:bodyPr wrap="none" rtlCol="0" anchor="ctr">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pPr algn="l"/>
            <a:r>
              <a:rPr lang="en-US" altLang="zh-CN" sz="2800" dirty="0">
                <a:effectLst/>
                <a:latin typeface="Montserrat" panose="00000500000000000000" pitchFamily="2" charset="0"/>
              </a:rPr>
              <a:t>Four different areas of application</a:t>
            </a:r>
            <a:endParaRPr lang="en-US" altLang="zh-CN" sz="2800" dirty="0">
              <a:effectLst/>
              <a:latin typeface="Montserrat" panose="00000500000000000000" pitchFamily="2" charset="0"/>
            </a:endParaRPr>
          </a:p>
        </p:txBody>
      </p:sp>
      <p:cxnSp>
        <p:nvCxnSpPr>
          <p:cNvPr id="22" name="直接连接符 21"/>
          <p:cNvCxnSpPr/>
          <p:nvPr/>
        </p:nvCxnSpPr>
        <p:spPr>
          <a:xfrm>
            <a:off x="5857389" y="1111349"/>
            <a:ext cx="44974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98" name="圆角矩形 4"/>
          <p:cNvSpPr/>
          <p:nvPr>
            <p:custDataLst>
              <p:tags r:id="rId1"/>
            </p:custDataLst>
          </p:nvPr>
        </p:nvSpPr>
        <p:spPr>
          <a:xfrm>
            <a:off x="1252855" y="1872615"/>
            <a:ext cx="3808730" cy="1555750"/>
          </a:xfrm>
          <a:prstGeom prst="roundRect">
            <a:avLst/>
          </a:prstGeom>
          <a:solidFill>
            <a:schemeClr val="bg1"/>
          </a:solidFill>
          <a:ln w="9525">
            <a:solidFill>
              <a:srgbClr val="EBEBE5"/>
            </a:solidFill>
          </a:ln>
          <a:effectLst>
            <a:outerShdw blurRad="76200" dist="76200" dir="5400000" algn="t" rotWithShape="0">
              <a:prstClr val="black">
                <a:alpha val="4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圆角矩形 5"/>
          <p:cNvSpPr/>
          <p:nvPr>
            <p:custDataLst>
              <p:tags r:id="rId2"/>
            </p:custDataLst>
          </p:nvPr>
        </p:nvSpPr>
        <p:spPr>
          <a:xfrm>
            <a:off x="1233805" y="3931285"/>
            <a:ext cx="3808730" cy="1555750"/>
          </a:xfrm>
          <a:prstGeom prst="roundRect">
            <a:avLst/>
          </a:prstGeom>
          <a:solidFill>
            <a:schemeClr val="bg1"/>
          </a:solidFill>
          <a:ln w="9525">
            <a:solidFill>
              <a:srgbClr val="EBEBE5"/>
            </a:solidFill>
          </a:ln>
          <a:effectLst>
            <a:outerShdw blurRad="76200" dist="76200" dir="5400000" algn="t" rotWithShape="0">
              <a:prstClr val="black">
                <a:alpha val="4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圆角矩形 6"/>
          <p:cNvSpPr/>
          <p:nvPr>
            <p:custDataLst>
              <p:tags r:id="rId3"/>
            </p:custDataLst>
          </p:nvPr>
        </p:nvSpPr>
        <p:spPr>
          <a:xfrm>
            <a:off x="7193915" y="1872615"/>
            <a:ext cx="3808730" cy="1555750"/>
          </a:xfrm>
          <a:prstGeom prst="roundRect">
            <a:avLst/>
          </a:prstGeom>
          <a:solidFill>
            <a:schemeClr val="bg1"/>
          </a:solidFill>
          <a:ln w="9525">
            <a:solidFill>
              <a:srgbClr val="EBEBE5"/>
            </a:solidFill>
          </a:ln>
          <a:effectLst>
            <a:outerShdw blurRad="76200" dist="76200" dir="5400000" algn="t" rotWithShape="0">
              <a:prstClr val="black">
                <a:alpha val="4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圆角矩形 7"/>
          <p:cNvSpPr/>
          <p:nvPr>
            <p:custDataLst>
              <p:tags r:id="rId4"/>
            </p:custDataLst>
          </p:nvPr>
        </p:nvSpPr>
        <p:spPr>
          <a:xfrm>
            <a:off x="7193915" y="3931285"/>
            <a:ext cx="3808730" cy="1555750"/>
          </a:xfrm>
          <a:prstGeom prst="roundRect">
            <a:avLst/>
          </a:prstGeom>
          <a:solidFill>
            <a:schemeClr val="bg1"/>
          </a:solidFill>
          <a:ln w="9525">
            <a:solidFill>
              <a:srgbClr val="EBEBE5"/>
            </a:solidFill>
          </a:ln>
          <a:effectLst>
            <a:outerShdw blurRad="76200" dist="76200" dir="5400000" algn="t" rotWithShape="0">
              <a:prstClr val="black">
                <a:alpha val="4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custDataLst>
              <p:tags r:id="rId5"/>
            </p:custDataLst>
          </p:nvPr>
        </p:nvSpPr>
        <p:spPr>
          <a:xfrm>
            <a:off x="4295775" y="1962150"/>
            <a:ext cx="1376680" cy="1376680"/>
          </a:xfrm>
          <a:prstGeom prst="ellipse">
            <a:avLst/>
          </a:prstGeom>
        </p:spPr>
        <p:style>
          <a:lnRef idx="0">
            <a:srgbClr val="FFFFFF"/>
          </a:lnRef>
          <a:fillRef idx="1">
            <a:schemeClr val="accent1"/>
          </a:fillRef>
          <a:effectRef idx="0">
            <a:srgbClr val="FFFFFF"/>
          </a:effectRef>
          <a:fontRef idx="minor">
            <a:schemeClr val="lt1"/>
          </a:fontRef>
        </p:style>
        <p:txBody>
          <a:bodyPr rtlCol="0" anchor="ctr"/>
          <a:lstStyle/>
          <a:p>
            <a:endParaRPr lang="zh-CN" altLang="en-US">
              <a:solidFill>
                <a:schemeClr val="tx1"/>
              </a:solidFill>
            </a:endParaRPr>
          </a:p>
        </p:txBody>
      </p:sp>
      <p:sp>
        <p:nvSpPr>
          <p:cNvPr id="103" name="椭圆 102"/>
          <p:cNvSpPr/>
          <p:nvPr>
            <p:custDataLst>
              <p:tags r:id="rId6"/>
            </p:custDataLst>
          </p:nvPr>
        </p:nvSpPr>
        <p:spPr>
          <a:xfrm>
            <a:off x="6477000" y="1962150"/>
            <a:ext cx="1376680" cy="1376680"/>
          </a:xfrm>
          <a:prstGeom prst="ellipse">
            <a:avLst/>
          </a:prstGeom>
        </p:spPr>
        <p:style>
          <a:lnRef idx="0">
            <a:srgbClr val="FFFFFF"/>
          </a:lnRef>
          <a:fillRef idx="2">
            <a:schemeClr val="accent1"/>
          </a:fillRef>
          <a:effectRef idx="1">
            <a:schemeClr val="accent1"/>
          </a:effectRef>
          <a:fontRef idx="minor">
            <a:schemeClr val="lt1"/>
          </a:fontRef>
        </p:style>
        <p:txBody>
          <a:bodyPr rtlCol="0" anchor="ctr"/>
          <a:lstStyle/>
          <a:p>
            <a:pPr algn="ctr"/>
            <a:endParaRPr lang="zh-CN" altLang="en-US"/>
          </a:p>
        </p:txBody>
      </p:sp>
      <p:sp>
        <p:nvSpPr>
          <p:cNvPr id="104" name="椭圆 103"/>
          <p:cNvSpPr/>
          <p:nvPr>
            <p:custDataLst>
              <p:tags r:id="rId7"/>
            </p:custDataLst>
          </p:nvPr>
        </p:nvSpPr>
        <p:spPr>
          <a:xfrm>
            <a:off x="4276725" y="4020820"/>
            <a:ext cx="1376680" cy="1376680"/>
          </a:xfrm>
          <a:prstGeom prst="ellipse">
            <a:avLst/>
          </a:prstGeom>
        </p:spPr>
        <p:style>
          <a:lnRef idx="2">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sp>
        <p:nvSpPr>
          <p:cNvPr id="105" name="椭圆 104"/>
          <p:cNvSpPr/>
          <p:nvPr>
            <p:custDataLst>
              <p:tags r:id="rId8"/>
            </p:custDataLst>
          </p:nvPr>
        </p:nvSpPr>
        <p:spPr>
          <a:xfrm>
            <a:off x="6477000" y="4020820"/>
            <a:ext cx="1376680" cy="1376680"/>
          </a:xfrm>
          <a:prstGeom prst="ellipse">
            <a:avLst/>
          </a:prstGeom>
        </p:spPr>
        <p:style>
          <a:lnRef idx="0">
            <a:srgbClr val="FFFFFF"/>
          </a:lnRef>
          <a:fillRef idx="1">
            <a:schemeClr val="accent5"/>
          </a:fillRef>
          <a:effectRef idx="2">
            <a:schemeClr val="accent5"/>
          </a:effectRef>
          <a:fontRef idx="minor">
            <a:schemeClr val="lt1"/>
          </a:fontRef>
        </p:style>
        <p:txBody>
          <a:bodyPr rtlCol="0" anchor="ctr"/>
          <a:lstStyle/>
          <a:p>
            <a:endParaRPr lang="zh-CN" altLang="en-US">
              <a:solidFill>
                <a:schemeClr val="tx1"/>
              </a:solidFill>
            </a:endParaRPr>
          </a:p>
        </p:txBody>
      </p:sp>
      <p:grpSp>
        <p:nvGrpSpPr>
          <p:cNvPr id="106" name="Group 16"/>
          <p:cNvGrpSpPr>
            <a:grpSpLocks noChangeAspect="1"/>
          </p:cNvGrpSpPr>
          <p:nvPr>
            <p:custDataLst>
              <p:tags r:id="rId9"/>
            </p:custDataLst>
          </p:nvPr>
        </p:nvGrpSpPr>
        <p:grpSpPr>
          <a:xfrm>
            <a:off x="4752998" y="2364494"/>
            <a:ext cx="475959" cy="576000"/>
            <a:chOff x="427038" y="3595610"/>
            <a:chExt cx="391838" cy="474198"/>
          </a:xfrm>
          <a:solidFill>
            <a:schemeClr val="bg1"/>
          </a:solidFill>
        </p:grpSpPr>
        <p:sp>
          <p:nvSpPr>
            <p:cNvPr id="107" name="Freeform 89"/>
            <p:cNvSpPr/>
            <p:nvPr>
              <p:custDataLst>
                <p:tags r:id="rId10"/>
              </p:custDataLst>
            </p:nvPr>
          </p:nvSpPr>
          <p:spPr bwMode="auto">
            <a:xfrm>
              <a:off x="486937" y="3655509"/>
              <a:ext cx="272041" cy="257066"/>
            </a:xfrm>
            <a:custGeom>
              <a:avLst/>
              <a:gdLst>
                <a:gd name="T0" fmla="*/ 57 w 82"/>
                <a:gd name="T1" fmla="*/ 67 h 78"/>
                <a:gd name="T2" fmla="*/ 57 w 82"/>
                <a:gd name="T3" fmla="*/ 78 h 78"/>
                <a:gd name="T4" fmla="*/ 82 w 82"/>
                <a:gd name="T5" fmla="*/ 40 h 78"/>
                <a:gd name="T6" fmla="*/ 41 w 82"/>
                <a:gd name="T7" fmla="*/ 0 h 78"/>
                <a:gd name="T8" fmla="*/ 0 w 82"/>
                <a:gd name="T9" fmla="*/ 40 h 78"/>
                <a:gd name="T10" fmla="*/ 25 w 82"/>
                <a:gd name="T11" fmla="*/ 78 h 78"/>
                <a:gd name="T12" fmla="*/ 25 w 82"/>
                <a:gd name="T13" fmla="*/ 67 h 78"/>
                <a:gd name="T14" fmla="*/ 10 w 82"/>
                <a:gd name="T15" fmla="*/ 40 h 78"/>
                <a:gd name="T16" fmla="*/ 41 w 82"/>
                <a:gd name="T17" fmla="*/ 10 h 78"/>
                <a:gd name="T18" fmla="*/ 72 w 82"/>
                <a:gd name="T19" fmla="*/ 40 h 78"/>
                <a:gd name="T20" fmla="*/ 57 w 82"/>
                <a:gd name="T21" fmla="*/ 67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2" h="78">
                  <a:moveTo>
                    <a:pt x="57" y="67"/>
                  </a:moveTo>
                  <a:cubicBezTo>
                    <a:pt x="57" y="78"/>
                    <a:pt x="57" y="78"/>
                    <a:pt x="57" y="78"/>
                  </a:cubicBezTo>
                  <a:cubicBezTo>
                    <a:pt x="71" y="72"/>
                    <a:pt x="82" y="57"/>
                    <a:pt x="82" y="40"/>
                  </a:cubicBezTo>
                  <a:cubicBezTo>
                    <a:pt x="82" y="18"/>
                    <a:pt x="63" y="0"/>
                    <a:pt x="41" y="0"/>
                  </a:cubicBezTo>
                  <a:cubicBezTo>
                    <a:pt x="19" y="0"/>
                    <a:pt x="0" y="18"/>
                    <a:pt x="0" y="40"/>
                  </a:cubicBezTo>
                  <a:cubicBezTo>
                    <a:pt x="0" y="57"/>
                    <a:pt x="10" y="72"/>
                    <a:pt x="25" y="78"/>
                  </a:cubicBezTo>
                  <a:cubicBezTo>
                    <a:pt x="25" y="67"/>
                    <a:pt x="25" y="67"/>
                    <a:pt x="25" y="67"/>
                  </a:cubicBezTo>
                  <a:cubicBezTo>
                    <a:pt x="16" y="61"/>
                    <a:pt x="10" y="52"/>
                    <a:pt x="10" y="40"/>
                  </a:cubicBezTo>
                  <a:cubicBezTo>
                    <a:pt x="10" y="23"/>
                    <a:pt x="24" y="10"/>
                    <a:pt x="41" y="10"/>
                  </a:cubicBezTo>
                  <a:cubicBezTo>
                    <a:pt x="58" y="10"/>
                    <a:pt x="72" y="23"/>
                    <a:pt x="72" y="40"/>
                  </a:cubicBezTo>
                  <a:cubicBezTo>
                    <a:pt x="72" y="52"/>
                    <a:pt x="66" y="62"/>
                    <a:pt x="57" y="6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2800">
                <a:solidFill>
                  <a:schemeClr val="bg1"/>
                </a:solidFill>
              </a:endParaRPr>
            </a:p>
          </p:txBody>
        </p:sp>
        <p:sp>
          <p:nvSpPr>
            <p:cNvPr id="108" name="Freeform 90"/>
            <p:cNvSpPr/>
            <p:nvPr>
              <p:custDataLst>
                <p:tags r:id="rId11"/>
              </p:custDataLst>
            </p:nvPr>
          </p:nvSpPr>
          <p:spPr bwMode="auto">
            <a:xfrm>
              <a:off x="427038" y="3595610"/>
              <a:ext cx="391838" cy="381855"/>
            </a:xfrm>
            <a:custGeom>
              <a:avLst/>
              <a:gdLst>
                <a:gd name="T0" fmla="*/ 59 w 118"/>
                <a:gd name="T1" fmla="*/ 0 h 115"/>
                <a:gd name="T2" fmla="*/ 0 w 118"/>
                <a:gd name="T3" fmla="*/ 58 h 115"/>
                <a:gd name="T4" fmla="*/ 43 w 118"/>
                <a:gd name="T5" fmla="*/ 115 h 115"/>
                <a:gd name="T6" fmla="*/ 43 w 118"/>
                <a:gd name="T7" fmla="*/ 107 h 115"/>
                <a:gd name="T8" fmla="*/ 8 w 118"/>
                <a:gd name="T9" fmla="*/ 58 h 115"/>
                <a:gd name="T10" fmla="*/ 59 w 118"/>
                <a:gd name="T11" fmla="*/ 8 h 115"/>
                <a:gd name="T12" fmla="*/ 110 w 118"/>
                <a:gd name="T13" fmla="*/ 58 h 115"/>
                <a:gd name="T14" fmla="*/ 75 w 118"/>
                <a:gd name="T15" fmla="*/ 107 h 115"/>
                <a:gd name="T16" fmla="*/ 75 w 118"/>
                <a:gd name="T17" fmla="*/ 115 h 115"/>
                <a:gd name="T18" fmla="*/ 118 w 118"/>
                <a:gd name="T19" fmla="*/ 58 h 115"/>
                <a:gd name="T20" fmla="*/ 59 w 118"/>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8" h="115">
                  <a:moveTo>
                    <a:pt x="59" y="0"/>
                  </a:moveTo>
                  <a:cubicBezTo>
                    <a:pt x="26" y="0"/>
                    <a:pt x="0" y="26"/>
                    <a:pt x="0" y="58"/>
                  </a:cubicBezTo>
                  <a:cubicBezTo>
                    <a:pt x="0" y="85"/>
                    <a:pt x="18" y="108"/>
                    <a:pt x="43" y="115"/>
                  </a:cubicBezTo>
                  <a:cubicBezTo>
                    <a:pt x="43" y="107"/>
                    <a:pt x="43" y="107"/>
                    <a:pt x="43" y="107"/>
                  </a:cubicBezTo>
                  <a:cubicBezTo>
                    <a:pt x="23" y="100"/>
                    <a:pt x="8" y="81"/>
                    <a:pt x="8" y="58"/>
                  </a:cubicBezTo>
                  <a:cubicBezTo>
                    <a:pt x="8" y="30"/>
                    <a:pt x="31" y="8"/>
                    <a:pt x="59" y="8"/>
                  </a:cubicBezTo>
                  <a:cubicBezTo>
                    <a:pt x="87" y="8"/>
                    <a:pt x="110" y="30"/>
                    <a:pt x="110" y="58"/>
                  </a:cubicBezTo>
                  <a:cubicBezTo>
                    <a:pt x="110" y="81"/>
                    <a:pt x="95" y="100"/>
                    <a:pt x="75" y="107"/>
                  </a:cubicBezTo>
                  <a:cubicBezTo>
                    <a:pt x="75" y="115"/>
                    <a:pt x="75" y="115"/>
                    <a:pt x="75" y="115"/>
                  </a:cubicBezTo>
                  <a:cubicBezTo>
                    <a:pt x="100" y="108"/>
                    <a:pt x="118" y="86"/>
                    <a:pt x="118" y="58"/>
                  </a:cubicBezTo>
                  <a:cubicBezTo>
                    <a:pt x="118" y="26"/>
                    <a:pt x="92" y="0"/>
                    <a:pt x="5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2800">
                <a:solidFill>
                  <a:schemeClr val="bg1"/>
                </a:solidFill>
              </a:endParaRPr>
            </a:p>
          </p:txBody>
        </p:sp>
        <p:sp>
          <p:nvSpPr>
            <p:cNvPr id="109" name="Freeform 91"/>
            <p:cNvSpPr/>
            <p:nvPr>
              <p:custDataLst>
                <p:tags r:id="rId12"/>
              </p:custDataLst>
            </p:nvPr>
          </p:nvSpPr>
          <p:spPr bwMode="auto">
            <a:xfrm>
              <a:off x="566802" y="3750348"/>
              <a:ext cx="119797" cy="319460"/>
            </a:xfrm>
            <a:custGeom>
              <a:avLst/>
              <a:gdLst>
                <a:gd name="T0" fmla="*/ 24 w 36"/>
                <a:gd name="T1" fmla="*/ 82 h 96"/>
                <a:gd name="T2" fmla="*/ 24 w 36"/>
                <a:gd name="T3" fmla="*/ 21 h 96"/>
                <a:gd name="T4" fmla="*/ 29 w 36"/>
                <a:gd name="T5" fmla="*/ 12 h 96"/>
                <a:gd name="T6" fmla="*/ 17 w 36"/>
                <a:gd name="T7" fmla="*/ 0 h 96"/>
                <a:gd name="T8" fmla="*/ 5 w 36"/>
                <a:gd name="T9" fmla="*/ 12 h 96"/>
                <a:gd name="T10" fmla="*/ 10 w 36"/>
                <a:gd name="T11" fmla="*/ 21 h 96"/>
                <a:gd name="T12" fmla="*/ 10 w 36"/>
                <a:gd name="T13" fmla="*/ 21 h 96"/>
                <a:gd name="T14" fmla="*/ 10 w 36"/>
                <a:gd name="T15" fmla="*/ 82 h 96"/>
                <a:gd name="T16" fmla="*/ 0 w 36"/>
                <a:gd name="T17" fmla="*/ 96 h 96"/>
                <a:gd name="T18" fmla="*/ 36 w 36"/>
                <a:gd name="T19" fmla="*/ 96 h 96"/>
                <a:gd name="T20" fmla="*/ 24 w 36"/>
                <a:gd name="T21" fmla="*/ 8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96">
                  <a:moveTo>
                    <a:pt x="24" y="82"/>
                  </a:moveTo>
                  <a:cubicBezTo>
                    <a:pt x="24" y="79"/>
                    <a:pt x="24" y="22"/>
                    <a:pt x="24" y="21"/>
                  </a:cubicBezTo>
                  <a:cubicBezTo>
                    <a:pt x="27" y="19"/>
                    <a:pt x="29" y="16"/>
                    <a:pt x="29" y="12"/>
                  </a:cubicBezTo>
                  <a:cubicBezTo>
                    <a:pt x="29" y="5"/>
                    <a:pt x="24" y="0"/>
                    <a:pt x="17" y="0"/>
                  </a:cubicBezTo>
                  <a:cubicBezTo>
                    <a:pt x="10" y="0"/>
                    <a:pt x="5" y="5"/>
                    <a:pt x="5" y="12"/>
                  </a:cubicBezTo>
                  <a:cubicBezTo>
                    <a:pt x="5" y="16"/>
                    <a:pt x="7" y="19"/>
                    <a:pt x="10" y="21"/>
                  </a:cubicBezTo>
                  <a:cubicBezTo>
                    <a:pt x="10" y="21"/>
                    <a:pt x="10" y="21"/>
                    <a:pt x="10" y="21"/>
                  </a:cubicBezTo>
                  <a:cubicBezTo>
                    <a:pt x="10" y="21"/>
                    <a:pt x="10" y="78"/>
                    <a:pt x="10" y="82"/>
                  </a:cubicBezTo>
                  <a:cubicBezTo>
                    <a:pt x="10" y="92"/>
                    <a:pt x="0" y="96"/>
                    <a:pt x="0" y="96"/>
                  </a:cubicBezTo>
                  <a:cubicBezTo>
                    <a:pt x="36" y="96"/>
                    <a:pt x="36" y="96"/>
                    <a:pt x="36" y="96"/>
                  </a:cubicBezTo>
                  <a:cubicBezTo>
                    <a:pt x="36" y="96"/>
                    <a:pt x="24" y="92"/>
                    <a:pt x="24"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2800">
                <a:solidFill>
                  <a:schemeClr val="bg1"/>
                </a:solidFill>
              </a:endParaRPr>
            </a:p>
          </p:txBody>
        </p:sp>
      </p:grpSp>
      <p:grpSp>
        <p:nvGrpSpPr>
          <p:cNvPr id="110" name="Group 30" descr="D:\51PPT模板网\51pptmoban.com\图片.jpg"/>
          <p:cNvGrpSpPr>
            <a:grpSpLocks noChangeAspect="1"/>
          </p:cNvGrpSpPr>
          <p:nvPr>
            <p:custDataLst>
              <p:tags r:id="rId13"/>
            </p:custDataLst>
          </p:nvPr>
        </p:nvGrpSpPr>
        <p:grpSpPr>
          <a:xfrm>
            <a:off x="6958329" y="2328494"/>
            <a:ext cx="410441" cy="612000"/>
            <a:chOff x="4669866" y="3800264"/>
            <a:chExt cx="279527" cy="416797"/>
          </a:xfrm>
          <a:solidFill>
            <a:schemeClr val="bg1"/>
          </a:solidFill>
        </p:grpSpPr>
        <p:sp>
          <p:nvSpPr>
            <p:cNvPr id="111" name="Freeform 141"/>
            <p:cNvSpPr>
              <a:spLocks noEditPoints="1"/>
            </p:cNvSpPr>
            <p:nvPr>
              <p:custDataLst>
                <p:tags r:id="rId14"/>
              </p:custDataLst>
            </p:nvPr>
          </p:nvSpPr>
          <p:spPr bwMode="auto">
            <a:xfrm>
              <a:off x="4669866" y="3800264"/>
              <a:ext cx="279527" cy="316965"/>
            </a:xfrm>
            <a:custGeom>
              <a:avLst/>
              <a:gdLst>
                <a:gd name="T0" fmla="*/ 84 w 84"/>
                <a:gd name="T1" fmla="*/ 42 h 95"/>
                <a:gd name="T2" fmla="*/ 42 w 84"/>
                <a:gd name="T3" fmla="*/ 0 h 95"/>
                <a:gd name="T4" fmla="*/ 0 w 84"/>
                <a:gd name="T5" fmla="*/ 42 h 95"/>
                <a:gd name="T6" fmla="*/ 28 w 84"/>
                <a:gd name="T7" fmla="*/ 81 h 95"/>
                <a:gd name="T8" fmla="*/ 25 w 84"/>
                <a:gd name="T9" fmla="*/ 81 h 95"/>
                <a:gd name="T10" fmla="*/ 25 w 84"/>
                <a:gd name="T11" fmla="*/ 95 h 95"/>
                <a:gd name="T12" fmla="*/ 60 w 84"/>
                <a:gd name="T13" fmla="*/ 95 h 95"/>
                <a:gd name="T14" fmla="*/ 60 w 84"/>
                <a:gd name="T15" fmla="*/ 81 h 95"/>
                <a:gd name="T16" fmla="*/ 57 w 84"/>
                <a:gd name="T17" fmla="*/ 81 h 95"/>
                <a:gd name="T18" fmla="*/ 84 w 84"/>
                <a:gd name="T19" fmla="*/ 42 h 95"/>
                <a:gd name="T20" fmla="*/ 42 w 84"/>
                <a:gd name="T21" fmla="*/ 77 h 95"/>
                <a:gd name="T22" fmla="*/ 7 w 84"/>
                <a:gd name="T23" fmla="*/ 42 h 95"/>
                <a:gd name="T24" fmla="*/ 42 w 84"/>
                <a:gd name="T25" fmla="*/ 7 h 95"/>
                <a:gd name="T26" fmla="*/ 77 w 84"/>
                <a:gd name="T27" fmla="*/ 42 h 95"/>
                <a:gd name="T28" fmla="*/ 42 w 84"/>
                <a:gd name="T29" fmla="*/ 77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95">
                  <a:moveTo>
                    <a:pt x="84" y="42"/>
                  </a:moveTo>
                  <a:cubicBezTo>
                    <a:pt x="84" y="19"/>
                    <a:pt x="65" y="0"/>
                    <a:pt x="42" y="0"/>
                  </a:cubicBezTo>
                  <a:cubicBezTo>
                    <a:pt x="19" y="0"/>
                    <a:pt x="0" y="19"/>
                    <a:pt x="0" y="42"/>
                  </a:cubicBezTo>
                  <a:cubicBezTo>
                    <a:pt x="0" y="60"/>
                    <a:pt x="12" y="75"/>
                    <a:pt x="28" y="81"/>
                  </a:cubicBezTo>
                  <a:cubicBezTo>
                    <a:pt x="25" y="81"/>
                    <a:pt x="25" y="81"/>
                    <a:pt x="25" y="81"/>
                  </a:cubicBezTo>
                  <a:cubicBezTo>
                    <a:pt x="25" y="95"/>
                    <a:pt x="25" y="95"/>
                    <a:pt x="25" y="95"/>
                  </a:cubicBezTo>
                  <a:cubicBezTo>
                    <a:pt x="60" y="95"/>
                    <a:pt x="60" y="95"/>
                    <a:pt x="60" y="95"/>
                  </a:cubicBezTo>
                  <a:cubicBezTo>
                    <a:pt x="60" y="81"/>
                    <a:pt x="60" y="81"/>
                    <a:pt x="60" y="81"/>
                  </a:cubicBezTo>
                  <a:cubicBezTo>
                    <a:pt x="57" y="81"/>
                    <a:pt x="57" y="81"/>
                    <a:pt x="57" y="81"/>
                  </a:cubicBezTo>
                  <a:cubicBezTo>
                    <a:pt x="73" y="75"/>
                    <a:pt x="84" y="60"/>
                    <a:pt x="84" y="42"/>
                  </a:cubicBezTo>
                  <a:close/>
                  <a:moveTo>
                    <a:pt x="42" y="77"/>
                  </a:moveTo>
                  <a:cubicBezTo>
                    <a:pt x="23" y="77"/>
                    <a:pt x="7" y="61"/>
                    <a:pt x="7" y="42"/>
                  </a:cubicBezTo>
                  <a:cubicBezTo>
                    <a:pt x="7" y="23"/>
                    <a:pt x="23" y="7"/>
                    <a:pt x="42" y="7"/>
                  </a:cubicBezTo>
                  <a:cubicBezTo>
                    <a:pt x="62" y="7"/>
                    <a:pt x="77" y="23"/>
                    <a:pt x="77" y="42"/>
                  </a:cubicBezTo>
                  <a:cubicBezTo>
                    <a:pt x="77" y="61"/>
                    <a:pt x="62" y="77"/>
                    <a:pt x="42" y="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2800">
                <a:solidFill>
                  <a:schemeClr val="bg1"/>
                </a:solidFill>
              </a:endParaRPr>
            </a:p>
          </p:txBody>
        </p:sp>
        <p:sp>
          <p:nvSpPr>
            <p:cNvPr id="112" name="Rectangle 142"/>
            <p:cNvSpPr>
              <a:spLocks noChangeArrowheads="1"/>
            </p:cNvSpPr>
            <p:nvPr>
              <p:custDataLst>
                <p:tags r:id="rId15"/>
              </p:custDataLst>
            </p:nvPr>
          </p:nvSpPr>
          <p:spPr bwMode="auto">
            <a:xfrm>
              <a:off x="4752226" y="4127210"/>
              <a:ext cx="117302" cy="4242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sz="2800">
                <a:solidFill>
                  <a:schemeClr val="bg1"/>
                </a:solidFill>
              </a:endParaRPr>
            </a:p>
          </p:txBody>
        </p:sp>
        <p:sp>
          <p:nvSpPr>
            <p:cNvPr id="113" name="Freeform 143"/>
            <p:cNvSpPr/>
            <p:nvPr>
              <p:custDataLst>
                <p:tags r:id="rId16"/>
              </p:custDataLst>
            </p:nvPr>
          </p:nvSpPr>
          <p:spPr bwMode="auto">
            <a:xfrm>
              <a:off x="4752226" y="4179623"/>
              <a:ext cx="117302" cy="37438"/>
            </a:xfrm>
            <a:custGeom>
              <a:avLst/>
              <a:gdLst>
                <a:gd name="T0" fmla="*/ 0 w 47"/>
                <a:gd name="T1" fmla="*/ 9 h 15"/>
                <a:gd name="T2" fmla="*/ 16 w 47"/>
                <a:gd name="T3" fmla="*/ 9 h 15"/>
                <a:gd name="T4" fmla="*/ 16 w 47"/>
                <a:gd name="T5" fmla="*/ 15 h 15"/>
                <a:gd name="T6" fmla="*/ 31 w 47"/>
                <a:gd name="T7" fmla="*/ 15 h 15"/>
                <a:gd name="T8" fmla="*/ 31 w 47"/>
                <a:gd name="T9" fmla="*/ 9 h 15"/>
                <a:gd name="T10" fmla="*/ 47 w 47"/>
                <a:gd name="T11" fmla="*/ 9 h 15"/>
                <a:gd name="T12" fmla="*/ 47 w 47"/>
                <a:gd name="T13" fmla="*/ 0 h 15"/>
                <a:gd name="T14" fmla="*/ 0 w 47"/>
                <a:gd name="T15" fmla="*/ 0 h 15"/>
                <a:gd name="T16" fmla="*/ 0 w 47"/>
                <a:gd name="T17" fmla="*/ 9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5">
                  <a:moveTo>
                    <a:pt x="0" y="9"/>
                  </a:moveTo>
                  <a:lnTo>
                    <a:pt x="16" y="9"/>
                  </a:lnTo>
                  <a:lnTo>
                    <a:pt x="16" y="15"/>
                  </a:lnTo>
                  <a:lnTo>
                    <a:pt x="31" y="15"/>
                  </a:lnTo>
                  <a:lnTo>
                    <a:pt x="31" y="9"/>
                  </a:lnTo>
                  <a:lnTo>
                    <a:pt x="47" y="9"/>
                  </a:lnTo>
                  <a:lnTo>
                    <a:pt x="47" y="0"/>
                  </a:lnTo>
                  <a:lnTo>
                    <a:pt x="0" y="0"/>
                  </a:lnTo>
                  <a:lnTo>
                    <a:pt x="0" y="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2800">
                <a:solidFill>
                  <a:schemeClr val="bg1"/>
                </a:solidFill>
              </a:endParaRPr>
            </a:p>
          </p:txBody>
        </p:sp>
        <p:sp>
          <p:nvSpPr>
            <p:cNvPr id="114" name="Freeform 144"/>
            <p:cNvSpPr>
              <a:spLocks noEditPoints="1"/>
            </p:cNvSpPr>
            <p:nvPr>
              <p:custDataLst>
                <p:tags r:id="rId17"/>
              </p:custDataLst>
            </p:nvPr>
          </p:nvSpPr>
          <p:spPr bwMode="auto">
            <a:xfrm>
              <a:off x="4769697" y="3890112"/>
              <a:ext cx="82362" cy="162227"/>
            </a:xfrm>
            <a:custGeom>
              <a:avLst/>
              <a:gdLst>
                <a:gd name="T0" fmla="*/ 32 w 33"/>
                <a:gd name="T1" fmla="*/ 3 h 65"/>
                <a:gd name="T2" fmla="*/ 28 w 33"/>
                <a:gd name="T3" fmla="*/ 0 h 65"/>
                <a:gd name="T4" fmla="*/ 16 w 33"/>
                <a:gd name="T5" fmla="*/ 5 h 65"/>
                <a:gd name="T6" fmla="*/ 4 w 33"/>
                <a:gd name="T7" fmla="*/ 0 h 65"/>
                <a:gd name="T8" fmla="*/ 0 w 33"/>
                <a:gd name="T9" fmla="*/ 3 h 65"/>
                <a:gd name="T10" fmla="*/ 0 w 33"/>
                <a:gd name="T11" fmla="*/ 3 h 65"/>
                <a:gd name="T12" fmla="*/ 0 w 33"/>
                <a:gd name="T13" fmla="*/ 3 h 65"/>
                <a:gd name="T14" fmla="*/ 15 w 33"/>
                <a:gd name="T15" fmla="*/ 65 h 65"/>
                <a:gd name="T16" fmla="*/ 19 w 33"/>
                <a:gd name="T17" fmla="*/ 65 h 65"/>
                <a:gd name="T18" fmla="*/ 33 w 33"/>
                <a:gd name="T19" fmla="*/ 3 h 65"/>
                <a:gd name="T20" fmla="*/ 33 w 33"/>
                <a:gd name="T21" fmla="*/ 3 h 65"/>
                <a:gd name="T22" fmla="*/ 33 w 33"/>
                <a:gd name="T23" fmla="*/ 3 h 65"/>
                <a:gd name="T24" fmla="*/ 33 w 33"/>
                <a:gd name="T25" fmla="*/ 3 h 65"/>
                <a:gd name="T26" fmla="*/ 32 w 33"/>
                <a:gd name="T27" fmla="*/ 3 h 65"/>
                <a:gd name="T28" fmla="*/ 16 w 33"/>
                <a:gd name="T29" fmla="*/ 57 h 65"/>
                <a:gd name="T30" fmla="*/ 4 w 33"/>
                <a:gd name="T31" fmla="*/ 4 h 65"/>
                <a:gd name="T32" fmla="*/ 16 w 33"/>
                <a:gd name="T33" fmla="*/ 8 h 65"/>
                <a:gd name="T34" fmla="*/ 29 w 33"/>
                <a:gd name="T35" fmla="*/ 4 h 65"/>
                <a:gd name="T36" fmla="*/ 16 w 33"/>
                <a:gd name="T37" fmla="*/ 5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 h="65">
                  <a:moveTo>
                    <a:pt x="32" y="3"/>
                  </a:moveTo>
                  <a:lnTo>
                    <a:pt x="28" y="0"/>
                  </a:lnTo>
                  <a:lnTo>
                    <a:pt x="16" y="5"/>
                  </a:lnTo>
                  <a:lnTo>
                    <a:pt x="4" y="0"/>
                  </a:lnTo>
                  <a:lnTo>
                    <a:pt x="0" y="3"/>
                  </a:lnTo>
                  <a:lnTo>
                    <a:pt x="0" y="3"/>
                  </a:lnTo>
                  <a:lnTo>
                    <a:pt x="0" y="3"/>
                  </a:lnTo>
                  <a:lnTo>
                    <a:pt x="15" y="65"/>
                  </a:lnTo>
                  <a:lnTo>
                    <a:pt x="19" y="65"/>
                  </a:lnTo>
                  <a:lnTo>
                    <a:pt x="33" y="3"/>
                  </a:lnTo>
                  <a:lnTo>
                    <a:pt x="33" y="3"/>
                  </a:lnTo>
                  <a:lnTo>
                    <a:pt x="33" y="3"/>
                  </a:lnTo>
                  <a:lnTo>
                    <a:pt x="33" y="3"/>
                  </a:lnTo>
                  <a:lnTo>
                    <a:pt x="32" y="3"/>
                  </a:lnTo>
                  <a:close/>
                  <a:moveTo>
                    <a:pt x="16" y="57"/>
                  </a:moveTo>
                  <a:lnTo>
                    <a:pt x="4" y="4"/>
                  </a:lnTo>
                  <a:lnTo>
                    <a:pt x="16" y="8"/>
                  </a:lnTo>
                  <a:lnTo>
                    <a:pt x="29" y="4"/>
                  </a:lnTo>
                  <a:lnTo>
                    <a:pt x="16" y="5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2800">
                <a:solidFill>
                  <a:schemeClr val="bg1"/>
                </a:solidFill>
              </a:endParaRPr>
            </a:p>
          </p:txBody>
        </p:sp>
      </p:grpSp>
      <p:grpSp>
        <p:nvGrpSpPr>
          <p:cNvPr id="115" name="Group 26" descr="D:\51PPT模板网\51pptmoban.com\图片.jpg"/>
          <p:cNvGrpSpPr>
            <a:grpSpLocks noChangeAspect="1"/>
          </p:cNvGrpSpPr>
          <p:nvPr>
            <p:custDataLst>
              <p:tags r:id="rId18"/>
            </p:custDataLst>
          </p:nvPr>
        </p:nvGrpSpPr>
        <p:grpSpPr>
          <a:xfrm>
            <a:off x="4704510" y="4420624"/>
            <a:ext cx="556476" cy="576000"/>
            <a:chOff x="1163293" y="4009909"/>
            <a:chExt cx="426779" cy="441753"/>
          </a:xfrm>
          <a:solidFill>
            <a:schemeClr val="bg1"/>
          </a:solidFill>
        </p:grpSpPr>
        <p:sp>
          <p:nvSpPr>
            <p:cNvPr id="116" name="Freeform 129"/>
            <p:cNvSpPr/>
            <p:nvPr>
              <p:custDataLst>
                <p:tags r:id="rId19"/>
              </p:custDataLst>
            </p:nvPr>
          </p:nvSpPr>
          <p:spPr bwMode="auto">
            <a:xfrm>
              <a:off x="1163293" y="4192101"/>
              <a:ext cx="426779" cy="157235"/>
            </a:xfrm>
            <a:custGeom>
              <a:avLst/>
              <a:gdLst>
                <a:gd name="T0" fmla="*/ 86 w 171"/>
                <a:gd name="T1" fmla="*/ 36 h 63"/>
                <a:gd name="T2" fmla="*/ 24 w 171"/>
                <a:gd name="T3" fmla="*/ 0 h 63"/>
                <a:gd name="T4" fmla="*/ 0 w 171"/>
                <a:gd name="T5" fmla="*/ 15 h 63"/>
                <a:gd name="T6" fmla="*/ 86 w 171"/>
                <a:gd name="T7" fmla="*/ 63 h 63"/>
                <a:gd name="T8" fmla="*/ 171 w 171"/>
                <a:gd name="T9" fmla="*/ 15 h 63"/>
                <a:gd name="T10" fmla="*/ 147 w 171"/>
                <a:gd name="T11" fmla="*/ 0 h 63"/>
                <a:gd name="T12" fmla="*/ 86 w 171"/>
                <a:gd name="T13" fmla="*/ 36 h 63"/>
              </a:gdLst>
              <a:ahLst/>
              <a:cxnLst>
                <a:cxn ang="0">
                  <a:pos x="T0" y="T1"/>
                </a:cxn>
                <a:cxn ang="0">
                  <a:pos x="T2" y="T3"/>
                </a:cxn>
                <a:cxn ang="0">
                  <a:pos x="T4" y="T5"/>
                </a:cxn>
                <a:cxn ang="0">
                  <a:pos x="T6" y="T7"/>
                </a:cxn>
                <a:cxn ang="0">
                  <a:pos x="T8" y="T9"/>
                </a:cxn>
                <a:cxn ang="0">
                  <a:pos x="T10" y="T11"/>
                </a:cxn>
                <a:cxn ang="0">
                  <a:pos x="T12" y="T13"/>
                </a:cxn>
              </a:cxnLst>
              <a:rect l="0" t="0" r="r" b="b"/>
              <a:pathLst>
                <a:path w="171" h="63">
                  <a:moveTo>
                    <a:pt x="86" y="36"/>
                  </a:moveTo>
                  <a:lnTo>
                    <a:pt x="24" y="0"/>
                  </a:lnTo>
                  <a:lnTo>
                    <a:pt x="0" y="15"/>
                  </a:lnTo>
                  <a:lnTo>
                    <a:pt x="86" y="63"/>
                  </a:lnTo>
                  <a:lnTo>
                    <a:pt x="171" y="15"/>
                  </a:lnTo>
                  <a:lnTo>
                    <a:pt x="147" y="0"/>
                  </a:lnTo>
                  <a:lnTo>
                    <a:pt x="86"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2800">
                <a:solidFill>
                  <a:schemeClr val="bg1"/>
                </a:solidFill>
              </a:endParaRPr>
            </a:p>
          </p:txBody>
        </p:sp>
        <p:sp>
          <p:nvSpPr>
            <p:cNvPr id="117" name="Freeform 130"/>
            <p:cNvSpPr/>
            <p:nvPr>
              <p:custDataLst>
                <p:tags r:id="rId20"/>
              </p:custDataLst>
            </p:nvPr>
          </p:nvSpPr>
          <p:spPr bwMode="auto">
            <a:xfrm>
              <a:off x="1163293" y="4296924"/>
              <a:ext cx="426779" cy="154738"/>
            </a:xfrm>
            <a:custGeom>
              <a:avLst/>
              <a:gdLst>
                <a:gd name="T0" fmla="*/ 86 w 171"/>
                <a:gd name="T1" fmla="*/ 34 h 62"/>
                <a:gd name="T2" fmla="*/ 24 w 171"/>
                <a:gd name="T3" fmla="*/ 0 h 62"/>
                <a:gd name="T4" fmla="*/ 0 w 171"/>
                <a:gd name="T5" fmla="*/ 13 h 62"/>
                <a:gd name="T6" fmla="*/ 86 w 171"/>
                <a:gd name="T7" fmla="*/ 62 h 62"/>
                <a:gd name="T8" fmla="*/ 171 w 171"/>
                <a:gd name="T9" fmla="*/ 13 h 62"/>
                <a:gd name="T10" fmla="*/ 147 w 171"/>
                <a:gd name="T11" fmla="*/ 0 h 62"/>
                <a:gd name="T12" fmla="*/ 86 w 171"/>
                <a:gd name="T13" fmla="*/ 34 h 62"/>
              </a:gdLst>
              <a:ahLst/>
              <a:cxnLst>
                <a:cxn ang="0">
                  <a:pos x="T0" y="T1"/>
                </a:cxn>
                <a:cxn ang="0">
                  <a:pos x="T2" y="T3"/>
                </a:cxn>
                <a:cxn ang="0">
                  <a:pos x="T4" y="T5"/>
                </a:cxn>
                <a:cxn ang="0">
                  <a:pos x="T6" y="T7"/>
                </a:cxn>
                <a:cxn ang="0">
                  <a:pos x="T8" y="T9"/>
                </a:cxn>
                <a:cxn ang="0">
                  <a:pos x="T10" y="T11"/>
                </a:cxn>
                <a:cxn ang="0">
                  <a:pos x="T12" y="T13"/>
                </a:cxn>
              </a:cxnLst>
              <a:rect l="0" t="0" r="r" b="b"/>
              <a:pathLst>
                <a:path w="171" h="62">
                  <a:moveTo>
                    <a:pt x="86" y="34"/>
                  </a:moveTo>
                  <a:lnTo>
                    <a:pt x="24" y="0"/>
                  </a:lnTo>
                  <a:lnTo>
                    <a:pt x="0" y="13"/>
                  </a:lnTo>
                  <a:lnTo>
                    <a:pt x="86" y="62"/>
                  </a:lnTo>
                  <a:lnTo>
                    <a:pt x="171" y="13"/>
                  </a:lnTo>
                  <a:lnTo>
                    <a:pt x="147" y="0"/>
                  </a:lnTo>
                  <a:lnTo>
                    <a:pt x="86" y="3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2800">
                <a:solidFill>
                  <a:schemeClr val="bg1"/>
                </a:solidFill>
              </a:endParaRPr>
            </a:p>
          </p:txBody>
        </p:sp>
        <p:sp>
          <p:nvSpPr>
            <p:cNvPr id="118" name="Freeform 131"/>
            <p:cNvSpPr/>
            <p:nvPr>
              <p:custDataLst>
                <p:tags r:id="rId21"/>
              </p:custDataLst>
            </p:nvPr>
          </p:nvSpPr>
          <p:spPr bwMode="auto">
            <a:xfrm>
              <a:off x="1163293" y="4009909"/>
              <a:ext cx="426779" cy="242092"/>
            </a:xfrm>
            <a:custGeom>
              <a:avLst/>
              <a:gdLst>
                <a:gd name="T0" fmla="*/ 171 w 171"/>
                <a:gd name="T1" fmla="*/ 48 h 97"/>
                <a:gd name="T2" fmla="*/ 86 w 171"/>
                <a:gd name="T3" fmla="*/ 0 h 97"/>
                <a:gd name="T4" fmla="*/ 0 w 171"/>
                <a:gd name="T5" fmla="*/ 48 h 97"/>
                <a:gd name="T6" fmla="*/ 86 w 171"/>
                <a:gd name="T7" fmla="*/ 97 h 97"/>
                <a:gd name="T8" fmla="*/ 171 w 171"/>
                <a:gd name="T9" fmla="*/ 48 h 97"/>
              </a:gdLst>
              <a:ahLst/>
              <a:cxnLst>
                <a:cxn ang="0">
                  <a:pos x="T0" y="T1"/>
                </a:cxn>
                <a:cxn ang="0">
                  <a:pos x="T2" y="T3"/>
                </a:cxn>
                <a:cxn ang="0">
                  <a:pos x="T4" y="T5"/>
                </a:cxn>
                <a:cxn ang="0">
                  <a:pos x="T6" y="T7"/>
                </a:cxn>
                <a:cxn ang="0">
                  <a:pos x="T8" y="T9"/>
                </a:cxn>
              </a:cxnLst>
              <a:rect l="0" t="0" r="r" b="b"/>
              <a:pathLst>
                <a:path w="171" h="97">
                  <a:moveTo>
                    <a:pt x="171" y="48"/>
                  </a:moveTo>
                  <a:lnTo>
                    <a:pt x="86" y="0"/>
                  </a:lnTo>
                  <a:lnTo>
                    <a:pt x="0" y="48"/>
                  </a:lnTo>
                  <a:lnTo>
                    <a:pt x="86" y="97"/>
                  </a:lnTo>
                  <a:lnTo>
                    <a:pt x="171" y="4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2800">
                <a:solidFill>
                  <a:schemeClr val="bg1"/>
                </a:solidFill>
              </a:endParaRPr>
            </a:p>
          </p:txBody>
        </p:sp>
      </p:grpSp>
      <p:grpSp>
        <p:nvGrpSpPr>
          <p:cNvPr id="125" name="组合 124"/>
          <p:cNvGrpSpPr/>
          <p:nvPr>
            <p:custDataLst>
              <p:tags r:id="rId22"/>
            </p:custDataLst>
          </p:nvPr>
        </p:nvGrpSpPr>
        <p:grpSpPr>
          <a:xfrm>
            <a:off x="7924800" y="2232870"/>
            <a:ext cx="2966720" cy="780639"/>
            <a:chOff x="283598" y="1906534"/>
            <a:chExt cx="2966720" cy="780639"/>
          </a:xfrm>
        </p:grpSpPr>
        <p:sp>
          <p:nvSpPr>
            <p:cNvPr id="126" name="文本框 125"/>
            <p:cNvSpPr txBox="1"/>
            <p:nvPr>
              <p:custDataLst>
                <p:tags r:id="rId23"/>
              </p:custDataLst>
            </p:nvPr>
          </p:nvSpPr>
          <p:spPr>
            <a:xfrm>
              <a:off x="283598" y="2134088"/>
              <a:ext cx="2966425" cy="553085"/>
            </a:xfrm>
            <a:prstGeom prst="rect">
              <a:avLst/>
            </a:prstGeom>
            <a:noFill/>
          </p:spPr>
          <p:txBody>
            <a:bodyPr wrap="square">
              <a:spAutoFit/>
            </a:bodyPr>
            <a:lstStyle>
              <a:defPPr>
                <a:defRPr lang="zh-CN"/>
              </a:defPPr>
              <a:lvl1pPr>
                <a:lnSpc>
                  <a:spcPct val="150000"/>
                </a:lnSpc>
                <a:defRPr sz="105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just"/>
              <a:r>
                <a:rPr sz="1000" dirty="0">
                  <a:latin typeface="Times New Roman" panose="02020603050405020304" charset="0"/>
                  <a:cs typeface="Times New Roman" panose="02020603050405020304" charset="0"/>
                  <a:sym typeface="HarmonyOS Sans SC Light" panose="00000400000000000000" pitchFamily="2" charset="-122"/>
                </a:rPr>
                <a:t>Information retrieval is the process of finding relevant information from a large dataset.</a:t>
              </a:r>
              <a:endParaRPr sz="1000" dirty="0">
                <a:latin typeface="Times New Roman" panose="02020603050405020304" charset="0"/>
                <a:cs typeface="Times New Roman" panose="02020603050405020304" charset="0"/>
                <a:sym typeface="HarmonyOS Sans SC Light" panose="00000400000000000000" pitchFamily="2" charset="-122"/>
              </a:endParaRPr>
            </a:p>
          </p:txBody>
        </p:sp>
        <p:sp>
          <p:nvSpPr>
            <p:cNvPr id="127" name="文本框 126"/>
            <p:cNvSpPr txBox="1"/>
            <p:nvPr>
              <p:custDataLst>
                <p:tags r:id="rId24"/>
              </p:custDataLst>
            </p:nvPr>
          </p:nvSpPr>
          <p:spPr>
            <a:xfrm>
              <a:off x="283598" y="1906534"/>
              <a:ext cx="2966720" cy="337185"/>
            </a:xfrm>
            <a:prstGeom prst="rect">
              <a:avLst/>
            </a:prstGeom>
            <a:noFill/>
          </p:spPr>
          <p:txBody>
            <a:bodyPr wrap="square" rtlCol="0">
              <a:spAutoFit/>
            </a:bodyPr>
            <a:lstStyle>
              <a:defPPr>
                <a:defRPr lang="zh-CN"/>
              </a:defPPr>
              <a:lvl1pPr>
                <a:defRPr sz="1600" b="1">
                  <a:solidFill>
                    <a:schemeClr val="tx1">
                      <a:lumMod val="95000"/>
                      <a:lumOff val="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ctr"/>
              <a:r>
                <a:rPr lang="en-US" altLang="zh-CN" dirty="0">
                  <a:latin typeface="Times New Roman" panose="02020603050405020304" charset="0"/>
                  <a:cs typeface="Times New Roman" panose="02020603050405020304" charset="0"/>
                  <a:sym typeface="HarmonyOS Sans SC Light" panose="00000400000000000000" pitchFamily="2" charset="-122"/>
                </a:rPr>
                <a:t>Information retrieval</a:t>
              </a:r>
              <a:endParaRPr lang="en-US" altLang="zh-CN" dirty="0">
                <a:latin typeface="Times New Roman" panose="02020603050405020304" charset="0"/>
                <a:cs typeface="Times New Roman" panose="02020603050405020304" charset="0"/>
                <a:sym typeface="HarmonyOS Sans SC Light" panose="00000400000000000000" pitchFamily="2" charset="-122"/>
              </a:endParaRPr>
            </a:p>
          </p:txBody>
        </p:sp>
      </p:grpSp>
      <p:grpSp>
        <p:nvGrpSpPr>
          <p:cNvPr id="128" name="组合 127"/>
          <p:cNvGrpSpPr/>
          <p:nvPr>
            <p:custDataLst>
              <p:tags r:id="rId25"/>
            </p:custDataLst>
          </p:nvPr>
        </p:nvGrpSpPr>
        <p:grpSpPr>
          <a:xfrm>
            <a:off x="1273136" y="2232870"/>
            <a:ext cx="2888615" cy="1011555"/>
            <a:chOff x="255023" y="1906534"/>
            <a:chExt cx="2888615" cy="1011555"/>
          </a:xfrm>
        </p:grpSpPr>
        <p:sp>
          <p:nvSpPr>
            <p:cNvPr id="129" name="文本框 128"/>
            <p:cNvSpPr txBox="1"/>
            <p:nvPr>
              <p:custDataLst>
                <p:tags r:id="rId26"/>
              </p:custDataLst>
            </p:nvPr>
          </p:nvSpPr>
          <p:spPr>
            <a:xfrm>
              <a:off x="476003" y="2134499"/>
              <a:ext cx="2667635" cy="783590"/>
            </a:xfrm>
            <a:prstGeom prst="rect">
              <a:avLst/>
            </a:prstGeom>
            <a:noFill/>
          </p:spPr>
          <p:txBody>
            <a:bodyPr wrap="square">
              <a:spAutoFit/>
            </a:bodyPr>
            <a:lstStyle>
              <a:defPPr>
                <a:defRPr lang="zh-CN"/>
              </a:defPPr>
              <a:lvl1pPr>
                <a:lnSpc>
                  <a:spcPct val="150000"/>
                </a:lnSpc>
                <a:defRPr sz="105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just"/>
              <a:r>
                <a:rPr sz="1000" dirty="0">
                  <a:latin typeface="Times New Roman" panose="02020603050405020304" charset="0"/>
                  <a:cs typeface="Times New Roman" panose="02020603050405020304" charset="0"/>
                  <a:sym typeface="HarmonyOS Sans SC Light" panose="00000400000000000000" pitchFamily="2" charset="-122"/>
                </a:rPr>
                <a:t>Natural Language Processing (NLP) enables computers to understand and respond to human language.</a:t>
              </a:r>
              <a:endParaRPr sz="1000" dirty="0">
                <a:latin typeface="Times New Roman" panose="02020603050405020304" charset="0"/>
                <a:cs typeface="Times New Roman" panose="02020603050405020304" charset="0"/>
                <a:sym typeface="HarmonyOS Sans SC Light" panose="00000400000000000000" pitchFamily="2" charset="-122"/>
              </a:endParaRPr>
            </a:p>
          </p:txBody>
        </p:sp>
        <p:sp>
          <p:nvSpPr>
            <p:cNvPr id="130" name="文本框 129"/>
            <p:cNvSpPr txBox="1"/>
            <p:nvPr>
              <p:custDataLst>
                <p:tags r:id="rId27"/>
              </p:custDataLst>
            </p:nvPr>
          </p:nvSpPr>
          <p:spPr>
            <a:xfrm>
              <a:off x="255023" y="1906534"/>
              <a:ext cx="2887980" cy="337185"/>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r"/>
              <a:r>
                <a:rPr lang="zh-CN" altLang="en-US" sz="1600" dirty="0">
                  <a:solidFill>
                    <a:schemeClr val="tx1">
                      <a:lumMod val="95000"/>
                      <a:lumOff val="5000"/>
                    </a:schemeClr>
                  </a:solidFill>
                  <a:latin typeface="Times New Roman" panose="02020603050405020304" charset="0"/>
                  <a:cs typeface="Times New Roman" panose="02020603050405020304" charset="0"/>
                  <a:sym typeface="HarmonyOS Sans SC Light" panose="00000400000000000000" pitchFamily="2" charset="-122"/>
                </a:rPr>
                <a:t>Natural language</a:t>
              </a:r>
              <a:r>
                <a:rPr lang="en-US" altLang="zh-CN" sz="1600" dirty="0">
                  <a:solidFill>
                    <a:schemeClr val="tx1">
                      <a:lumMod val="95000"/>
                      <a:lumOff val="5000"/>
                    </a:schemeClr>
                  </a:solidFill>
                  <a:latin typeface="Times New Roman" panose="02020603050405020304" charset="0"/>
                  <a:cs typeface="Times New Roman" panose="02020603050405020304" charset="0"/>
                  <a:sym typeface="HarmonyOS Sans SC Light" panose="00000400000000000000" pitchFamily="2" charset="-122"/>
                </a:rPr>
                <a:t> </a:t>
              </a:r>
              <a:r>
                <a:rPr lang="zh-CN" altLang="en-US" sz="1600" dirty="0">
                  <a:solidFill>
                    <a:schemeClr val="tx1">
                      <a:lumMod val="95000"/>
                      <a:lumOff val="5000"/>
                    </a:schemeClr>
                  </a:solidFill>
                  <a:latin typeface="Times New Roman" panose="02020603050405020304" charset="0"/>
                  <a:cs typeface="Times New Roman" panose="02020603050405020304" charset="0"/>
                  <a:sym typeface="HarmonyOS Sans SC Light" panose="00000400000000000000" pitchFamily="2" charset="-122"/>
                </a:rPr>
                <a:t>processing</a:t>
              </a:r>
              <a:endParaRPr lang="zh-CN" altLang="en-US" sz="1600" dirty="0">
                <a:solidFill>
                  <a:schemeClr val="tx1">
                    <a:lumMod val="95000"/>
                    <a:lumOff val="5000"/>
                  </a:schemeClr>
                </a:solidFill>
                <a:latin typeface="Times New Roman" panose="02020603050405020304" charset="0"/>
                <a:cs typeface="Times New Roman" panose="02020603050405020304" charset="0"/>
                <a:sym typeface="HarmonyOS Sans SC Light" panose="00000400000000000000" pitchFamily="2" charset="-122"/>
              </a:endParaRPr>
            </a:p>
          </p:txBody>
        </p:sp>
      </p:grpSp>
      <p:grpSp>
        <p:nvGrpSpPr>
          <p:cNvPr id="131" name="组合 130"/>
          <p:cNvGrpSpPr/>
          <p:nvPr>
            <p:custDataLst>
              <p:tags r:id="rId28"/>
            </p:custDataLst>
          </p:nvPr>
        </p:nvGrpSpPr>
        <p:grpSpPr>
          <a:xfrm>
            <a:off x="7924800" y="4274580"/>
            <a:ext cx="2966720" cy="837154"/>
            <a:chOff x="283598" y="1906534"/>
            <a:chExt cx="2966720" cy="837154"/>
          </a:xfrm>
        </p:grpSpPr>
        <p:sp>
          <p:nvSpPr>
            <p:cNvPr id="132" name="文本框 131"/>
            <p:cNvSpPr txBox="1"/>
            <p:nvPr>
              <p:custDataLst>
                <p:tags r:id="rId29"/>
              </p:custDataLst>
            </p:nvPr>
          </p:nvSpPr>
          <p:spPr>
            <a:xfrm>
              <a:off x="283598" y="2190603"/>
              <a:ext cx="2966425" cy="553085"/>
            </a:xfrm>
            <a:prstGeom prst="rect">
              <a:avLst/>
            </a:prstGeom>
            <a:noFill/>
          </p:spPr>
          <p:txBody>
            <a:bodyPr wrap="square">
              <a:spAutoFit/>
            </a:bodyPr>
            <a:lstStyle>
              <a:defPPr>
                <a:defRPr lang="zh-CN"/>
              </a:defPPr>
              <a:lvl1pPr>
                <a:lnSpc>
                  <a:spcPct val="150000"/>
                </a:lnSpc>
                <a:defRPr sz="105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just"/>
              <a:r>
                <a:rPr sz="1000" dirty="0">
                  <a:latin typeface="Times New Roman" panose="02020603050405020304" charset="0"/>
                  <a:cs typeface="Times New Roman" panose="02020603050405020304" charset="0"/>
                  <a:sym typeface="HarmonyOS Sans SC Light" panose="00000400000000000000" pitchFamily="2" charset="-122"/>
                </a:rPr>
                <a:t>AI4Science leverages artificial intelligence to advance scientific research and discoveries.</a:t>
              </a:r>
              <a:endParaRPr sz="1000" dirty="0">
                <a:latin typeface="Times New Roman" panose="02020603050405020304" charset="0"/>
                <a:cs typeface="Times New Roman" panose="02020603050405020304" charset="0"/>
                <a:sym typeface="HarmonyOS Sans SC Light" panose="00000400000000000000" pitchFamily="2" charset="-122"/>
              </a:endParaRPr>
            </a:p>
          </p:txBody>
        </p:sp>
        <p:sp>
          <p:nvSpPr>
            <p:cNvPr id="133" name="文本框 132"/>
            <p:cNvSpPr txBox="1"/>
            <p:nvPr>
              <p:custDataLst>
                <p:tags r:id="rId30"/>
              </p:custDataLst>
            </p:nvPr>
          </p:nvSpPr>
          <p:spPr>
            <a:xfrm>
              <a:off x="283598" y="1906534"/>
              <a:ext cx="2966720" cy="337185"/>
            </a:xfrm>
            <a:prstGeom prst="rect">
              <a:avLst/>
            </a:prstGeom>
            <a:noFill/>
          </p:spPr>
          <p:txBody>
            <a:bodyPr wrap="square" rtlCol="0">
              <a:spAutoFit/>
            </a:bodyPr>
            <a:lstStyle>
              <a:defPPr>
                <a:defRPr lang="zh-CN"/>
              </a:defPPr>
              <a:lvl1pPr>
                <a:defRPr sz="1600" b="1">
                  <a:solidFill>
                    <a:schemeClr val="tx1">
                      <a:lumMod val="95000"/>
                      <a:lumOff val="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ctr"/>
              <a:r>
                <a:rPr lang="en-US" altLang="zh-CN" dirty="0">
                  <a:latin typeface="Times New Roman" panose="02020603050405020304" charset="0"/>
                  <a:cs typeface="Times New Roman" panose="02020603050405020304" charset="0"/>
                  <a:sym typeface="HarmonyOS Sans SC Light" panose="00000400000000000000" pitchFamily="2" charset="-122"/>
                </a:rPr>
                <a:t>AI4Science</a:t>
              </a:r>
              <a:endParaRPr lang="en-US" altLang="zh-CN" dirty="0">
                <a:latin typeface="Times New Roman" panose="02020603050405020304" charset="0"/>
                <a:cs typeface="Times New Roman" panose="02020603050405020304" charset="0"/>
                <a:sym typeface="HarmonyOS Sans SC Light" panose="00000400000000000000" pitchFamily="2" charset="-122"/>
              </a:endParaRPr>
            </a:p>
          </p:txBody>
        </p:sp>
      </p:grpSp>
      <p:grpSp>
        <p:nvGrpSpPr>
          <p:cNvPr id="134" name="组合 133"/>
          <p:cNvGrpSpPr/>
          <p:nvPr>
            <p:custDataLst>
              <p:tags r:id="rId31"/>
            </p:custDataLst>
          </p:nvPr>
        </p:nvGrpSpPr>
        <p:grpSpPr>
          <a:xfrm>
            <a:off x="1435061" y="4274580"/>
            <a:ext cx="2841625" cy="836930"/>
            <a:chOff x="435998" y="1906534"/>
            <a:chExt cx="2841625" cy="836930"/>
          </a:xfrm>
        </p:grpSpPr>
        <p:sp>
          <p:nvSpPr>
            <p:cNvPr id="135" name="文本框 134"/>
            <p:cNvSpPr txBox="1"/>
            <p:nvPr>
              <p:custDataLst>
                <p:tags r:id="rId32"/>
              </p:custDataLst>
            </p:nvPr>
          </p:nvSpPr>
          <p:spPr>
            <a:xfrm>
              <a:off x="435998" y="2190379"/>
              <a:ext cx="2841625" cy="553085"/>
            </a:xfrm>
            <a:prstGeom prst="rect">
              <a:avLst/>
            </a:prstGeom>
            <a:noFill/>
          </p:spPr>
          <p:txBody>
            <a:bodyPr wrap="square">
              <a:spAutoFit/>
            </a:bodyPr>
            <a:lstStyle>
              <a:defPPr>
                <a:defRPr lang="zh-CN"/>
              </a:defPPr>
              <a:lvl1pPr>
                <a:lnSpc>
                  <a:spcPct val="150000"/>
                </a:lnSpc>
                <a:defRPr sz="105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just"/>
              <a:r>
                <a:rPr sz="1000" dirty="0">
                  <a:latin typeface="Times New Roman" panose="02020603050405020304" charset="0"/>
                  <a:cs typeface="Times New Roman" panose="02020603050405020304" charset="0"/>
                  <a:sym typeface="HarmonyOS Sans SC Light" panose="00000400000000000000" pitchFamily="2" charset="-122"/>
                </a:rPr>
                <a:t>Computer vision enables computers to interpret and understand visual information from the world.</a:t>
              </a:r>
              <a:endParaRPr sz="1000" dirty="0">
                <a:latin typeface="Times New Roman" panose="02020603050405020304" charset="0"/>
                <a:cs typeface="Times New Roman" panose="02020603050405020304" charset="0"/>
                <a:sym typeface="HarmonyOS Sans SC Light" panose="00000400000000000000" pitchFamily="2" charset="-122"/>
              </a:endParaRPr>
            </a:p>
          </p:txBody>
        </p:sp>
        <p:sp>
          <p:nvSpPr>
            <p:cNvPr id="136" name="文本框 135"/>
            <p:cNvSpPr txBox="1"/>
            <p:nvPr>
              <p:custDataLst>
                <p:tags r:id="rId33"/>
              </p:custDataLst>
            </p:nvPr>
          </p:nvSpPr>
          <p:spPr>
            <a:xfrm>
              <a:off x="495053" y="1906534"/>
              <a:ext cx="2666365" cy="337185"/>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ctr"/>
              <a:r>
                <a:rPr lang="en-US" altLang="zh-CN" sz="1600" dirty="0">
                  <a:solidFill>
                    <a:schemeClr val="tx1">
                      <a:lumMod val="95000"/>
                      <a:lumOff val="5000"/>
                    </a:schemeClr>
                  </a:solidFill>
                  <a:latin typeface="Times New Roman" panose="02020603050405020304" charset="0"/>
                  <a:cs typeface="Times New Roman" panose="02020603050405020304" charset="0"/>
                  <a:sym typeface="HarmonyOS Sans SC Light" panose="00000400000000000000" pitchFamily="2" charset="-122"/>
                </a:rPr>
                <a:t>Computer vision</a:t>
              </a:r>
              <a:endParaRPr lang="zh-CN" altLang="en-US" sz="1600" dirty="0">
                <a:solidFill>
                  <a:schemeClr val="tx1">
                    <a:lumMod val="95000"/>
                    <a:lumOff val="5000"/>
                  </a:schemeClr>
                </a:solidFill>
                <a:sym typeface="HarmonyOS Sans SC Light" panose="00000400000000000000" pitchFamily="2" charset="-122"/>
              </a:endParaRPr>
            </a:p>
          </p:txBody>
        </p:sp>
      </p:grpSp>
      <p:sp>
        <p:nvSpPr>
          <p:cNvPr id="137" name="Freeform 15" descr="D:\51PPT模板网\51pptmoban.com\图片.jpg"/>
          <p:cNvSpPr>
            <a:spLocks noEditPoints="1"/>
          </p:cNvSpPr>
          <p:nvPr>
            <p:custDataLst>
              <p:tags r:id="rId34"/>
            </p:custDataLst>
          </p:nvPr>
        </p:nvSpPr>
        <p:spPr bwMode="auto">
          <a:xfrm>
            <a:off x="6832337" y="4329326"/>
            <a:ext cx="665855" cy="665856"/>
          </a:xfrm>
          <a:custGeom>
            <a:avLst/>
            <a:gdLst>
              <a:gd name="T0" fmla="*/ 2204 w 2599"/>
              <a:gd name="T1" fmla="*/ 392 h 2595"/>
              <a:gd name="T2" fmla="*/ 1893 w 2599"/>
              <a:gd name="T3" fmla="*/ 233 h 2595"/>
              <a:gd name="T4" fmla="*/ 772 w 2599"/>
              <a:gd name="T5" fmla="*/ 165 h 2595"/>
              <a:gd name="T6" fmla="*/ 100 w 2599"/>
              <a:gd name="T7" fmla="*/ 838 h 2595"/>
              <a:gd name="T8" fmla="*/ 100 w 2599"/>
              <a:gd name="T9" fmla="*/ 1822 h 2595"/>
              <a:gd name="T10" fmla="*/ 772 w 2599"/>
              <a:gd name="T11" fmla="*/ 2495 h 2595"/>
              <a:gd name="T12" fmla="*/ 1757 w 2599"/>
              <a:gd name="T13" fmla="*/ 2495 h 2595"/>
              <a:gd name="T14" fmla="*/ 2430 w 2599"/>
              <a:gd name="T15" fmla="*/ 1822 h 2595"/>
              <a:gd name="T16" fmla="*/ 2364 w 2599"/>
              <a:gd name="T17" fmla="*/ 705 h 2595"/>
              <a:gd name="T18" fmla="*/ 1976 w 2599"/>
              <a:gd name="T19" fmla="*/ 1081 h 2595"/>
              <a:gd name="T20" fmla="*/ 2024 w 2599"/>
              <a:gd name="T21" fmla="*/ 1330 h 2595"/>
              <a:gd name="T22" fmla="*/ 1265 w 2599"/>
              <a:gd name="T23" fmla="*/ 2089 h 2595"/>
              <a:gd name="T24" fmla="*/ 506 w 2599"/>
              <a:gd name="T25" fmla="*/ 1330 h 2595"/>
              <a:gd name="T26" fmla="*/ 1265 w 2599"/>
              <a:gd name="T27" fmla="*/ 571 h 2595"/>
              <a:gd name="T28" fmla="*/ 1512 w 2599"/>
              <a:gd name="T29" fmla="*/ 613 h 2595"/>
              <a:gd name="T30" fmla="*/ 1523 w 2599"/>
              <a:gd name="T31" fmla="*/ 970 h 2595"/>
              <a:gd name="T32" fmla="*/ 822 w 2599"/>
              <a:gd name="T33" fmla="*/ 1329 h 2595"/>
              <a:gd name="T34" fmla="*/ 1707 w 2599"/>
              <a:gd name="T35" fmla="*/ 1329 h 2595"/>
              <a:gd name="T36" fmla="*/ 1669 w 2599"/>
              <a:gd name="T37" fmla="*/ 1014 h 2595"/>
              <a:gd name="T38" fmla="*/ 1580 w 2599"/>
              <a:gd name="T39" fmla="*/ 1330 h 2595"/>
              <a:gd name="T40" fmla="*/ 949 w 2599"/>
              <a:gd name="T41" fmla="*/ 1330 h 2595"/>
              <a:gd name="T42" fmla="*/ 1439 w 2599"/>
              <a:gd name="T43" fmla="*/ 1066 h 2595"/>
              <a:gd name="T44" fmla="*/ 1264 w 2599"/>
              <a:gd name="T45" fmla="*/ 1203 h 2595"/>
              <a:gd name="T46" fmla="*/ 1264 w 2599"/>
              <a:gd name="T47" fmla="*/ 1457 h 2595"/>
              <a:gd name="T48" fmla="*/ 1387 w 2599"/>
              <a:gd name="T49" fmla="*/ 1297 h 2595"/>
              <a:gd name="T50" fmla="*/ 1580 w 2599"/>
              <a:gd name="T51" fmla="*/ 1330 h 2595"/>
              <a:gd name="T52" fmla="*/ 1802 w 2599"/>
              <a:gd name="T53" fmla="*/ 502 h 2595"/>
              <a:gd name="T54" fmla="*/ 1916 w 2599"/>
              <a:gd name="T55" fmla="*/ 588 h 2595"/>
              <a:gd name="T56" fmla="*/ 1750 w 2599"/>
              <a:gd name="T57" fmla="*/ 555 h 2595"/>
              <a:gd name="T58" fmla="*/ 1682 w 2599"/>
              <a:gd name="T59" fmla="*/ 816 h 2595"/>
              <a:gd name="T60" fmla="*/ 1750 w 2599"/>
              <a:gd name="T61" fmla="*/ 555 h 2595"/>
              <a:gd name="T62" fmla="*/ 1936 w 2599"/>
              <a:gd name="T63" fmla="*/ 943 h 2595"/>
              <a:gd name="T64" fmla="*/ 1881 w 2599"/>
              <a:gd name="T65" fmla="*/ 802 h 2595"/>
              <a:gd name="T66" fmla="*/ 2021 w 2599"/>
              <a:gd name="T67" fmla="*/ 861 h 2595"/>
              <a:gd name="T68" fmla="*/ 1935 w 2599"/>
              <a:gd name="T69" fmla="*/ 749 h 2595"/>
              <a:gd name="T70" fmla="*/ 2177 w 2599"/>
              <a:gd name="T71" fmla="*/ 710 h 2595"/>
              <a:gd name="T72" fmla="*/ 2232 w 2599"/>
              <a:gd name="T73" fmla="*/ 656 h 2595"/>
              <a:gd name="T74" fmla="*/ 2159 w 2599"/>
              <a:gd name="T75" fmla="*/ 528 h 2595"/>
              <a:gd name="T76" fmla="*/ 2341 w 2599"/>
              <a:gd name="T77" fmla="*/ 551 h 2595"/>
              <a:gd name="T78" fmla="*/ 2081 w 2599"/>
              <a:gd name="T79" fmla="*/ 424 h 2595"/>
              <a:gd name="T80" fmla="*/ 1928 w 2599"/>
              <a:gd name="T81" fmla="*/ 376 h 2595"/>
              <a:gd name="T82" fmla="*/ 2081 w 2599"/>
              <a:gd name="T83" fmla="*/ 424 h 2595"/>
              <a:gd name="T84" fmla="*/ 2069 w 2599"/>
              <a:gd name="T85" fmla="*/ 2134 h 2595"/>
              <a:gd name="T86" fmla="*/ 460 w 2599"/>
              <a:gd name="T87" fmla="*/ 2134 h 2595"/>
              <a:gd name="T88" fmla="*/ 460 w 2599"/>
              <a:gd name="T89" fmla="*/ 525 h 2595"/>
              <a:gd name="T90" fmla="*/ 1800 w 2599"/>
              <a:gd name="T91" fmla="*/ 325 h 2595"/>
              <a:gd name="T92" fmla="*/ 1265 w 2599"/>
              <a:gd name="T93" fmla="*/ 444 h 2595"/>
              <a:gd name="T94" fmla="*/ 380 w 2599"/>
              <a:gd name="T95" fmla="*/ 1329 h 2595"/>
              <a:gd name="T96" fmla="*/ 1265 w 2599"/>
              <a:gd name="T97" fmla="*/ 2214 h 2595"/>
              <a:gd name="T98" fmla="*/ 2150 w 2599"/>
              <a:gd name="T99" fmla="*/ 1329 h 2595"/>
              <a:gd name="T100" fmla="*/ 2269 w 2599"/>
              <a:gd name="T101" fmla="*/ 796 h 2595"/>
              <a:gd name="T102" fmla="*/ 2403 w 2599"/>
              <a:gd name="T103" fmla="*/ 1330 h 2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99" h="2595">
                <a:moveTo>
                  <a:pt x="2599" y="477"/>
                </a:moveTo>
                <a:cubicBezTo>
                  <a:pt x="2204" y="392"/>
                  <a:pt x="2204" y="392"/>
                  <a:pt x="2204" y="392"/>
                </a:cubicBezTo>
                <a:cubicBezTo>
                  <a:pt x="2126" y="0"/>
                  <a:pt x="2126" y="0"/>
                  <a:pt x="2126" y="0"/>
                </a:cubicBezTo>
                <a:cubicBezTo>
                  <a:pt x="1893" y="233"/>
                  <a:pt x="1893" y="233"/>
                  <a:pt x="1893" y="233"/>
                </a:cubicBezTo>
                <a:cubicBezTo>
                  <a:pt x="1703" y="123"/>
                  <a:pt x="1487" y="65"/>
                  <a:pt x="1265" y="65"/>
                </a:cubicBezTo>
                <a:cubicBezTo>
                  <a:pt x="1094" y="65"/>
                  <a:pt x="928" y="99"/>
                  <a:pt x="772" y="165"/>
                </a:cubicBezTo>
                <a:cubicBezTo>
                  <a:pt x="622" y="228"/>
                  <a:pt x="487" y="320"/>
                  <a:pt x="371" y="436"/>
                </a:cubicBezTo>
                <a:cubicBezTo>
                  <a:pt x="254" y="552"/>
                  <a:pt x="163" y="687"/>
                  <a:pt x="100" y="838"/>
                </a:cubicBezTo>
                <a:cubicBezTo>
                  <a:pt x="34" y="994"/>
                  <a:pt x="0" y="1159"/>
                  <a:pt x="0" y="1330"/>
                </a:cubicBezTo>
                <a:cubicBezTo>
                  <a:pt x="0" y="1500"/>
                  <a:pt x="34" y="1666"/>
                  <a:pt x="100" y="1822"/>
                </a:cubicBezTo>
                <a:cubicBezTo>
                  <a:pt x="163" y="1973"/>
                  <a:pt x="254" y="2108"/>
                  <a:pt x="371" y="2224"/>
                </a:cubicBezTo>
                <a:cubicBezTo>
                  <a:pt x="487" y="2340"/>
                  <a:pt x="622" y="2431"/>
                  <a:pt x="772" y="2495"/>
                </a:cubicBezTo>
                <a:cubicBezTo>
                  <a:pt x="928" y="2561"/>
                  <a:pt x="1094" y="2595"/>
                  <a:pt x="1265" y="2595"/>
                </a:cubicBezTo>
                <a:cubicBezTo>
                  <a:pt x="1435" y="2595"/>
                  <a:pt x="1601" y="2561"/>
                  <a:pt x="1757" y="2495"/>
                </a:cubicBezTo>
                <a:cubicBezTo>
                  <a:pt x="1908" y="2431"/>
                  <a:pt x="2043" y="2340"/>
                  <a:pt x="2159" y="2224"/>
                </a:cubicBezTo>
                <a:cubicBezTo>
                  <a:pt x="2275" y="2108"/>
                  <a:pt x="2366" y="1973"/>
                  <a:pt x="2430" y="1822"/>
                </a:cubicBezTo>
                <a:cubicBezTo>
                  <a:pt x="2496" y="1666"/>
                  <a:pt x="2529" y="1500"/>
                  <a:pt x="2529" y="1330"/>
                </a:cubicBezTo>
                <a:cubicBezTo>
                  <a:pt x="2529" y="1109"/>
                  <a:pt x="2472" y="894"/>
                  <a:pt x="2364" y="705"/>
                </a:cubicBezTo>
                <a:lnTo>
                  <a:pt x="2599" y="477"/>
                </a:lnTo>
                <a:close/>
                <a:moveTo>
                  <a:pt x="1976" y="1081"/>
                </a:moveTo>
                <a:cubicBezTo>
                  <a:pt x="1980" y="1076"/>
                  <a:pt x="1980" y="1076"/>
                  <a:pt x="1980" y="1076"/>
                </a:cubicBezTo>
                <a:cubicBezTo>
                  <a:pt x="2009" y="1157"/>
                  <a:pt x="2024" y="1242"/>
                  <a:pt x="2024" y="1330"/>
                </a:cubicBezTo>
                <a:cubicBezTo>
                  <a:pt x="2024" y="1532"/>
                  <a:pt x="1945" y="1723"/>
                  <a:pt x="1801" y="1866"/>
                </a:cubicBezTo>
                <a:cubicBezTo>
                  <a:pt x="1658" y="2010"/>
                  <a:pt x="1468" y="2089"/>
                  <a:pt x="1265" y="2089"/>
                </a:cubicBezTo>
                <a:cubicBezTo>
                  <a:pt x="1062" y="2089"/>
                  <a:pt x="871" y="2010"/>
                  <a:pt x="728" y="1866"/>
                </a:cubicBezTo>
                <a:cubicBezTo>
                  <a:pt x="585" y="1723"/>
                  <a:pt x="506" y="1532"/>
                  <a:pt x="506" y="1330"/>
                </a:cubicBezTo>
                <a:cubicBezTo>
                  <a:pt x="506" y="1127"/>
                  <a:pt x="585" y="936"/>
                  <a:pt x="728" y="793"/>
                </a:cubicBezTo>
                <a:cubicBezTo>
                  <a:pt x="871" y="650"/>
                  <a:pt x="1062" y="571"/>
                  <a:pt x="1265" y="571"/>
                </a:cubicBezTo>
                <a:cubicBezTo>
                  <a:pt x="1351" y="571"/>
                  <a:pt x="1434" y="585"/>
                  <a:pt x="1513" y="612"/>
                </a:cubicBezTo>
                <a:cubicBezTo>
                  <a:pt x="1512" y="613"/>
                  <a:pt x="1512" y="613"/>
                  <a:pt x="1512" y="613"/>
                </a:cubicBezTo>
                <a:cubicBezTo>
                  <a:pt x="1574" y="920"/>
                  <a:pt x="1574" y="920"/>
                  <a:pt x="1574" y="920"/>
                </a:cubicBezTo>
                <a:cubicBezTo>
                  <a:pt x="1523" y="970"/>
                  <a:pt x="1523" y="970"/>
                  <a:pt x="1523" y="970"/>
                </a:cubicBezTo>
                <a:cubicBezTo>
                  <a:pt x="1450" y="918"/>
                  <a:pt x="1361" y="887"/>
                  <a:pt x="1265" y="887"/>
                </a:cubicBezTo>
                <a:cubicBezTo>
                  <a:pt x="1021" y="887"/>
                  <a:pt x="822" y="1085"/>
                  <a:pt x="822" y="1329"/>
                </a:cubicBezTo>
                <a:cubicBezTo>
                  <a:pt x="822" y="1573"/>
                  <a:pt x="1020" y="1772"/>
                  <a:pt x="1265" y="1772"/>
                </a:cubicBezTo>
                <a:cubicBezTo>
                  <a:pt x="1509" y="1772"/>
                  <a:pt x="1707" y="1573"/>
                  <a:pt x="1707" y="1329"/>
                </a:cubicBezTo>
                <a:cubicBezTo>
                  <a:pt x="1707" y="1230"/>
                  <a:pt x="1675" y="1139"/>
                  <a:pt x="1619" y="1065"/>
                </a:cubicBezTo>
                <a:cubicBezTo>
                  <a:pt x="1669" y="1014"/>
                  <a:pt x="1669" y="1014"/>
                  <a:pt x="1669" y="1014"/>
                </a:cubicBezTo>
                <a:lnTo>
                  <a:pt x="1976" y="1081"/>
                </a:lnTo>
                <a:close/>
                <a:moveTo>
                  <a:pt x="1580" y="1330"/>
                </a:moveTo>
                <a:cubicBezTo>
                  <a:pt x="1580" y="1504"/>
                  <a:pt x="1439" y="1645"/>
                  <a:pt x="1265" y="1645"/>
                </a:cubicBezTo>
                <a:cubicBezTo>
                  <a:pt x="1091" y="1645"/>
                  <a:pt x="949" y="1504"/>
                  <a:pt x="949" y="1330"/>
                </a:cubicBezTo>
                <a:cubicBezTo>
                  <a:pt x="949" y="1156"/>
                  <a:pt x="1091" y="1014"/>
                  <a:pt x="1265" y="1014"/>
                </a:cubicBezTo>
                <a:cubicBezTo>
                  <a:pt x="1329" y="1014"/>
                  <a:pt x="1389" y="1033"/>
                  <a:pt x="1439" y="1066"/>
                </a:cubicBezTo>
                <a:cubicBezTo>
                  <a:pt x="1297" y="1208"/>
                  <a:pt x="1297" y="1208"/>
                  <a:pt x="1297" y="1208"/>
                </a:cubicBezTo>
                <a:cubicBezTo>
                  <a:pt x="1287" y="1205"/>
                  <a:pt x="1276" y="1203"/>
                  <a:pt x="1264" y="1203"/>
                </a:cubicBezTo>
                <a:cubicBezTo>
                  <a:pt x="1195" y="1203"/>
                  <a:pt x="1138" y="1260"/>
                  <a:pt x="1138" y="1330"/>
                </a:cubicBezTo>
                <a:cubicBezTo>
                  <a:pt x="1138" y="1400"/>
                  <a:pt x="1194" y="1457"/>
                  <a:pt x="1264" y="1457"/>
                </a:cubicBezTo>
                <a:cubicBezTo>
                  <a:pt x="1334" y="1457"/>
                  <a:pt x="1391" y="1399"/>
                  <a:pt x="1391" y="1330"/>
                </a:cubicBezTo>
                <a:cubicBezTo>
                  <a:pt x="1391" y="1318"/>
                  <a:pt x="1390" y="1307"/>
                  <a:pt x="1387" y="1297"/>
                </a:cubicBezTo>
                <a:cubicBezTo>
                  <a:pt x="1528" y="1155"/>
                  <a:pt x="1528" y="1155"/>
                  <a:pt x="1528" y="1155"/>
                </a:cubicBezTo>
                <a:cubicBezTo>
                  <a:pt x="1561" y="1205"/>
                  <a:pt x="1580" y="1265"/>
                  <a:pt x="1580" y="1330"/>
                </a:cubicBezTo>
                <a:close/>
                <a:moveTo>
                  <a:pt x="1841" y="661"/>
                </a:moveTo>
                <a:cubicBezTo>
                  <a:pt x="1802" y="502"/>
                  <a:pt x="1802" y="502"/>
                  <a:pt x="1802" y="502"/>
                </a:cubicBezTo>
                <a:cubicBezTo>
                  <a:pt x="1876" y="428"/>
                  <a:pt x="1876" y="428"/>
                  <a:pt x="1876" y="428"/>
                </a:cubicBezTo>
                <a:cubicBezTo>
                  <a:pt x="1916" y="588"/>
                  <a:pt x="1916" y="588"/>
                  <a:pt x="1916" y="588"/>
                </a:cubicBezTo>
                <a:lnTo>
                  <a:pt x="1841" y="661"/>
                </a:lnTo>
                <a:close/>
                <a:moveTo>
                  <a:pt x="1750" y="555"/>
                </a:moveTo>
                <a:cubicBezTo>
                  <a:pt x="1789" y="712"/>
                  <a:pt x="1789" y="712"/>
                  <a:pt x="1789" y="712"/>
                </a:cubicBezTo>
                <a:cubicBezTo>
                  <a:pt x="1682" y="816"/>
                  <a:pt x="1682" y="816"/>
                  <a:pt x="1682" y="816"/>
                </a:cubicBezTo>
                <a:cubicBezTo>
                  <a:pt x="1649" y="655"/>
                  <a:pt x="1649" y="655"/>
                  <a:pt x="1649" y="655"/>
                </a:cubicBezTo>
                <a:lnTo>
                  <a:pt x="1750" y="555"/>
                </a:lnTo>
                <a:close/>
                <a:moveTo>
                  <a:pt x="2021" y="861"/>
                </a:moveTo>
                <a:cubicBezTo>
                  <a:pt x="1936" y="943"/>
                  <a:pt x="1936" y="943"/>
                  <a:pt x="1936" y="943"/>
                </a:cubicBezTo>
                <a:cubicBezTo>
                  <a:pt x="1775" y="908"/>
                  <a:pt x="1775" y="908"/>
                  <a:pt x="1775" y="908"/>
                </a:cubicBezTo>
                <a:cubicBezTo>
                  <a:pt x="1881" y="802"/>
                  <a:pt x="1881" y="802"/>
                  <a:pt x="1881" y="802"/>
                </a:cubicBezTo>
                <a:cubicBezTo>
                  <a:pt x="2047" y="835"/>
                  <a:pt x="2047" y="835"/>
                  <a:pt x="2047" y="835"/>
                </a:cubicBezTo>
                <a:lnTo>
                  <a:pt x="2021" y="861"/>
                </a:lnTo>
                <a:close/>
                <a:moveTo>
                  <a:pt x="2102" y="782"/>
                </a:moveTo>
                <a:cubicBezTo>
                  <a:pt x="1935" y="749"/>
                  <a:pt x="1935" y="749"/>
                  <a:pt x="1935" y="749"/>
                </a:cubicBezTo>
                <a:cubicBezTo>
                  <a:pt x="2008" y="676"/>
                  <a:pt x="2008" y="676"/>
                  <a:pt x="2008" y="676"/>
                </a:cubicBezTo>
                <a:cubicBezTo>
                  <a:pt x="2177" y="710"/>
                  <a:pt x="2177" y="710"/>
                  <a:pt x="2177" y="710"/>
                </a:cubicBezTo>
                <a:lnTo>
                  <a:pt x="2102" y="782"/>
                </a:lnTo>
                <a:close/>
                <a:moveTo>
                  <a:pt x="2232" y="656"/>
                </a:moveTo>
                <a:cubicBezTo>
                  <a:pt x="2062" y="622"/>
                  <a:pt x="2062" y="622"/>
                  <a:pt x="2062" y="622"/>
                </a:cubicBezTo>
                <a:cubicBezTo>
                  <a:pt x="2159" y="528"/>
                  <a:pt x="2159" y="528"/>
                  <a:pt x="2159" y="528"/>
                </a:cubicBezTo>
                <a:cubicBezTo>
                  <a:pt x="2174" y="515"/>
                  <a:pt x="2174" y="515"/>
                  <a:pt x="2174" y="515"/>
                </a:cubicBezTo>
                <a:cubicBezTo>
                  <a:pt x="2341" y="551"/>
                  <a:pt x="2341" y="551"/>
                  <a:pt x="2341" y="551"/>
                </a:cubicBezTo>
                <a:lnTo>
                  <a:pt x="2232" y="656"/>
                </a:lnTo>
                <a:close/>
                <a:moveTo>
                  <a:pt x="2081" y="424"/>
                </a:moveTo>
                <a:cubicBezTo>
                  <a:pt x="1968" y="537"/>
                  <a:pt x="1968" y="537"/>
                  <a:pt x="1968" y="537"/>
                </a:cubicBezTo>
                <a:cubicBezTo>
                  <a:pt x="1928" y="376"/>
                  <a:pt x="1928" y="376"/>
                  <a:pt x="1928" y="376"/>
                </a:cubicBezTo>
                <a:cubicBezTo>
                  <a:pt x="2048" y="256"/>
                  <a:pt x="2048" y="256"/>
                  <a:pt x="2048" y="256"/>
                </a:cubicBezTo>
                <a:lnTo>
                  <a:pt x="2081" y="424"/>
                </a:lnTo>
                <a:close/>
                <a:moveTo>
                  <a:pt x="2403" y="1330"/>
                </a:moveTo>
                <a:cubicBezTo>
                  <a:pt x="2403" y="1634"/>
                  <a:pt x="2284" y="1919"/>
                  <a:pt x="2069" y="2134"/>
                </a:cubicBezTo>
                <a:cubicBezTo>
                  <a:pt x="1854" y="2349"/>
                  <a:pt x="1569" y="2468"/>
                  <a:pt x="1265" y="2468"/>
                </a:cubicBezTo>
                <a:cubicBezTo>
                  <a:pt x="961" y="2468"/>
                  <a:pt x="675" y="2349"/>
                  <a:pt x="460" y="2134"/>
                </a:cubicBezTo>
                <a:cubicBezTo>
                  <a:pt x="245" y="1919"/>
                  <a:pt x="127" y="1634"/>
                  <a:pt x="127" y="1330"/>
                </a:cubicBezTo>
                <a:cubicBezTo>
                  <a:pt x="127" y="1026"/>
                  <a:pt x="245" y="740"/>
                  <a:pt x="460" y="525"/>
                </a:cubicBezTo>
                <a:cubicBezTo>
                  <a:pt x="675" y="310"/>
                  <a:pt x="961" y="191"/>
                  <a:pt x="1265" y="191"/>
                </a:cubicBezTo>
                <a:cubicBezTo>
                  <a:pt x="1454" y="191"/>
                  <a:pt x="1637" y="237"/>
                  <a:pt x="1800" y="325"/>
                </a:cubicBezTo>
                <a:cubicBezTo>
                  <a:pt x="1611" y="515"/>
                  <a:pt x="1611" y="515"/>
                  <a:pt x="1611" y="515"/>
                </a:cubicBezTo>
                <a:cubicBezTo>
                  <a:pt x="1502" y="468"/>
                  <a:pt x="1386" y="444"/>
                  <a:pt x="1265" y="444"/>
                </a:cubicBezTo>
                <a:cubicBezTo>
                  <a:pt x="1028" y="444"/>
                  <a:pt x="806" y="536"/>
                  <a:pt x="639" y="703"/>
                </a:cubicBezTo>
                <a:cubicBezTo>
                  <a:pt x="472" y="870"/>
                  <a:pt x="380" y="1093"/>
                  <a:pt x="380" y="1329"/>
                </a:cubicBezTo>
                <a:cubicBezTo>
                  <a:pt x="380" y="1566"/>
                  <a:pt x="472" y="1788"/>
                  <a:pt x="639" y="1955"/>
                </a:cubicBezTo>
                <a:cubicBezTo>
                  <a:pt x="806" y="2122"/>
                  <a:pt x="1028" y="2214"/>
                  <a:pt x="1265" y="2214"/>
                </a:cubicBezTo>
                <a:cubicBezTo>
                  <a:pt x="1501" y="2214"/>
                  <a:pt x="1724" y="2122"/>
                  <a:pt x="1891" y="1955"/>
                </a:cubicBezTo>
                <a:cubicBezTo>
                  <a:pt x="2058" y="1788"/>
                  <a:pt x="2150" y="1566"/>
                  <a:pt x="2150" y="1329"/>
                </a:cubicBezTo>
                <a:cubicBezTo>
                  <a:pt x="2150" y="1208"/>
                  <a:pt x="2126" y="1091"/>
                  <a:pt x="2078" y="981"/>
                </a:cubicBezTo>
                <a:cubicBezTo>
                  <a:pt x="2269" y="796"/>
                  <a:pt x="2269" y="796"/>
                  <a:pt x="2269" y="796"/>
                </a:cubicBezTo>
                <a:cubicBezTo>
                  <a:pt x="2357" y="959"/>
                  <a:pt x="2403" y="1142"/>
                  <a:pt x="2403" y="1330"/>
                </a:cubicBezTo>
                <a:close/>
                <a:moveTo>
                  <a:pt x="2403" y="1330"/>
                </a:moveTo>
                <a:cubicBezTo>
                  <a:pt x="2403" y="1330"/>
                  <a:pt x="2403" y="1330"/>
                  <a:pt x="2403" y="1330"/>
                </a:cubicBezTo>
              </a:path>
            </a:pathLst>
          </a:custGeom>
          <a:solidFill>
            <a:schemeClr val="bg1"/>
          </a:solidFill>
          <a:ln>
            <a:noFill/>
          </a:ln>
        </p:spPr>
        <p:txBody>
          <a:bodyPr vert="horz" wrap="square" lIns="91440" tIns="45720" rIns="91440" bIns="45720" numCol="1" anchor="t" anchorCtr="0" compatLnSpc="1"/>
          <a:p>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custDataLst>
              <p:tags r:id="rId1"/>
            </p:custDataLst>
          </p:nvPr>
        </p:nvSpPr>
        <p:spPr>
          <a:xfrm>
            <a:off x="993140" y="1554480"/>
            <a:ext cx="2592070" cy="3710940"/>
          </a:xfrm>
          <a:prstGeom prst="roundRect">
            <a:avLst>
              <a:gd name="adj" fmla="val 2300"/>
            </a:avLst>
          </a:prstGeom>
          <a:gradFill>
            <a:gsLst>
              <a:gs pos="7000">
                <a:schemeClr val="accent1"/>
              </a:gs>
              <a:gs pos="100000">
                <a:schemeClr val="accent2"/>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3" name="矩形: 圆角 2"/>
          <p:cNvSpPr/>
          <p:nvPr>
            <p:custDataLst>
              <p:tags r:id="rId2"/>
            </p:custDataLst>
          </p:nvPr>
        </p:nvSpPr>
        <p:spPr>
          <a:xfrm>
            <a:off x="6109335" y="1554480"/>
            <a:ext cx="2592070" cy="3711575"/>
          </a:xfrm>
          <a:prstGeom prst="roundRect">
            <a:avLst>
              <a:gd name="adj" fmla="val 2300"/>
            </a:avLst>
          </a:prstGeom>
          <a:gradFill>
            <a:gsLst>
              <a:gs pos="7000">
                <a:schemeClr val="accent1">
                  <a:lumMod val="20000"/>
                  <a:lumOff val="80000"/>
                </a:schemeClr>
              </a:gs>
              <a:gs pos="100000">
                <a:srgbClr val="F4F9FF"/>
              </a:gs>
            </a:gsLst>
            <a:lin ang="5400000" scaled="0"/>
          </a:gradFill>
          <a:ln>
            <a:noFill/>
          </a:ln>
          <a:effectLst>
            <a:outerShdw blurRad="228600" dist="76200" dir="5400000" algn="t" rotWithShape="0">
              <a:srgbClr val="4E5BCE">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10" name="文本框 9"/>
          <p:cNvSpPr txBox="1"/>
          <p:nvPr>
            <p:custDataLst>
              <p:tags r:id="rId3"/>
            </p:custDataLst>
          </p:nvPr>
        </p:nvSpPr>
        <p:spPr>
          <a:xfrm>
            <a:off x="1101725" y="2089150"/>
            <a:ext cx="2420620" cy="706755"/>
          </a:xfrm>
          <a:prstGeom prst="rect">
            <a:avLst/>
          </a:prstGeom>
          <a:noFill/>
        </p:spPr>
        <p:txBody>
          <a:bodyPr wrap="square" rtlCol="0">
            <a:spAutoFit/>
          </a:bodyPr>
          <a:lstStyle/>
          <a:p>
            <a:pPr algn="just"/>
            <a:r>
              <a:rPr lang="zh-CN" altLang="en-US" sz="2000" dirty="0">
                <a:solidFill>
                  <a:schemeClr val="bg1"/>
                </a:solidFill>
                <a:latin typeface="Times New Roman" panose="02020603050405020304" charset="0"/>
                <a:ea typeface="+mj-ea"/>
                <a:cs typeface="Times New Roman" panose="02020603050405020304" charset="0"/>
              </a:rPr>
              <a:t>Traditional natural</a:t>
            </a:r>
            <a:r>
              <a:rPr lang="en-US" altLang="zh-CN" sz="2000" dirty="0">
                <a:solidFill>
                  <a:schemeClr val="bg1"/>
                </a:solidFill>
                <a:latin typeface="Times New Roman" panose="02020603050405020304" charset="0"/>
                <a:ea typeface="+mj-ea"/>
                <a:cs typeface="Times New Roman" panose="02020603050405020304" charset="0"/>
              </a:rPr>
              <a:t> </a:t>
            </a:r>
            <a:r>
              <a:rPr lang="zh-CN" altLang="en-US" sz="2000" dirty="0">
                <a:solidFill>
                  <a:schemeClr val="bg1"/>
                </a:solidFill>
                <a:latin typeface="Times New Roman" panose="02020603050405020304" charset="0"/>
                <a:ea typeface="+mj-ea"/>
                <a:cs typeface="Times New Roman" panose="02020603050405020304" charset="0"/>
              </a:rPr>
              <a:t>language</a:t>
            </a:r>
            <a:r>
              <a:rPr lang="en-US" altLang="zh-CN" sz="2000" dirty="0">
                <a:solidFill>
                  <a:schemeClr val="bg1"/>
                </a:solidFill>
                <a:latin typeface="Times New Roman" panose="02020603050405020304" charset="0"/>
                <a:ea typeface="+mj-ea"/>
                <a:cs typeface="Times New Roman" panose="02020603050405020304" charset="0"/>
              </a:rPr>
              <a:t> </a:t>
            </a:r>
            <a:r>
              <a:rPr lang="zh-CN" altLang="en-US" sz="2000" dirty="0">
                <a:solidFill>
                  <a:schemeClr val="bg1"/>
                </a:solidFill>
                <a:latin typeface="Times New Roman" panose="02020603050405020304" charset="0"/>
                <a:ea typeface="+mj-ea"/>
                <a:cs typeface="Times New Roman" panose="02020603050405020304" charset="0"/>
              </a:rPr>
              <a:t>processing</a:t>
            </a:r>
            <a:endParaRPr lang="zh-CN" altLang="en-US" sz="2000" dirty="0">
              <a:solidFill>
                <a:schemeClr val="bg1"/>
              </a:solidFill>
              <a:latin typeface="Times New Roman" panose="02020603050405020304" charset="0"/>
              <a:ea typeface="+mj-ea"/>
              <a:cs typeface="Times New Roman" panose="02020603050405020304" charset="0"/>
            </a:endParaRPr>
          </a:p>
        </p:txBody>
      </p:sp>
      <p:sp>
        <p:nvSpPr>
          <p:cNvPr id="11" name="文本框 10"/>
          <p:cNvSpPr txBox="1"/>
          <p:nvPr>
            <p:custDataLst>
              <p:tags r:id="rId4"/>
            </p:custDataLst>
          </p:nvPr>
        </p:nvSpPr>
        <p:spPr>
          <a:xfrm>
            <a:off x="6109970" y="2101850"/>
            <a:ext cx="2591435" cy="706755"/>
          </a:xfrm>
          <a:prstGeom prst="rect">
            <a:avLst/>
          </a:prstGeom>
          <a:noFill/>
        </p:spPr>
        <p:txBody>
          <a:bodyPr wrap="square" rtlCol="0">
            <a:spAutoFit/>
          </a:bodyPr>
          <a:lstStyle/>
          <a:p>
            <a:pPr algn="l"/>
            <a:r>
              <a:rPr lang="en-US" altLang="zh-CN" sz="2000" dirty="0">
                <a:solidFill>
                  <a:schemeClr val="accent1"/>
                </a:solidFill>
                <a:latin typeface="Times New Roman" panose="02020603050405020304" charset="0"/>
                <a:ea typeface="+mj-ea"/>
                <a:cs typeface="Times New Roman" panose="02020603050405020304" charset="0"/>
                <a:sym typeface="+mn-ea"/>
              </a:rPr>
              <a:t>L</a:t>
            </a:r>
            <a:r>
              <a:rPr lang="zh-CN" altLang="en-US" sz="2000" dirty="0">
                <a:solidFill>
                  <a:schemeClr val="accent1"/>
                </a:solidFill>
                <a:latin typeface="Times New Roman" panose="02020603050405020304" charset="0"/>
                <a:ea typeface="+mj-ea"/>
                <a:cs typeface="Times New Roman" panose="02020603050405020304" charset="0"/>
                <a:sym typeface="+mn-ea"/>
              </a:rPr>
              <a:t>arge language</a:t>
            </a:r>
            <a:r>
              <a:rPr lang="en-US" altLang="zh-CN" sz="2000" dirty="0">
                <a:solidFill>
                  <a:schemeClr val="accent1"/>
                </a:solidFill>
                <a:latin typeface="Times New Roman" panose="02020603050405020304" charset="0"/>
                <a:ea typeface="+mj-ea"/>
                <a:cs typeface="Times New Roman" panose="02020603050405020304" charset="0"/>
                <a:sym typeface="+mn-ea"/>
              </a:rPr>
              <a:t> </a:t>
            </a:r>
            <a:r>
              <a:rPr lang="zh-CN" altLang="en-US" sz="2000" dirty="0">
                <a:solidFill>
                  <a:schemeClr val="accent1"/>
                </a:solidFill>
                <a:latin typeface="Times New Roman" panose="02020603050405020304" charset="0"/>
                <a:ea typeface="+mj-ea"/>
                <a:cs typeface="Times New Roman" panose="02020603050405020304" charset="0"/>
                <a:sym typeface="+mn-ea"/>
              </a:rPr>
              <a:t>models</a:t>
            </a:r>
            <a:endParaRPr lang="zh-CN" altLang="en-US" sz="2000" dirty="0">
              <a:solidFill>
                <a:schemeClr val="accent1"/>
              </a:solidFill>
              <a:latin typeface="Times New Roman" panose="02020603050405020304" charset="0"/>
              <a:ea typeface="+mj-ea"/>
              <a:cs typeface="Times New Roman" panose="02020603050405020304" charset="0"/>
              <a:sym typeface="+mn-ea"/>
            </a:endParaRPr>
          </a:p>
          <a:p>
            <a:pPr algn="ctr"/>
            <a:r>
              <a:rPr lang="en-US" altLang="zh-CN" sz="2000" dirty="0">
                <a:solidFill>
                  <a:schemeClr val="accent1"/>
                </a:solidFill>
                <a:latin typeface="Times New Roman" panose="02020603050405020304" charset="0"/>
                <a:ea typeface="+mj-ea"/>
                <a:cs typeface="Times New Roman" panose="02020603050405020304" charset="0"/>
                <a:sym typeface="+mn-ea"/>
              </a:rPr>
              <a:t>D</a:t>
            </a:r>
            <a:r>
              <a:rPr lang="zh-CN" altLang="en-US" sz="2000" dirty="0">
                <a:solidFill>
                  <a:schemeClr val="accent1"/>
                </a:solidFill>
                <a:latin typeface="Times New Roman" panose="02020603050405020304" charset="0"/>
                <a:ea typeface="+mj-ea"/>
                <a:cs typeface="Times New Roman" panose="02020603050405020304" charset="0"/>
                <a:sym typeface="+mn-ea"/>
              </a:rPr>
              <a:t>eep learning</a:t>
            </a:r>
            <a:endParaRPr lang="zh-CN" altLang="en-US" sz="2000" dirty="0">
              <a:solidFill>
                <a:schemeClr val="accent1"/>
              </a:solidFill>
              <a:latin typeface="Times New Roman" panose="02020603050405020304" charset="0"/>
              <a:ea typeface="+mj-ea"/>
              <a:cs typeface="Times New Roman" panose="02020603050405020304" charset="0"/>
            </a:endParaRPr>
          </a:p>
        </p:txBody>
      </p:sp>
      <p:sp>
        <p:nvSpPr>
          <p:cNvPr id="14" name="文本框 13"/>
          <p:cNvSpPr txBox="1"/>
          <p:nvPr>
            <p:custDataLst>
              <p:tags r:id="rId5"/>
            </p:custDataLst>
          </p:nvPr>
        </p:nvSpPr>
        <p:spPr>
          <a:xfrm>
            <a:off x="1198880" y="3120594"/>
            <a:ext cx="2246171" cy="1868805"/>
          </a:xfrm>
          <a:prstGeom prst="rect">
            <a:avLst/>
          </a:prstGeom>
        </p:spPr>
        <p:txBody>
          <a:bodyPr wrap="square">
            <a:spAutoFit/>
            <a:scene3d>
              <a:camera prst="orthographicFront"/>
              <a:lightRig rig="threePt" dir="t"/>
            </a:scene3d>
            <a:sp3d contourW="12700"/>
          </a:bodyPr>
          <a:lstStyle>
            <a:defPPr>
              <a:defRPr lang="zh-CN"/>
            </a:defPPr>
            <a:lvl1pPr>
              <a:lnSpc>
                <a:spcPct val="150000"/>
              </a:lnSpc>
              <a:spcBef>
                <a:spcPts val="1200"/>
              </a:spcBef>
              <a:defRPr sz="1100" spc="100">
                <a:solidFill>
                  <a:schemeClr val="tx2"/>
                </a:solidFill>
                <a:latin typeface="微软雅黑" panose="020B0503020204020204" charset="-122"/>
              </a:defRPr>
            </a:lvl1pPr>
          </a:lstStyle>
          <a:p>
            <a:pPr algn="just"/>
            <a:r>
              <a:rPr lang="zh-CN" altLang="en-US" dirty="0">
                <a:solidFill>
                  <a:schemeClr val="bg1"/>
                </a:solidFill>
                <a:latin typeface="Times New Roman" panose="02020603050405020304" charset="0"/>
                <a:cs typeface="Times New Roman" panose="02020603050405020304" charset="0"/>
              </a:rPr>
              <a:t>Traditional natural language processing methods often rely on specific algorithms and rules, which often struggle to capture the deep meaning and contextual relationships of text.</a:t>
            </a:r>
            <a:endParaRPr lang="zh-CN" altLang="en-US" dirty="0">
              <a:solidFill>
                <a:schemeClr val="bg1"/>
              </a:solidFill>
              <a:latin typeface="Times New Roman" panose="02020603050405020304" charset="0"/>
              <a:cs typeface="Times New Roman" panose="02020603050405020304" charset="0"/>
            </a:endParaRPr>
          </a:p>
        </p:txBody>
      </p:sp>
      <p:sp>
        <p:nvSpPr>
          <p:cNvPr id="15" name="文本框 14"/>
          <p:cNvSpPr txBox="1"/>
          <p:nvPr>
            <p:custDataLst>
              <p:tags r:id="rId6"/>
            </p:custDataLst>
          </p:nvPr>
        </p:nvSpPr>
        <p:spPr>
          <a:xfrm>
            <a:off x="6298884" y="3120594"/>
            <a:ext cx="2246171" cy="1614805"/>
          </a:xfrm>
          <a:prstGeom prst="rect">
            <a:avLst/>
          </a:prstGeom>
        </p:spPr>
        <p:txBody>
          <a:bodyPr wrap="square">
            <a:spAutoFit/>
            <a:scene3d>
              <a:camera prst="orthographicFront"/>
              <a:lightRig rig="threePt" dir="t"/>
            </a:scene3d>
            <a:sp3d contourW="12700"/>
          </a:bodyPr>
          <a:lstStyle>
            <a:defPPr>
              <a:defRPr lang="zh-CN"/>
            </a:defPPr>
            <a:lvl1pPr>
              <a:lnSpc>
                <a:spcPct val="150000"/>
              </a:lnSpc>
              <a:spcBef>
                <a:spcPts val="1200"/>
              </a:spcBef>
              <a:defRPr sz="1100" spc="100">
                <a:solidFill>
                  <a:schemeClr val="tx2"/>
                </a:solidFill>
                <a:latin typeface="微软雅黑" panose="020B0503020204020204" charset="-122"/>
              </a:defRPr>
            </a:lvl1pPr>
          </a:lstStyle>
          <a:p>
            <a:pPr algn="just"/>
            <a:r>
              <a:rPr lang="zh-CN" altLang="en-US" dirty="0">
                <a:latin typeface="Times New Roman" panose="02020603050405020304" charset="0"/>
                <a:cs typeface="Times New Roman" panose="02020603050405020304" charset="0"/>
              </a:rPr>
              <a:t>The large language model is trained by deep learning and using massive text data, demonstrating stronger language understanding and generation capabilities.</a:t>
            </a:r>
            <a:endParaRPr lang="zh-CN" altLang="en-US" dirty="0">
              <a:latin typeface="Times New Roman" panose="02020603050405020304" charset="0"/>
              <a:cs typeface="Times New Roman" panose="02020603050405020304" charset="0"/>
            </a:endParaRPr>
          </a:p>
        </p:txBody>
      </p:sp>
      <p:cxnSp>
        <p:nvCxnSpPr>
          <p:cNvPr id="18" name="直接连接符 17"/>
          <p:cNvCxnSpPr/>
          <p:nvPr>
            <p:custDataLst>
              <p:tags r:id="rId7"/>
            </p:custDataLst>
          </p:nvPr>
        </p:nvCxnSpPr>
        <p:spPr>
          <a:xfrm>
            <a:off x="2005560" y="2934806"/>
            <a:ext cx="567160" cy="0"/>
          </a:xfrm>
          <a:prstGeom prst="line">
            <a:avLst/>
          </a:prstGeom>
          <a:ln w="254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8"/>
            </p:custDataLst>
          </p:nvPr>
        </p:nvCxnSpPr>
        <p:spPr>
          <a:xfrm>
            <a:off x="7089451" y="2943061"/>
            <a:ext cx="567160" cy="0"/>
          </a:xfrm>
          <a:prstGeom prst="line">
            <a:avLst/>
          </a:prstGeom>
          <a:ln w="254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 name="椭圆 5"/>
          <p:cNvSpPr/>
          <p:nvPr>
            <p:custDataLst>
              <p:tags r:id="rId9"/>
            </p:custDataLst>
          </p:nvPr>
        </p:nvSpPr>
        <p:spPr>
          <a:xfrm>
            <a:off x="2087245" y="1362075"/>
            <a:ext cx="404495" cy="404495"/>
          </a:xfrm>
          <a:prstGeom prst="ellipse">
            <a:avLst/>
          </a:prstGeom>
          <a:gradFill>
            <a:gsLst>
              <a:gs pos="7000">
                <a:schemeClr val="accent1"/>
              </a:gs>
              <a:gs pos="100000">
                <a:schemeClr val="accent2"/>
              </a:gs>
            </a:gsLst>
            <a:lin ang="18600000" scaled="0"/>
          </a:gradFill>
          <a:ln w="38100">
            <a:solidFill>
              <a:srgbClr val="F4F9FF"/>
            </a:solid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cxnSp>
        <p:nvCxnSpPr>
          <p:cNvPr id="27" name="直接连接符 26"/>
          <p:cNvCxnSpPr/>
          <p:nvPr/>
        </p:nvCxnSpPr>
        <p:spPr>
          <a:xfrm>
            <a:off x="5857389" y="1111349"/>
            <a:ext cx="44974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9" name="组合 28"/>
          <p:cNvGrpSpPr/>
          <p:nvPr>
            <p:custDataLst>
              <p:tags r:id="rId10"/>
            </p:custDataLst>
          </p:nvPr>
        </p:nvGrpSpPr>
        <p:grpSpPr>
          <a:xfrm>
            <a:off x="7203022" y="1361857"/>
            <a:ext cx="404258" cy="404258"/>
            <a:chOff x="1763360" y="1689099"/>
            <a:chExt cx="502920" cy="502920"/>
          </a:xfrm>
        </p:grpSpPr>
        <p:sp>
          <p:nvSpPr>
            <p:cNvPr id="30" name="椭圆 29"/>
            <p:cNvSpPr/>
            <p:nvPr>
              <p:custDataLst>
                <p:tags r:id="rId11"/>
              </p:custDataLst>
            </p:nvPr>
          </p:nvSpPr>
          <p:spPr>
            <a:xfrm>
              <a:off x="1763360" y="1689099"/>
              <a:ext cx="502920" cy="502920"/>
            </a:xfrm>
            <a:prstGeom prst="ellipse">
              <a:avLst/>
            </a:prstGeom>
            <a:gradFill>
              <a:gsLst>
                <a:gs pos="7000">
                  <a:schemeClr val="accent1"/>
                </a:gs>
                <a:gs pos="100000">
                  <a:schemeClr val="accent2"/>
                </a:gs>
              </a:gsLst>
              <a:lin ang="18600000" scaled="0"/>
            </a:gradFill>
            <a:ln w="38100">
              <a:solidFill>
                <a:srgbClr val="F4F9FF"/>
              </a:solid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31" name="矩形: 圆角"/>
            <p:cNvSpPr/>
            <p:nvPr>
              <p:custDataLst>
                <p:tags r:id="rId12"/>
              </p:custDataLst>
            </p:nvPr>
          </p:nvSpPr>
          <p:spPr>
            <a:xfrm>
              <a:off x="1873307" y="1821771"/>
              <a:ext cx="304843" cy="219309"/>
            </a:xfrm>
            <a:custGeom>
              <a:avLst/>
              <a:gdLst>
                <a:gd name="T0" fmla="*/ 3421 w 8754"/>
                <a:gd name="T1" fmla="*/ 6088 h 6297"/>
                <a:gd name="T2" fmla="*/ 8754 w 8754"/>
                <a:gd name="T3" fmla="*/ 754 h 6297"/>
                <a:gd name="T4" fmla="*/ 8000 w 8754"/>
                <a:gd name="T5" fmla="*/ 0 h 6297"/>
                <a:gd name="T6" fmla="*/ 3044 w 8754"/>
                <a:gd name="T7" fmla="*/ 4957 h 6297"/>
                <a:gd name="T8" fmla="*/ 754 w 8754"/>
                <a:gd name="T9" fmla="*/ 2667 h 6297"/>
                <a:gd name="T10" fmla="*/ 0 w 8754"/>
                <a:gd name="T11" fmla="*/ 3421 h 6297"/>
                <a:gd name="T12" fmla="*/ 2667 w 8754"/>
                <a:gd name="T13" fmla="*/ 6088 h 6297"/>
                <a:gd name="T14" fmla="*/ 3421 w 8754"/>
                <a:gd name="T15" fmla="*/ 6088 h 629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54" h="6297">
                  <a:moveTo>
                    <a:pt x="3421" y="6088"/>
                  </a:moveTo>
                  <a:lnTo>
                    <a:pt x="8754" y="754"/>
                  </a:lnTo>
                  <a:lnTo>
                    <a:pt x="8000" y="0"/>
                  </a:lnTo>
                  <a:lnTo>
                    <a:pt x="3044" y="4957"/>
                  </a:lnTo>
                  <a:lnTo>
                    <a:pt x="754" y="2667"/>
                  </a:lnTo>
                  <a:lnTo>
                    <a:pt x="0" y="3421"/>
                  </a:lnTo>
                  <a:lnTo>
                    <a:pt x="2667" y="6088"/>
                  </a:lnTo>
                  <a:cubicBezTo>
                    <a:pt x="2875" y="6297"/>
                    <a:pt x="3213" y="6297"/>
                    <a:pt x="3421" y="60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文本框 7"/>
          <p:cNvSpPr txBox="1"/>
          <p:nvPr>
            <p:custDataLst>
              <p:tags r:id="rId13"/>
            </p:custDataLst>
          </p:nvPr>
        </p:nvSpPr>
        <p:spPr>
          <a:xfrm>
            <a:off x="2083435" y="1375410"/>
            <a:ext cx="338455" cy="374015"/>
          </a:xfrm>
          <a:prstGeom prst="rect">
            <a:avLst/>
          </a:prstGeom>
          <a:noFill/>
        </p:spPr>
        <p:txBody>
          <a:bodyPr wrap="square" rtlCol="0">
            <a:noAutofit/>
            <a:scene3d>
              <a:camera prst="orthographicFront"/>
              <a:lightRig rig="threePt" dir="t"/>
            </a:scene3d>
          </a:bodyPr>
          <a:p>
            <a:r>
              <a:rPr lang="zh-CN" altLang="en-US">
                <a:solidFill>
                  <a:schemeClr val="bg1"/>
                </a:solidFill>
                <a:effectLst>
                  <a:outerShdw blurRad="38100" dist="19050" dir="2700000" algn="tl" rotWithShape="0">
                    <a:schemeClr val="dk1">
                      <a:alpha val="40000"/>
                    </a:schemeClr>
                  </a:outerShdw>
                </a:effectLst>
              </a:rPr>
              <a:t>×</a:t>
            </a:r>
            <a:endParaRPr lang="zh-CN" altLang="en-US">
              <a:solidFill>
                <a:schemeClr val="bg1"/>
              </a:solidFill>
              <a:effectLst>
                <a:outerShdw blurRad="38100" dist="19050" dir="2700000" algn="tl" rotWithShape="0">
                  <a:schemeClr val="dk1">
                    <a:alpha val="40000"/>
                  </a:schemeClr>
                </a:outerShdw>
              </a:effectLst>
            </a:endParaRPr>
          </a:p>
        </p:txBody>
      </p:sp>
      <p:sp>
        <p:nvSpPr>
          <p:cNvPr id="9" name="任意多边形: 形状 9"/>
          <p:cNvSpPr/>
          <p:nvPr>
            <p:custDataLst>
              <p:tags r:id="rId14"/>
            </p:custDataLst>
          </p:nvPr>
        </p:nvSpPr>
        <p:spPr>
          <a:xfrm>
            <a:off x="3728720" y="2778125"/>
            <a:ext cx="2058670" cy="554355"/>
          </a:xfrm>
          <a:custGeom>
            <a:avLst/>
            <a:gdLst>
              <a:gd name="connsiteX0" fmla="*/ 176166 w 377072"/>
              <a:gd name="connsiteY0" fmla="*/ 0 h 256451"/>
              <a:gd name="connsiteX1" fmla="*/ 187937 w 377072"/>
              <a:gd name="connsiteY1" fmla="*/ 3207 h 256451"/>
              <a:gd name="connsiteX2" fmla="*/ 365715 w 377072"/>
              <a:gd name="connsiteY2" fmla="*/ 108401 h 256451"/>
              <a:gd name="connsiteX3" fmla="*/ 373863 w 377072"/>
              <a:gd name="connsiteY3" fmla="*/ 140016 h 256451"/>
              <a:gd name="connsiteX4" fmla="*/ 365715 w 377072"/>
              <a:gd name="connsiteY4" fmla="*/ 148167 h 256451"/>
              <a:gd name="connsiteX5" fmla="*/ 187937 w 377072"/>
              <a:gd name="connsiteY5" fmla="*/ 253241 h 256451"/>
              <a:gd name="connsiteX6" fmla="*/ 156319 w 377072"/>
              <a:gd name="connsiteY6" fmla="*/ 245099 h 256451"/>
              <a:gd name="connsiteX7" fmla="*/ 153112 w 377072"/>
              <a:gd name="connsiteY7" fmla="*/ 233358 h 256451"/>
              <a:gd name="connsiteX8" fmla="*/ 153112 w 377072"/>
              <a:gd name="connsiteY8" fmla="*/ 190562 h 256451"/>
              <a:gd name="connsiteX9" fmla="*/ 10331 w 377072"/>
              <a:gd name="connsiteY9" fmla="*/ 190562 h 256451"/>
              <a:gd name="connsiteX10" fmla="*/ 0 w 377072"/>
              <a:gd name="connsiteY10" fmla="*/ 190562 h 256451"/>
              <a:gd name="connsiteX11" fmla="*/ 0 w 377072"/>
              <a:gd name="connsiteY11" fmla="*/ 66054 h 256451"/>
              <a:gd name="connsiteX12" fmla="*/ 10331 w 377072"/>
              <a:gd name="connsiteY12" fmla="*/ 66054 h 256451"/>
              <a:gd name="connsiteX13" fmla="*/ 153112 w 377072"/>
              <a:gd name="connsiteY13" fmla="*/ 66054 h 256451"/>
              <a:gd name="connsiteX14" fmla="*/ 153112 w 377072"/>
              <a:gd name="connsiteY14" fmla="*/ 23120 h 256451"/>
              <a:gd name="connsiteX15" fmla="*/ 176166 w 377072"/>
              <a:gd name="connsiteY15" fmla="*/ 0 h 256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7072" h="256451">
                <a:moveTo>
                  <a:pt x="176166" y="0"/>
                </a:moveTo>
                <a:cubicBezTo>
                  <a:pt x="180307" y="-6"/>
                  <a:pt x="184370" y="1102"/>
                  <a:pt x="187937" y="3207"/>
                </a:cubicBezTo>
                <a:lnTo>
                  <a:pt x="365715" y="108401"/>
                </a:lnTo>
                <a:cubicBezTo>
                  <a:pt x="376696" y="114881"/>
                  <a:pt x="380346" y="129036"/>
                  <a:pt x="373863" y="140016"/>
                </a:cubicBezTo>
                <a:cubicBezTo>
                  <a:pt x="371881" y="143379"/>
                  <a:pt x="369078" y="146182"/>
                  <a:pt x="365715" y="148167"/>
                </a:cubicBezTo>
                <a:lnTo>
                  <a:pt x="187937" y="253241"/>
                </a:lnTo>
                <a:cubicBezTo>
                  <a:pt x="176956" y="259724"/>
                  <a:pt x="162802" y="256080"/>
                  <a:pt x="156319" y="245099"/>
                </a:cubicBezTo>
                <a:cubicBezTo>
                  <a:pt x="154220" y="241542"/>
                  <a:pt x="153112" y="237488"/>
                  <a:pt x="153112" y="233358"/>
                </a:cubicBezTo>
                <a:lnTo>
                  <a:pt x="153112" y="190562"/>
                </a:lnTo>
                <a:lnTo>
                  <a:pt x="10331" y="190562"/>
                </a:lnTo>
                <a:cubicBezTo>
                  <a:pt x="4625" y="190562"/>
                  <a:pt x="0" y="190562"/>
                  <a:pt x="0" y="190562"/>
                </a:cubicBezTo>
                <a:lnTo>
                  <a:pt x="0" y="66054"/>
                </a:lnTo>
                <a:cubicBezTo>
                  <a:pt x="0" y="66054"/>
                  <a:pt x="4625" y="66054"/>
                  <a:pt x="10331" y="66054"/>
                </a:cubicBezTo>
                <a:lnTo>
                  <a:pt x="153112" y="66054"/>
                </a:lnTo>
                <a:lnTo>
                  <a:pt x="153112" y="23120"/>
                </a:lnTo>
                <a:cubicBezTo>
                  <a:pt x="153094" y="10370"/>
                  <a:pt x="163416" y="18"/>
                  <a:pt x="176166" y="0"/>
                </a:cubicBezTo>
                <a:close/>
              </a:path>
            </a:pathLst>
          </a:custGeom>
          <a:gradFill>
            <a:gsLst>
              <a:gs pos="60000">
                <a:srgbClr val="ADCBF4"/>
              </a:gs>
              <a:gs pos="0">
                <a:schemeClr val="bg1">
                  <a:alpha val="0"/>
                </a:schemeClr>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23" name="文本框 22"/>
          <p:cNvSpPr txBox="1"/>
          <p:nvPr/>
        </p:nvSpPr>
        <p:spPr>
          <a:xfrm>
            <a:off x="944880" y="5568950"/>
            <a:ext cx="10836910" cy="852805"/>
          </a:xfrm>
          <a:prstGeom prst="rect">
            <a:avLst/>
          </a:prstGeom>
        </p:spPr>
        <p:txBody>
          <a:bodyPr wrap="square">
            <a:spAutoFit/>
            <a:scene3d>
              <a:camera prst="orthographicFront"/>
              <a:lightRig rig="threePt" dir="t"/>
            </a:scene3d>
            <a:sp3d contourW="12700"/>
          </a:bodyPr>
          <a:lstStyle>
            <a:defPPr>
              <a:defRPr lang="zh-CN"/>
            </a:defPPr>
            <a:lvl1pPr>
              <a:lnSpc>
                <a:spcPct val="150000"/>
              </a:lnSpc>
              <a:spcBef>
                <a:spcPts val="1200"/>
              </a:spcBef>
              <a:defRPr sz="1100" spc="100">
                <a:solidFill>
                  <a:prstClr val="black">
                    <a:lumMod val="75000"/>
                    <a:lumOff val="25000"/>
                  </a:prstClr>
                </a:solidFill>
                <a:latin typeface="微软雅黑" panose="020B0503020204020204" charset="-122"/>
              </a:defRPr>
            </a:lvl1pPr>
          </a:lstStyle>
          <a:p>
            <a:r>
              <a:rPr lang="zh-CN" altLang="en-US" dirty="0">
                <a:solidFill>
                  <a:schemeClr val="tx2"/>
                </a:solidFill>
                <a:latin typeface="Times New Roman" panose="02020603050405020304" charset="0"/>
                <a:cs typeface="Times New Roman" panose="02020603050405020304" charset="0"/>
              </a:rPr>
              <a:t>With the rise of large language models, the research paradigm is also quietly changing. Traditional research tasks are gradually being re-examined, and researchers have begun to focus on improving the overall performance of models. This change not only affects the direction of research, but also drives the innovation of new algorithms and frameworks.</a:t>
            </a:r>
            <a:endParaRPr lang="zh-CN" altLang="en-US" dirty="0">
              <a:solidFill>
                <a:schemeClr val="tx2"/>
              </a:solidFill>
              <a:latin typeface="Times New Roman" panose="02020603050405020304" charset="0"/>
              <a:cs typeface="Times New Roman" panose="02020603050405020304" charset="0"/>
            </a:endParaRPr>
          </a:p>
        </p:txBody>
      </p:sp>
      <p:sp>
        <p:nvSpPr>
          <p:cNvPr id="4" name="矩形: 圆角 2"/>
          <p:cNvSpPr/>
          <p:nvPr>
            <p:custDataLst>
              <p:tags r:id="rId15"/>
            </p:custDataLst>
          </p:nvPr>
        </p:nvSpPr>
        <p:spPr>
          <a:xfrm>
            <a:off x="9189085" y="1576705"/>
            <a:ext cx="2592070" cy="3689985"/>
          </a:xfrm>
          <a:prstGeom prst="roundRect">
            <a:avLst>
              <a:gd name="adj" fmla="val 2300"/>
            </a:avLst>
          </a:prstGeom>
          <a:gradFill>
            <a:gsLst>
              <a:gs pos="7000">
                <a:schemeClr val="accent1">
                  <a:lumMod val="20000"/>
                  <a:lumOff val="80000"/>
                </a:schemeClr>
              </a:gs>
              <a:gs pos="100000">
                <a:srgbClr val="F4F9FF"/>
              </a:gs>
            </a:gsLst>
            <a:lin ang="5400000" scaled="0"/>
          </a:gradFill>
          <a:ln>
            <a:noFill/>
          </a:ln>
          <a:effectLst>
            <a:outerShdw blurRad="228600" dist="76200" dir="5400000" algn="t" rotWithShape="0">
              <a:srgbClr val="4E5BCE">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7" name="文本框 6"/>
          <p:cNvSpPr txBox="1"/>
          <p:nvPr>
            <p:custDataLst>
              <p:tags r:id="rId16"/>
            </p:custDataLst>
          </p:nvPr>
        </p:nvSpPr>
        <p:spPr>
          <a:xfrm>
            <a:off x="9378634" y="3142819"/>
            <a:ext cx="2246171" cy="2122805"/>
          </a:xfrm>
          <a:prstGeom prst="rect">
            <a:avLst/>
          </a:prstGeom>
        </p:spPr>
        <p:txBody>
          <a:bodyPr wrap="square">
            <a:spAutoFit/>
            <a:scene3d>
              <a:camera prst="orthographicFront"/>
              <a:lightRig rig="threePt" dir="t"/>
            </a:scene3d>
            <a:sp3d contourW="12700"/>
          </a:bodyPr>
          <a:lstStyle>
            <a:defPPr>
              <a:defRPr lang="zh-CN"/>
            </a:defPPr>
            <a:lvl1pPr>
              <a:lnSpc>
                <a:spcPct val="150000"/>
              </a:lnSpc>
              <a:spcBef>
                <a:spcPts val="1200"/>
              </a:spcBef>
              <a:defRPr sz="1100" spc="100">
                <a:solidFill>
                  <a:schemeClr val="tx2"/>
                </a:solidFill>
                <a:latin typeface="微软雅黑" panose="020B0503020204020204" charset="-122"/>
              </a:defRPr>
            </a:lvl1pPr>
          </a:lstStyle>
          <a:p>
            <a:pPr algn="just"/>
            <a:r>
              <a:rPr lang="zh-CN" altLang="en-US" dirty="0">
                <a:latin typeface="Times New Roman" panose="02020603050405020304" charset="0"/>
                <a:cs typeface="Times New Roman" panose="02020603050405020304" charset="0"/>
              </a:rPr>
              <a:t>Task flexibility is one of the great advantages of large language models. Users can easily complete different language tasks, such as writing articles, writing code,  and more, by simply adjusting the input prompts.</a:t>
            </a:r>
            <a:endParaRPr lang="zh-CN" altLang="en-US" dirty="0">
              <a:latin typeface="Times New Roman" panose="02020603050405020304" charset="0"/>
              <a:cs typeface="Times New Roman" panose="02020603050405020304" charset="0"/>
            </a:endParaRPr>
          </a:p>
        </p:txBody>
      </p:sp>
      <p:cxnSp>
        <p:nvCxnSpPr>
          <p:cNvPr id="12" name="直接连接符 11"/>
          <p:cNvCxnSpPr/>
          <p:nvPr>
            <p:custDataLst>
              <p:tags r:id="rId17"/>
            </p:custDataLst>
          </p:nvPr>
        </p:nvCxnSpPr>
        <p:spPr>
          <a:xfrm>
            <a:off x="10169201" y="2943696"/>
            <a:ext cx="567160" cy="0"/>
          </a:xfrm>
          <a:prstGeom prst="line">
            <a:avLst/>
          </a:prstGeom>
          <a:ln w="254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p:custDataLst>
              <p:tags r:id="rId18"/>
            </p:custDataLst>
          </p:nvPr>
        </p:nvGrpSpPr>
        <p:grpSpPr>
          <a:xfrm>
            <a:off x="10282772" y="1384082"/>
            <a:ext cx="404258" cy="404258"/>
            <a:chOff x="1763360" y="1689099"/>
            <a:chExt cx="502920" cy="502920"/>
          </a:xfrm>
        </p:grpSpPr>
        <p:sp>
          <p:nvSpPr>
            <p:cNvPr id="16" name="椭圆 15"/>
            <p:cNvSpPr/>
            <p:nvPr>
              <p:custDataLst>
                <p:tags r:id="rId19"/>
              </p:custDataLst>
            </p:nvPr>
          </p:nvSpPr>
          <p:spPr>
            <a:xfrm>
              <a:off x="1763360" y="1689099"/>
              <a:ext cx="502920" cy="502920"/>
            </a:xfrm>
            <a:prstGeom prst="ellipse">
              <a:avLst/>
            </a:prstGeom>
            <a:gradFill>
              <a:gsLst>
                <a:gs pos="7000">
                  <a:schemeClr val="accent1"/>
                </a:gs>
                <a:gs pos="100000">
                  <a:schemeClr val="accent2"/>
                </a:gs>
              </a:gsLst>
              <a:lin ang="18600000" scaled="0"/>
            </a:gradFill>
            <a:ln w="38100">
              <a:solidFill>
                <a:srgbClr val="F4F9FF"/>
              </a:solid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17" name="矩形: 圆角"/>
            <p:cNvSpPr/>
            <p:nvPr>
              <p:custDataLst>
                <p:tags r:id="rId20"/>
              </p:custDataLst>
            </p:nvPr>
          </p:nvSpPr>
          <p:spPr>
            <a:xfrm>
              <a:off x="1873307" y="1821771"/>
              <a:ext cx="304843" cy="219309"/>
            </a:xfrm>
            <a:custGeom>
              <a:avLst/>
              <a:gdLst>
                <a:gd name="T0" fmla="*/ 3421 w 8754"/>
                <a:gd name="T1" fmla="*/ 6088 h 6297"/>
                <a:gd name="T2" fmla="*/ 8754 w 8754"/>
                <a:gd name="T3" fmla="*/ 754 h 6297"/>
                <a:gd name="T4" fmla="*/ 8000 w 8754"/>
                <a:gd name="T5" fmla="*/ 0 h 6297"/>
                <a:gd name="T6" fmla="*/ 3044 w 8754"/>
                <a:gd name="T7" fmla="*/ 4957 h 6297"/>
                <a:gd name="T8" fmla="*/ 754 w 8754"/>
                <a:gd name="T9" fmla="*/ 2667 h 6297"/>
                <a:gd name="T10" fmla="*/ 0 w 8754"/>
                <a:gd name="T11" fmla="*/ 3421 h 6297"/>
                <a:gd name="T12" fmla="*/ 2667 w 8754"/>
                <a:gd name="T13" fmla="*/ 6088 h 6297"/>
                <a:gd name="T14" fmla="*/ 3421 w 8754"/>
                <a:gd name="T15" fmla="*/ 6088 h 629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54" h="6297">
                  <a:moveTo>
                    <a:pt x="3421" y="6088"/>
                  </a:moveTo>
                  <a:lnTo>
                    <a:pt x="8754" y="754"/>
                  </a:lnTo>
                  <a:lnTo>
                    <a:pt x="8000" y="0"/>
                  </a:lnTo>
                  <a:lnTo>
                    <a:pt x="3044" y="4957"/>
                  </a:lnTo>
                  <a:lnTo>
                    <a:pt x="754" y="2667"/>
                  </a:lnTo>
                  <a:lnTo>
                    <a:pt x="0" y="3421"/>
                  </a:lnTo>
                  <a:lnTo>
                    <a:pt x="2667" y="6088"/>
                  </a:lnTo>
                  <a:cubicBezTo>
                    <a:pt x="2875" y="6297"/>
                    <a:pt x="3213" y="6297"/>
                    <a:pt x="3421" y="60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文本框 19"/>
          <p:cNvSpPr txBox="1"/>
          <p:nvPr/>
        </p:nvSpPr>
        <p:spPr>
          <a:xfrm>
            <a:off x="3444875" y="476250"/>
            <a:ext cx="5273675" cy="521970"/>
          </a:xfrm>
          <a:prstGeom prst="rect">
            <a:avLst/>
          </a:prstGeom>
          <a:noFill/>
        </p:spPr>
        <p:txBody>
          <a:bodyPr wrap="square" rtlCol="0" anchor="ctr">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pPr algn="l"/>
            <a:r>
              <a:rPr lang="en-US" altLang="zh-CN" sz="2800" dirty="0">
                <a:effectLst/>
                <a:latin typeface="Montserrat" panose="00000500000000000000" pitchFamily="2" charset="0"/>
                <a:sym typeface="HarmonyOS Sans SC Light" panose="00000400000000000000" pitchFamily="2" charset="-122"/>
              </a:rPr>
              <a:t>Natural language processing</a:t>
            </a:r>
            <a:endParaRPr lang="en-US" altLang="zh-CN" sz="2800" dirty="0">
              <a:effectLst/>
              <a:latin typeface="Montserrat" panose="00000500000000000000" pitchFamily="2" charset="0"/>
            </a:endParaRPr>
          </a:p>
        </p:txBody>
      </p:sp>
      <p:sp>
        <p:nvSpPr>
          <p:cNvPr id="22" name="文本框 21"/>
          <p:cNvSpPr txBox="1"/>
          <p:nvPr>
            <p:custDataLst>
              <p:tags r:id="rId21"/>
            </p:custDataLst>
          </p:nvPr>
        </p:nvSpPr>
        <p:spPr>
          <a:xfrm>
            <a:off x="9189720" y="2101850"/>
            <a:ext cx="2591435" cy="706755"/>
          </a:xfrm>
          <a:prstGeom prst="rect">
            <a:avLst/>
          </a:prstGeom>
          <a:noFill/>
        </p:spPr>
        <p:txBody>
          <a:bodyPr wrap="square" rtlCol="0">
            <a:spAutoFit/>
          </a:bodyPr>
          <a:p>
            <a:pPr algn="l"/>
            <a:r>
              <a:rPr lang="en-US" altLang="zh-CN" sz="2000" dirty="0">
                <a:solidFill>
                  <a:schemeClr val="accent1"/>
                </a:solidFill>
                <a:latin typeface="Times New Roman" panose="02020603050405020304" charset="0"/>
                <a:ea typeface="+mj-ea"/>
                <a:cs typeface="Times New Roman" panose="02020603050405020304" charset="0"/>
                <a:sym typeface="+mn-ea"/>
              </a:rPr>
              <a:t>L</a:t>
            </a:r>
            <a:r>
              <a:rPr lang="zh-CN" altLang="en-US" sz="2000" dirty="0">
                <a:solidFill>
                  <a:schemeClr val="accent1"/>
                </a:solidFill>
                <a:latin typeface="Times New Roman" panose="02020603050405020304" charset="0"/>
                <a:ea typeface="+mj-ea"/>
                <a:cs typeface="Times New Roman" panose="02020603050405020304" charset="0"/>
                <a:sym typeface="+mn-ea"/>
              </a:rPr>
              <a:t>arge language</a:t>
            </a:r>
            <a:r>
              <a:rPr lang="en-US" altLang="zh-CN" sz="2000" dirty="0">
                <a:solidFill>
                  <a:schemeClr val="accent1"/>
                </a:solidFill>
                <a:latin typeface="Times New Roman" panose="02020603050405020304" charset="0"/>
                <a:ea typeface="+mj-ea"/>
                <a:cs typeface="Times New Roman" panose="02020603050405020304" charset="0"/>
                <a:sym typeface="+mn-ea"/>
              </a:rPr>
              <a:t> </a:t>
            </a:r>
            <a:r>
              <a:rPr lang="zh-CN" altLang="en-US" sz="2000" dirty="0">
                <a:solidFill>
                  <a:schemeClr val="accent1"/>
                </a:solidFill>
                <a:latin typeface="Times New Roman" panose="02020603050405020304" charset="0"/>
                <a:ea typeface="+mj-ea"/>
                <a:cs typeface="Times New Roman" panose="02020603050405020304" charset="0"/>
                <a:sym typeface="+mn-ea"/>
              </a:rPr>
              <a:t>models</a:t>
            </a:r>
            <a:endParaRPr lang="zh-CN" altLang="en-US" sz="2000" dirty="0">
              <a:solidFill>
                <a:schemeClr val="accent1"/>
              </a:solidFill>
              <a:latin typeface="Times New Roman" panose="02020603050405020304" charset="0"/>
              <a:ea typeface="+mj-ea"/>
              <a:cs typeface="Times New Roman" panose="02020603050405020304" charset="0"/>
              <a:sym typeface="+mn-ea"/>
            </a:endParaRPr>
          </a:p>
          <a:p>
            <a:pPr algn="ctr"/>
            <a:r>
              <a:rPr lang="zh-CN" altLang="en-US" sz="2000" dirty="0">
                <a:solidFill>
                  <a:schemeClr val="accent1"/>
                </a:solidFill>
                <a:latin typeface="Times New Roman" panose="02020603050405020304" charset="0"/>
                <a:ea typeface="+mj-ea"/>
                <a:cs typeface="Times New Roman" panose="02020603050405020304" charset="0"/>
                <a:sym typeface="+mn-ea"/>
              </a:rPr>
              <a:t>Task flexibilit</a:t>
            </a:r>
            <a:endParaRPr lang="zh-CN" altLang="en-US" sz="2000" dirty="0">
              <a:solidFill>
                <a:schemeClr val="accent1"/>
              </a:solidFill>
              <a:latin typeface="Times New Roman" panose="02020603050405020304" charset="0"/>
              <a:ea typeface="+mj-ea"/>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cxnSp>
        <p:nvCxnSpPr>
          <p:cNvPr id="28" name="直接连接符 27"/>
          <p:cNvCxnSpPr/>
          <p:nvPr/>
        </p:nvCxnSpPr>
        <p:spPr>
          <a:xfrm>
            <a:off x="5857389" y="1111349"/>
            <a:ext cx="44974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7" name="Freeform 15" descr="D:\51PPT模板网\51pptmoban.com\图片.jpg"/>
          <p:cNvSpPr>
            <a:spLocks noEditPoints="1"/>
          </p:cNvSpPr>
          <p:nvPr>
            <p:custDataLst>
              <p:tags r:id="rId2"/>
            </p:custDataLst>
          </p:nvPr>
        </p:nvSpPr>
        <p:spPr bwMode="auto">
          <a:xfrm>
            <a:off x="5528682" y="1840126"/>
            <a:ext cx="665855" cy="665856"/>
          </a:xfrm>
          <a:custGeom>
            <a:avLst/>
            <a:gdLst>
              <a:gd name="T0" fmla="*/ 2204 w 2599"/>
              <a:gd name="T1" fmla="*/ 392 h 2595"/>
              <a:gd name="T2" fmla="*/ 1893 w 2599"/>
              <a:gd name="T3" fmla="*/ 233 h 2595"/>
              <a:gd name="T4" fmla="*/ 772 w 2599"/>
              <a:gd name="T5" fmla="*/ 165 h 2595"/>
              <a:gd name="T6" fmla="*/ 100 w 2599"/>
              <a:gd name="T7" fmla="*/ 838 h 2595"/>
              <a:gd name="T8" fmla="*/ 100 w 2599"/>
              <a:gd name="T9" fmla="*/ 1822 h 2595"/>
              <a:gd name="T10" fmla="*/ 772 w 2599"/>
              <a:gd name="T11" fmla="*/ 2495 h 2595"/>
              <a:gd name="T12" fmla="*/ 1757 w 2599"/>
              <a:gd name="T13" fmla="*/ 2495 h 2595"/>
              <a:gd name="T14" fmla="*/ 2430 w 2599"/>
              <a:gd name="T15" fmla="*/ 1822 h 2595"/>
              <a:gd name="T16" fmla="*/ 2364 w 2599"/>
              <a:gd name="T17" fmla="*/ 705 h 2595"/>
              <a:gd name="T18" fmla="*/ 1976 w 2599"/>
              <a:gd name="T19" fmla="*/ 1081 h 2595"/>
              <a:gd name="T20" fmla="*/ 2024 w 2599"/>
              <a:gd name="T21" fmla="*/ 1330 h 2595"/>
              <a:gd name="T22" fmla="*/ 1265 w 2599"/>
              <a:gd name="T23" fmla="*/ 2089 h 2595"/>
              <a:gd name="T24" fmla="*/ 506 w 2599"/>
              <a:gd name="T25" fmla="*/ 1330 h 2595"/>
              <a:gd name="T26" fmla="*/ 1265 w 2599"/>
              <a:gd name="T27" fmla="*/ 571 h 2595"/>
              <a:gd name="T28" fmla="*/ 1512 w 2599"/>
              <a:gd name="T29" fmla="*/ 613 h 2595"/>
              <a:gd name="T30" fmla="*/ 1523 w 2599"/>
              <a:gd name="T31" fmla="*/ 970 h 2595"/>
              <a:gd name="T32" fmla="*/ 822 w 2599"/>
              <a:gd name="T33" fmla="*/ 1329 h 2595"/>
              <a:gd name="T34" fmla="*/ 1707 w 2599"/>
              <a:gd name="T35" fmla="*/ 1329 h 2595"/>
              <a:gd name="T36" fmla="*/ 1669 w 2599"/>
              <a:gd name="T37" fmla="*/ 1014 h 2595"/>
              <a:gd name="T38" fmla="*/ 1580 w 2599"/>
              <a:gd name="T39" fmla="*/ 1330 h 2595"/>
              <a:gd name="T40" fmla="*/ 949 w 2599"/>
              <a:gd name="T41" fmla="*/ 1330 h 2595"/>
              <a:gd name="T42" fmla="*/ 1439 w 2599"/>
              <a:gd name="T43" fmla="*/ 1066 h 2595"/>
              <a:gd name="T44" fmla="*/ 1264 w 2599"/>
              <a:gd name="T45" fmla="*/ 1203 h 2595"/>
              <a:gd name="T46" fmla="*/ 1264 w 2599"/>
              <a:gd name="T47" fmla="*/ 1457 h 2595"/>
              <a:gd name="T48" fmla="*/ 1387 w 2599"/>
              <a:gd name="T49" fmla="*/ 1297 h 2595"/>
              <a:gd name="T50" fmla="*/ 1580 w 2599"/>
              <a:gd name="T51" fmla="*/ 1330 h 2595"/>
              <a:gd name="T52" fmla="*/ 1802 w 2599"/>
              <a:gd name="T53" fmla="*/ 502 h 2595"/>
              <a:gd name="T54" fmla="*/ 1916 w 2599"/>
              <a:gd name="T55" fmla="*/ 588 h 2595"/>
              <a:gd name="T56" fmla="*/ 1750 w 2599"/>
              <a:gd name="T57" fmla="*/ 555 h 2595"/>
              <a:gd name="T58" fmla="*/ 1682 w 2599"/>
              <a:gd name="T59" fmla="*/ 816 h 2595"/>
              <a:gd name="T60" fmla="*/ 1750 w 2599"/>
              <a:gd name="T61" fmla="*/ 555 h 2595"/>
              <a:gd name="T62" fmla="*/ 1936 w 2599"/>
              <a:gd name="T63" fmla="*/ 943 h 2595"/>
              <a:gd name="T64" fmla="*/ 1881 w 2599"/>
              <a:gd name="T65" fmla="*/ 802 h 2595"/>
              <a:gd name="T66" fmla="*/ 2021 w 2599"/>
              <a:gd name="T67" fmla="*/ 861 h 2595"/>
              <a:gd name="T68" fmla="*/ 1935 w 2599"/>
              <a:gd name="T69" fmla="*/ 749 h 2595"/>
              <a:gd name="T70" fmla="*/ 2177 w 2599"/>
              <a:gd name="T71" fmla="*/ 710 h 2595"/>
              <a:gd name="T72" fmla="*/ 2232 w 2599"/>
              <a:gd name="T73" fmla="*/ 656 h 2595"/>
              <a:gd name="T74" fmla="*/ 2159 w 2599"/>
              <a:gd name="T75" fmla="*/ 528 h 2595"/>
              <a:gd name="T76" fmla="*/ 2341 w 2599"/>
              <a:gd name="T77" fmla="*/ 551 h 2595"/>
              <a:gd name="T78" fmla="*/ 2081 w 2599"/>
              <a:gd name="T79" fmla="*/ 424 h 2595"/>
              <a:gd name="T80" fmla="*/ 1928 w 2599"/>
              <a:gd name="T81" fmla="*/ 376 h 2595"/>
              <a:gd name="T82" fmla="*/ 2081 w 2599"/>
              <a:gd name="T83" fmla="*/ 424 h 2595"/>
              <a:gd name="T84" fmla="*/ 2069 w 2599"/>
              <a:gd name="T85" fmla="*/ 2134 h 2595"/>
              <a:gd name="T86" fmla="*/ 460 w 2599"/>
              <a:gd name="T87" fmla="*/ 2134 h 2595"/>
              <a:gd name="T88" fmla="*/ 460 w 2599"/>
              <a:gd name="T89" fmla="*/ 525 h 2595"/>
              <a:gd name="T90" fmla="*/ 1800 w 2599"/>
              <a:gd name="T91" fmla="*/ 325 h 2595"/>
              <a:gd name="T92" fmla="*/ 1265 w 2599"/>
              <a:gd name="T93" fmla="*/ 444 h 2595"/>
              <a:gd name="T94" fmla="*/ 380 w 2599"/>
              <a:gd name="T95" fmla="*/ 1329 h 2595"/>
              <a:gd name="T96" fmla="*/ 1265 w 2599"/>
              <a:gd name="T97" fmla="*/ 2214 h 2595"/>
              <a:gd name="T98" fmla="*/ 2150 w 2599"/>
              <a:gd name="T99" fmla="*/ 1329 h 2595"/>
              <a:gd name="T100" fmla="*/ 2269 w 2599"/>
              <a:gd name="T101" fmla="*/ 796 h 2595"/>
              <a:gd name="T102" fmla="*/ 2403 w 2599"/>
              <a:gd name="T103" fmla="*/ 1330 h 2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99" h="2595">
                <a:moveTo>
                  <a:pt x="2599" y="477"/>
                </a:moveTo>
                <a:cubicBezTo>
                  <a:pt x="2204" y="392"/>
                  <a:pt x="2204" y="392"/>
                  <a:pt x="2204" y="392"/>
                </a:cubicBezTo>
                <a:cubicBezTo>
                  <a:pt x="2126" y="0"/>
                  <a:pt x="2126" y="0"/>
                  <a:pt x="2126" y="0"/>
                </a:cubicBezTo>
                <a:cubicBezTo>
                  <a:pt x="1893" y="233"/>
                  <a:pt x="1893" y="233"/>
                  <a:pt x="1893" y="233"/>
                </a:cubicBezTo>
                <a:cubicBezTo>
                  <a:pt x="1703" y="123"/>
                  <a:pt x="1487" y="65"/>
                  <a:pt x="1265" y="65"/>
                </a:cubicBezTo>
                <a:cubicBezTo>
                  <a:pt x="1094" y="65"/>
                  <a:pt x="928" y="99"/>
                  <a:pt x="772" y="165"/>
                </a:cubicBezTo>
                <a:cubicBezTo>
                  <a:pt x="622" y="228"/>
                  <a:pt x="487" y="320"/>
                  <a:pt x="371" y="436"/>
                </a:cubicBezTo>
                <a:cubicBezTo>
                  <a:pt x="254" y="552"/>
                  <a:pt x="163" y="687"/>
                  <a:pt x="100" y="838"/>
                </a:cubicBezTo>
                <a:cubicBezTo>
                  <a:pt x="34" y="994"/>
                  <a:pt x="0" y="1159"/>
                  <a:pt x="0" y="1330"/>
                </a:cubicBezTo>
                <a:cubicBezTo>
                  <a:pt x="0" y="1500"/>
                  <a:pt x="34" y="1666"/>
                  <a:pt x="100" y="1822"/>
                </a:cubicBezTo>
                <a:cubicBezTo>
                  <a:pt x="163" y="1973"/>
                  <a:pt x="254" y="2108"/>
                  <a:pt x="371" y="2224"/>
                </a:cubicBezTo>
                <a:cubicBezTo>
                  <a:pt x="487" y="2340"/>
                  <a:pt x="622" y="2431"/>
                  <a:pt x="772" y="2495"/>
                </a:cubicBezTo>
                <a:cubicBezTo>
                  <a:pt x="928" y="2561"/>
                  <a:pt x="1094" y="2595"/>
                  <a:pt x="1265" y="2595"/>
                </a:cubicBezTo>
                <a:cubicBezTo>
                  <a:pt x="1435" y="2595"/>
                  <a:pt x="1601" y="2561"/>
                  <a:pt x="1757" y="2495"/>
                </a:cubicBezTo>
                <a:cubicBezTo>
                  <a:pt x="1908" y="2431"/>
                  <a:pt x="2043" y="2340"/>
                  <a:pt x="2159" y="2224"/>
                </a:cubicBezTo>
                <a:cubicBezTo>
                  <a:pt x="2275" y="2108"/>
                  <a:pt x="2366" y="1973"/>
                  <a:pt x="2430" y="1822"/>
                </a:cubicBezTo>
                <a:cubicBezTo>
                  <a:pt x="2496" y="1666"/>
                  <a:pt x="2529" y="1500"/>
                  <a:pt x="2529" y="1330"/>
                </a:cubicBezTo>
                <a:cubicBezTo>
                  <a:pt x="2529" y="1109"/>
                  <a:pt x="2472" y="894"/>
                  <a:pt x="2364" y="705"/>
                </a:cubicBezTo>
                <a:lnTo>
                  <a:pt x="2599" y="477"/>
                </a:lnTo>
                <a:close/>
                <a:moveTo>
                  <a:pt x="1976" y="1081"/>
                </a:moveTo>
                <a:cubicBezTo>
                  <a:pt x="1980" y="1076"/>
                  <a:pt x="1980" y="1076"/>
                  <a:pt x="1980" y="1076"/>
                </a:cubicBezTo>
                <a:cubicBezTo>
                  <a:pt x="2009" y="1157"/>
                  <a:pt x="2024" y="1242"/>
                  <a:pt x="2024" y="1330"/>
                </a:cubicBezTo>
                <a:cubicBezTo>
                  <a:pt x="2024" y="1532"/>
                  <a:pt x="1945" y="1723"/>
                  <a:pt x="1801" y="1866"/>
                </a:cubicBezTo>
                <a:cubicBezTo>
                  <a:pt x="1658" y="2010"/>
                  <a:pt x="1468" y="2089"/>
                  <a:pt x="1265" y="2089"/>
                </a:cubicBezTo>
                <a:cubicBezTo>
                  <a:pt x="1062" y="2089"/>
                  <a:pt x="871" y="2010"/>
                  <a:pt x="728" y="1866"/>
                </a:cubicBezTo>
                <a:cubicBezTo>
                  <a:pt x="585" y="1723"/>
                  <a:pt x="506" y="1532"/>
                  <a:pt x="506" y="1330"/>
                </a:cubicBezTo>
                <a:cubicBezTo>
                  <a:pt x="506" y="1127"/>
                  <a:pt x="585" y="936"/>
                  <a:pt x="728" y="793"/>
                </a:cubicBezTo>
                <a:cubicBezTo>
                  <a:pt x="871" y="650"/>
                  <a:pt x="1062" y="571"/>
                  <a:pt x="1265" y="571"/>
                </a:cubicBezTo>
                <a:cubicBezTo>
                  <a:pt x="1351" y="571"/>
                  <a:pt x="1434" y="585"/>
                  <a:pt x="1513" y="612"/>
                </a:cubicBezTo>
                <a:cubicBezTo>
                  <a:pt x="1512" y="613"/>
                  <a:pt x="1512" y="613"/>
                  <a:pt x="1512" y="613"/>
                </a:cubicBezTo>
                <a:cubicBezTo>
                  <a:pt x="1574" y="920"/>
                  <a:pt x="1574" y="920"/>
                  <a:pt x="1574" y="920"/>
                </a:cubicBezTo>
                <a:cubicBezTo>
                  <a:pt x="1523" y="970"/>
                  <a:pt x="1523" y="970"/>
                  <a:pt x="1523" y="970"/>
                </a:cubicBezTo>
                <a:cubicBezTo>
                  <a:pt x="1450" y="918"/>
                  <a:pt x="1361" y="887"/>
                  <a:pt x="1265" y="887"/>
                </a:cubicBezTo>
                <a:cubicBezTo>
                  <a:pt x="1021" y="887"/>
                  <a:pt x="822" y="1085"/>
                  <a:pt x="822" y="1329"/>
                </a:cubicBezTo>
                <a:cubicBezTo>
                  <a:pt x="822" y="1573"/>
                  <a:pt x="1020" y="1772"/>
                  <a:pt x="1265" y="1772"/>
                </a:cubicBezTo>
                <a:cubicBezTo>
                  <a:pt x="1509" y="1772"/>
                  <a:pt x="1707" y="1573"/>
                  <a:pt x="1707" y="1329"/>
                </a:cubicBezTo>
                <a:cubicBezTo>
                  <a:pt x="1707" y="1230"/>
                  <a:pt x="1675" y="1139"/>
                  <a:pt x="1619" y="1065"/>
                </a:cubicBezTo>
                <a:cubicBezTo>
                  <a:pt x="1669" y="1014"/>
                  <a:pt x="1669" y="1014"/>
                  <a:pt x="1669" y="1014"/>
                </a:cubicBezTo>
                <a:lnTo>
                  <a:pt x="1976" y="1081"/>
                </a:lnTo>
                <a:close/>
                <a:moveTo>
                  <a:pt x="1580" y="1330"/>
                </a:moveTo>
                <a:cubicBezTo>
                  <a:pt x="1580" y="1504"/>
                  <a:pt x="1439" y="1645"/>
                  <a:pt x="1265" y="1645"/>
                </a:cubicBezTo>
                <a:cubicBezTo>
                  <a:pt x="1091" y="1645"/>
                  <a:pt x="949" y="1504"/>
                  <a:pt x="949" y="1330"/>
                </a:cubicBezTo>
                <a:cubicBezTo>
                  <a:pt x="949" y="1156"/>
                  <a:pt x="1091" y="1014"/>
                  <a:pt x="1265" y="1014"/>
                </a:cubicBezTo>
                <a:cubicBezTo>
                  <a:pt x="1329" y="1014"/>
                  <a:pt x="1389" y="1033"/>
                  <a:pt x="1439" y="1066"/>
                </a:cubicBezTo>
                <a:cubicBezTo>
                  <a:pt x="1297" y="1208"/>
                  <a:pt x="1297" y="1208"/>
                  <a:pt x="1297" y="1208"/>
                </a:cubicBezTo>
                <a:cubicBezTo>
                  <a:pt x="1287" y="1205"/>
                  <a:pt x="1276" y="1203"/>
                  <a:pt x="1264" y="1203"/>
                </a:cubicBezTo>
                <a:cubicBezTo>
                  <a:pt x="1195" y="1203"/>
                  <a:pt x="1138" y="1260"/>
                  <a:pt x="1138" y="1330"/>
                </a:cubicBezTo>
                <a:cubicBezTo>
                  <a:pt x="1138" y="1400"/>
                  <a:pt x="1194" y="1457"/>
                  <a:pt x="1264" y="1457"/>
                </a:cubicBezTo>
                <a:cubicBezTo>
                  <a:pt x="1334" y="1457"/>
                  <a:pt x="1391" y="1399"/>
                  <a:pt x="1391" y="1330"/>
                </a:cubicBezTo>
                <a:cubicBezTo>
                  <a:pt x="1391" y="1318"/>
                  <a:pt x="1390" y="1307"/>
                  <a:pt x="1387" y="1297"/>
                </a:cubicBezTo>
                <a:cubicBezTo>
                  <a:pt x="1528" y="1155"/>
                  <a:pt x="1528" y="1155"/>
                  <a:pt x="1528" y="1155"/>
                </a:cubicBezTo>
                <a:cubicBezTo>
                  <a:pt x="1561" y="1205"/>
                  <a:pt x="1580" y="1265"/>
                  <a:pt x="1580" y="1330"/>
                </a:cubicBezTo>
                <a:close/>
                <a:moveTo>
                  <a:pt x="1841" y="661"/>
                </a:moveTo>
                <a:cubicBezTo>
                  <a:pt x="1802" y="502"/>
                  <a:pt x="1802" y="502"/>
                  <a:pt x="1802" y="502"/>
                </a:cubicBezTo>
                <a:cubicBezTo>
                  <a:pt x="1876" y="428"/>
                  <a:pt x="1876" y="428"/>
                  <a:pt x="1876" y="428"/>
                </a:cubicBezTo>
                <a:cubicBezTo>
                  <a:pt x="1916" y="588"/>
                  <a:pt x="1916" y="588"/>
                  <a:pt x="1916" y="588"/>
                </a:cubicBezTo>
                <a:lnTo>
                  <a:pt x="1841" y="661"/>
                </a:lnTo>
                <a:close/>
                <a:moveTo>
                  <a:pt x="1750" y="555"/>
                </a:moveTo>
                <a:cubicBezTo>
                  <a:pt x="1789" y="712"/>
                  <a:pt x="1789" y="712"/>
                  <a:pt x="1789" y="712"/>
                </a:cubicBezTo>
                <a:cubicBezTo>
                  <a:pt x="1682" y="816"/>
                  <a:pt x="1682" y="816"/>
                  <a:pt x="1682" y="816"/>
                </a:cubicBezTo>
                <a:cubicBezTo>
                  <a:pt x="1649" y="655"/>
                  <a:pt x="1649" y="655"/>
                  <a:pt x="1649" y="655"/>
                </a:cubicBezTo>
                <a:lnTo>
                  <a:pt x="1750" y="555"/>
                </a:lnTo>
                <a:close/>
                <a:moveTo>
                  <a:pt x="2021" y="861"/>
                </a:moveTo>
                <a:cubicBezTo>
                  <a:pt x="1936" y="943"/>
                  <a:pt x="1936" y="943"/>
                  <a:pt x="1936" y="943"/>
                </a:cubicBezTo>
                <a:cubicBezTo>
                  <a:pt x="1775" y="908"/>
                  <a:pt x="1775" y="908"/>
                  <a:pt x="1775" y="908"/>
                </a:cubicBezTo>
                <a:cubicBezTo>
                  <a:pt x="1881" y="802"/>
                  <a:pt x="1881" y="802"/>
                  <a:pt x="1881" y="802"/>
                </a:cubicBezTo>
                <a:cubicBezTo>
                  <a:pt x="2047" y="835"/>
                  <a:pt x="2047" y="835"/>
                  <a:pt x="2047" y="835"/>
                </a:cubicBezTo>
                <a:lnTo>
                  <a:pt x="2021" y="861"/>
                </a:lnTo>
                <a:close/>
                <a:moveTo>
                  <a:pt x="2102" y="782"/>
                </a:moveTo>
                <a:cubicBezTo>
                  <a:pt x="1935" y="749"/>
                  <a:pt x="1935" y="749"/>
                  <a:pt x="1935" y="749"/>
                </a:cubicBezTo>
                <a:cubicBezTo>
                  <a:pt x="2008" y="676"/>
                  <a:pt x="2008" y="676"/>
                  <a:pt x="2008" y="676"/>
                </a:cubicBezTo>
                <a:cubicBezTo>
                  <a:pt x="2177" y="710"/>
                  <a:pt x="2177" y="710"/>
                  <a:pt x="2177" y="710"/>
                </a:cubicBezTo>
                <a:lnTo>
                  <a:pt x="2102" y="782"/>
                </a:lnTo>
                <a:close/>
                <a:moveTo>
                  <a:pt x="2232" y="656"/>
                </a:moveTo>
                <a:cubicBezTo>
                  <a:pt x="2062" y="622"/>
                  <a:pt x="2062" y="622"/>
                  <a:pt x="2062" y="622"/>
                </a:cubicBezTo>
                <a:cubicBezTo>
                  <a:pt x="2159" y="528"/>
                  <a:pt x="2159" y="528"/>
                  <a:pt x="2159" y="528"/>
                </a:cubicBezTo>
                <a:cubicBezTo>
                  <a:pt x="2174" y="515"/>
                  <a:pt x="2174" y="515"/>
                  <a:pt x="2174" y="515"/>
                </a:cubicBezTo>
                <a:cubicBezTo>
                  <a:pt x="2341" y="551"/>
                  <a:pt x="2341" y="551"/>
                  <a:pt x="2341" y="551"/>
                </a:cubicBezTo>
                <a:lnTo>
                  <a:pt x="2232" y="656"/>
                </a:lnTo>
                <a:close/>
                <a:moveTo>
                  <a:pt x="2081" y="424"/>
                </a:moveTo>
                <a:cubicBezTo>
                  <a:pt x="1968" y="537"/>
                  <a:pt x="1968" y="537"/>
                  <a:pt x="1968" y="537"/>
                </a:cubicBezTo>
                <a:cubicBezTo>
                  <a:pt x="1928" y="376"/>
                  <a:pt x="1928" y="376"/>
                  <a:pt x="1928" y="376"/>
                </a:cubicBezTo>
                <a:cubicBezTo>
                  <a:pt x="2048" y="256"/>
                  <a:pt x="2048" y="256"/>
                  <a:pt x="2048" y="256"/>
                </a:cubicBezTo>
                <a:lnTo>
                  <a:pt x="2081" y="424"/>
                </a:lnTo>
                <a:close/>
                <a:moveTo>
                  <a:pt x="2403" y="1330"/>
                </a:moveTo>
                <a:cubicBezTo>
                  <a:pt x="2403" y="1634"/>
                  <a:pt x="2284" y="1919"/>
                  <a:pt x="2069" y="2134"/>
                </a:cubicBezTo>
                <a:cubicBezTo>
                  <a:pt x="1854" y="2349"/>
                  <a:pt x="1569" y="2468"/>
                  <a:pt x="1265" y="2468"/>
                </a:cubicBezTo>
                <a:cubicBezTo>
                  <a:pt x="961" y="2468"/>
                  <a:pt x="675" y="2349"/>
                  <a:pt x="460" y="2134"/>
                </a:cubicBezTo>
                <a:cubicBezTo>
                  <a:pt x="245" y="1919"/>
                  <a:pt x="127" y="1634"/>
                  <a:pt x="127" y="1330"/>
                </a:cubicBezTo>
                <a:cubicBezTo>
                  <a:pt x="127" y="1026"/>
                  <a:pt x="245" y="740"/>
                  <a:pt x="460" y="525"/>
                </a:cubicBezTo>
                <a:cubicBezTo>
                  <a:pt x="675" y="310"/>
                  <a:pt x="961" y="191"/>
                  <a:pt x="1265" y="191"/>
                </a:cubicBezTo>
                <a:cubicBezTo>
                  <a:pt x="1454" y="191"/>
                  <a:pt x="1637" y="237"/>
                  <a:pt x="1800" y="325"/>
                </a:cubicBezTo>
                <a:cubicBezTo>
                  <a:pt x="1611" y="515"/>
                  <a:pt x="1611" y="515"/>
                  <a:pt x="1611" y="515"/>
                </a:cubicBezTo>
                <a:cubicBezTo>
                  <a:pt x="1502" y="468"/>
                  <a:pt x="1386" y="444"/>
                  <a:pt x="1265" y="444"/>
                </a:cubicBezTo>
                <a:cubicBezTo>
                  <a:pt x="1028" y="444"/>
                  <a:pt x="806" y="536"/>
                  <a:pt x="639" y="703"/>
                </a:cubicBezTo>
                <a:cubicBezTo>
                  <a:pt x="472" y="870"/>
                  <a:pt x="380" y="1093"/>
                  <a:pt x="380" y="1329"/>
                </a:cubicBezTo>
                <a:cubicBezTo>
                  <a:pt x="380" y="1566"/>
                  <a:pt x="472" y="1788"/>
                  <a:pt x="639" y="1955"/>
                </a:cubicBezTo>
                <a:cubicBezTo>
                  <a:pt x="806" y="2122"/>
                  <a:pt x="1028" y="2214"/>
                  <a:pt x="1265" y="2214"/>
                </a:cubicBezTo>
                <a:cubicBezTo>
                  <a:pt x="1501" y="2214"/>
                  <a:pt x="1724" y="2122"/>
                  <a:pt x="1891" y="1955"/>
                </a:cubicBezTo>
                <a:cubicBezTo>
                  <a:pt x="2058" y="1788"/>
                  <a:pt x="2150" y="1566"/>
                  <a:pt x="2150" y="1329"/>
                </a:cubicBezTo>
                <a:cubicBezTo>
                  <a:pt x="2150" y="1208"/>
                  <a:pt x="2126" y="1091"/>
                  <a:pt x="2078" y="981"/>
                </a:cubicBezTo>
                <a:cubicBezTo>
                  <a:pt x="2269" y="796"/>
                  <a:pt x="2269" y="796"/>
                  <a:pt x="2269" y="796"/>
                </a:cubicBezTo>
                <a:cubicBezTo>
                  <a:pt x="2357" y="959"/>
                  <a:pt x="2403" y="1142"/>
                  <a:pt x="2403" y="1330"/>
                </a:cubicBezTo>
                <a:close/>
                <a:moveTo>
                  <a:pt x="2403" y="1330"/>
                </a:moveTo>
                <a:cubicBezTo>
                  <a:pt x="2403" y="1330"/>
                  <a:pt x="2403" y="1330"/>
                  <a:pt x="2403" y="1330"/>
                </a:cubicBezTo>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47" name="组合 46"/>
          <p:cNvGrpSpPr/>
          <p:nvPr>
            <p:custDataLst>
              <p:tags r:id="rId3"/>
            </p:custDataLst>
          </p:nvPr>
        </p:nvGrpSpPr>
        <p:grpSpPr>
          <a:xfrm>
            <a:off x="4746452" y="2835265"/>
            <a:ext cx="2235567" cy="1047355"/>
            <a:chOff x="206009" y="1906534"/>
            <a:chExt cx="2235567" cy="1047355"/>
          </a:xfrm>
        </p:grpSpPr>
        <p:sp>
          <p:nvSpPr>
            <p:cNvPr id="48" name="文本框 47"/>
            <p:cNvSpPr txBox="1"/>
            <p:nvPr>
              <p:custDataLst>
                <p:tags r:id="rId4"/>
              </p:custDataLst>
            </p:nvPr>
          </p:nvSpPr>
          <p:spPr>
            <a:xfrm>
              <a:off x="283599" y="2190603"/>
              <a:ext cx="2080388" cy="763286"/>
            </a:xfrm>
            <a:prstGeom prst="rect">
              <a:avLst/>
            </a:prstGeom>
            <a:noFill/>
          </p:spPr>
          <p:txBody>
            <a:bodyPr wrap="square">
              <a:spAutoFit/>
            </a:bodyPr>
            <a:lstStyle>
              <a:defPPr>
                <a:defRPr lang="zh-CN"/>
              </a:defPPr>
              <a:lvl1pPr>
                <a:lnSpc>
                  <a:spcPct val="150000"/>
                </a:lnSpc>
                <a:defRPr sz="105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ctr"/>
              <a:r>
                <a:rPr lang="zh-CN" altLang="en-US" sz="1000" dirty="0">
                  <a:solidFill>
                    <a:schemeClr val="bg1"/>
                  </a:solidFill>
                  <a:sym typeface="HarmonyOS Sans SC Light" panose="00000400000000000000" pitchFamily="2" charset="-122"/>
                </a:rPr>
                <a:t>根据自己的需要添加适当的文字，此处添加详细文本描述，建议与标题相关尽量简洁</a:t>
              </a:r>
              <a:r>
                <a:rPr lang="en-US" altLang="zh-CN" sz="1000" dirty="0">
                  <a:solidFill>
                    <a:schemeClr val="bg1"/>
                  </a:solidFill>
                  <a:sym typeface="HarmonyOS Sans SC Light" panose="00000400000000000000" pitchFamily="2" charset="-122"/>
                </a:rPr>
                <a:t>... ...</a:t>
              </a:r>
              <a:endParaRPr lang="en-US" altLang="zh-CN" sz="1000" dirty="0">
                <a:solidFill>
                  <a:schemeClr val="bg1"/>
                </a:solidFill>
                <a:sym typeface="HarmonyOS Sans SC Light" panose="00000400000000000000" pitchFamily="2" charset="-122"/>
              </a:endParaRPr>
            </a:p>
          </p:txBody>
        </p:sp>
        <p:sp>
          <p:nvSpPr>
            <p:cNvPr id="49" name="文本框 48"/>
            <p:cNvSpPr txBox="1"/>
            <p:nvPr>
              <p:custDataLst>
                <p:tags r:id="rId5"/>
              </p:custDataLst>
            </p:nvPr>
          </p:nvSpPr>
          <p:spPr>
            <a:xfrm>
              <a:off x="206009" y="1906534"/>
              <a:ext cx="2235567" cy="338554"/>
            </a:xfrm>
            <a:prstGeom prst="rect">
              <a:avLst/>
            </a:prstGeom>
            <a:noFill/>
          </p:spPr>
          <p:txBody>
            <a:bodyPr wrap="square" rtlCol="0">
              <a:spAutoFit/>
            </a:bodyPr>
            <a:lstStyle>
              <a:defPPr>
                <a:defRPr lang="zh-CN"/>
              </a:defPPr>
              <a:lvl1pPr>
                <a:defRPr sz="1600" b="1">
                  <a:solidFill>
                    <a:schemeClr val="tx1">
                      <a:lumMod val="95000"/>
                      <a:lumOff val="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ctr"/>
              <a:r>
                <a:rPr lang="zh-CN" altLang="en-US" dirty="0">
                  <a:solidFill>
                    <a:schemeClr val="bg1"/>
                  </a:solidFill>
                  <a:sym typeface="HarmonyOS Sans SC Light" panose="00000400000000000000" pitchFamily="2" charset="-122"/>
                </a:rPr>
                <a:t>添加标题文本</a:t>
              </a:r>
              <a:endParaRPr lang="zh-CN" altLang="en-US" dirty="0">
                <a:solidFill>
                  <a:schemeClr val="bg1"/>
                </a:solidFill>
                <a:sym typeface="HarmonyOS Sans SC Light" panose="00000400000000000000" pitchFamily="2" charset="-122"/>
              </a:endParaRPr>
            </a:p>
          </p:txBody>
        </p:sp>
      </p:grpSp>
      <p:grpSp>
        <p:nvGrpSpPr>
          <p:cNvPr id="50" name="组合 49"/>
          <p:cNvGrpSpPr/>
          <p:nvPr>
            <p:custDataLst>
              <p:tags r:id="rId6"/>
            </p:custDataLst>
          </p:nvPr>
        </p:nvGrpSpPr>
        <p:grpSpPr>
          <a:xfrm>
            <a:off x="4746452" y="4191558"/>
            <a:ext cx="2235567" cy="1047355"/>
            <a:chOff x="206009" y="1906534"/>
            <a:chExt cx="2235567" cy="1047355"/>
          </a:xfrm>
        </p:grpSpPr>
        <p:sp>
          <p:nvSpPr>
            <p:cNvPr id="51" name="文本框 50"/>
            <p:cNvSpPr txBox="1"/>
            <p:nvPr>
              <p:custDataLst>
                <p:tags r:id="rId7"/>
              </p:custDataLst>
            </p:nvPr>
          </p:nvSpPr>
          <p:spPr>
            <a:xfrm>
              <a:off x="283599" y="2190603"/>
              <a:ext cx="2080388" cy="763286"/>
            </a:xfrm>
            <a:prstGeom prst="rect">
              <a:avLst/>
            </a:prstGeom>
            <a:noFill/>
          </p:spPr>
          <p:txBody>
            <a:bodyPr wrap="square">
              <a:spAutoFit/>
            </a:bodyPr>
            <a:lstStyle>
              <a:defPPr>
                <a:defRPr lang="zh-CN"/>
              </a:defPPr>
              <a:lvl1pPr>
                <a:lnSpc>
                  <a:spcPct val="150000"/>
                </a:lnSpc>
                <a:defRPr sz="105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ctr"/>
              <a:r>
                <a:rPr lang="zh-CN" altLang="en-US" sz="1000" dirty="0">
                  <a:solidFill>
                    <a:schemeClr val="bg1"/>
                  </a:solidFill>
                  <a:sym typeface="HarmonyOS Sans SC Light" panose="00000400000000000000" pitchFamily="2" charset="-122"/>
                </a:rPr>
                <a:t>根据自己的需要添加适当的文字，此处添加详细文本描述，建议与标题相关尽量简洁</a:t>
              </a:r>
              <a:r>
                <a:rPr lang="en-US" altLang="zh-CN" sz="1000" dirty="0">
                  <a:solidFill>
                    <a:schemeClr val="bg1"/>
                  </a:solidFill>
                  <a:sym typeface="HarmonyOS Sans SC Light" panose="00000400000000000000" pitchFamily="2" charset="-122"/>
                </a:rPr>
                <a:t>... ...</a:t>
              </a:r>
              <a:endParaRPr lang="en-US" altLang="zh-CN" sz="1000" dirty="0">
                <a:solidFill>
                  <a:schemeClr val="bg1"/>
                </a:solidFill>
                <a:sym typeface="HarmonyOS Sans SC Light" panose="00000400000000000000" pitchFamily="2" charset="-122"/>
              </a:endParaRPr>
            </a:p>
          </p:txBody>
        </p:sp>
        <p:sp>
          <p:nvSpPr>
            <p:cNvPr id="52" name="文本框 51"/>
            <p:cNvSpPr txBox="1"/>
            <p:nvPr>
              <p:custDataLst>
                <p:tags r:id="rId8"/>
              </p:custDataLst>
            </p:nvPr>
          </p:nvSpPr>
          <p:spPr>
            <a:xfrm>
              <a:off x="206009" y="1906534"/>
              <a:ext cx="2235567" cy="338554"/>
            </a:xfrm>
            <a:prstGeom prst="rect">
              <a:avLst/>
            </a:prstGeom>
            <a:noFill/>
          </p:spPr>
          <p:txBody>
            <a:bodyPr wrap="square" rtlCol="0">
              <a:spAutoFit/>
            </a:bodyPr>
            <a:lstStyle>
              <a:defPPr>
                <a:defRPr lang="zh-CN"/>
              </a:defPPr>
              <a:lvl1pPr>
                <a:defRPr sz="1600" b="1">
                  <a:solidFill>
                    <a:schemeClr val="tx1">
                      <a:lumMod val="95000"/>
                      <a:lumOff val="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ctr"/>
              <a:r>
                <a:rPr lang="zh-CN" altLang="en-US" dirty="0">
                  <a:solidFill>
                    <a:schemeClr val="bg1"/>
                  </a:solidFill>
                  <a:sym typeface="HarmonyOS Sans SC Light" panose="00000400000000000000" pitchFamily="2" charset="-122"/>
                </a:rPr>
                <a:t>添加标题文本</a:t>
              </a:r>
              <a:endParaRPr lang="zh-CN" altLang="en-US" dirty="0">
                <a:solidFill>
                  <a:schemeClr val="bg1"/>
                </a:solidFill>
                <a:sym typeface="HarmonyOS Sans SC Light" panose="00000400000000000000" pitchFamily="2" charset="-122"/>
              </a:endParaRPr>
            </a:p>
          </p:txBody>
        </p:sp>
      </p:grpSp>
      <p:sp>
        <p:nvSpPr>
          <p:cNvPr id="66" name="矩形 65"/>
          <p:cNvSpPr/>
          <p:nvPr/>
        </p:nvSpPr>
        <p:spPr>
          <a:xfrm>
            <a:off x="323215" y="1524000"/>
            <a:ext cx="7171690" cy="2579370"/>
          </a:xfrm>
          <a:prstGeom prst="rect">
            <a:avLst/>
          </a:prstGeom>
          <a:gradFill>
            <a:gsLst>
              <a:gs pos="7000">
                <a:schemeClr val="accent1"/>
              </a:gs>
              <a:gs pos="100000">
                <a:schemeClr val="accent2"/>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endParaRPr lang="zh-CN" altLang="en-US"/>
          </a:p>
        </p:txBody>
      </p:sp>
      <p:pic>
        <p:nvPicPr>
          <p:cNvPr id="67" name="图片 66"/>
          <p:cNvPicPr>
            <a:picLocks noChangeAspect="1"/>
          </p:cNvPicPr>
          <p:nvPr>
            <p:custDataLst>
              <p:tags r:id="rId9"/>
            </p:custDataLst>
          </p:nvPr>
        </p:nvPicPr>
        <p:blipFill>
          <a:blip r:embed="rId1"/>
          <a:stretch>
            <a:fillRect/>
          </a:stretch>
        </p:blipFill>
        <p:spPr>
          <a:xfrm>
            <a:off x="547370" y="1878965"/>
            <a:ext cx="6723380" cy="3816350"/>
          </a:xfrm>
          <a:prstGeom prst="rect">
            <a:avLst/>
          </a:prstGeom>
        </p:spPr>
      </p:pic>
      <p:sp>
        <p:nvSpPr>
          <p:cNvPr id="2" name="文本框 1"/>
          <p:cNvSpPr txBox="1"/>
          <p:nvPr/>
        </p:nvSpPr>
        <p:spPr>
          <a:xfrm>
            <a:off x="3444875" y="476250"/>
            <a:ext cx="5273675" cy="521970"/>
          </a:xfrm>
          <a:prstGeom prst="rect">
            <a:avLst/>
          </a:prstGeom>
          <a:noFill/>
        </p:spPr>
        <p:txBody>
          <a:bodyPr wrap="square" rtlCol="0" anchor="ctr">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pPr algn="l"/>
            <a:r>
              <a:rPr lang="en-US" altLang="zh-CN" sz="2800" dirty="0">
                <a:effectLst/>
                <a:latin typeface="Montserrat" panose="00000500000000000000" pitchFamily="2" charset="0"/>
                <a:sym typeface="HarmonyOS Sans SC Light" panose="00000400000000000000" pitchFamily="2" charset="-122"/>
              </a:rPr>
              <a:t>Natural language processing</a:t>
            </a:r>
            <a:endParaRPr lang="en-US" altLang="zh-CN" sz="2800" dirty="0">
              <a:effectLst/>
              <a:latin typeface="Montserrat" panose="00000500000000000000" pitchFamily="2" charset="0"/>
            </a:endParaRPr>
          </a:p>
        </p:txBody>
      </p:sp>
      <p:sp>
        <p:nvSpPr>
          <p:cNvPr id="3" name="矩形 2"/>
          <p:cNvSpPr/>
          <p:nvPr/>
        </p:nvSpPr>
        <p:spPr>
          <a:xfrm>
            <a:off x="7813040" y="1267460"/>
            <a:ext cx="3856990" cy="3418840"/>
          </a:xfrm>
          <a:prstGeom prst="rect">
            <a:avLst/>
          </a:prstGeom>
          <a:noFill/>
          <a:ln w="19050">
            <a:solidFill>
              <a:srgbClr val="6480D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p>
            <a:pPr marL="285750" marR="0" indent="-285750" defTabSz="914400" rtl="0" eaLnBrk="1" fontAlgn="auto" latinLnBrk="0" hangingPunct="1">
              <a:lnSpc>
                <a:spcPct val="100000"/>
              </a:lnSpc>
              <a:spcBef>
                <a:spcPts val="0"/>
              </a:spcBef>
              <a:spcAft>
                <a:spcPts val="0"/>
              </a:spcAft>
              <a:buClrTx/>
              <a:buSzTx/>
              <a:buFont typeface="Arial" panose="020B0604020202020204" pitchFamily="34" charset="0"/>
              <a:buChar char="•"/>
            </a:pPr>
            <a:endParaRPr kumimoji="0" lang="zh-CN" altLang="en-US" sz="1000" b="0" i="0" u="none" strike="noStrike" kern="1200" cap="none" spc="0" normalizeH="0" baseline="0" noProof="0" dirty="0">
              <a:ln>
                <a:noFill/>
              </a:ln>
              <a:solidFill>
                <a:schemeClr val="tx1"/>
              </a:solidFill>
              <a:effectLst/>
              <a:uLnTx/>
              <a:uFillTx/>
              <a:latin typeface="Times New Roman" panose="02020603050405020304"/>
              <a:ea typeface="微软雅黑" panose="020B0503020204020204" charset="-122"/>
              <a:cs typeface="+mn-cs"/>
            </a:endParaRPr>
          </a:p>
        </p:txBody>
      </p:sp>
      <p:sp>
        <p:nvSpPr>
          <p:cNvPr id="5" name="文本框 4"/>
          <p:cNvSpPr txBox="1"/>
          <p:nvPr/>
        </p:nvSpPr>
        <p:spPr>
          <a:xfrm>
            <a:off x="7908290" y="1442085"/>
            <a:ext cx="3644265" cy="3138170"/>
          </a:xfrm>
          <a:prstGeom prst="rect">
            <a:avLst/>
          </a:prstGeom>
          <a:noFill/>
        </p:spPr>
        <p:txBody>
          <a:bodyPr wrap="square" rtlCol="0" anchor="t">
            <a:spAutoFit/>
          </a:bodyPr>
          <a:p>
            <a:pPr algn="just"/>
            <a:r>
              <a:rPr lang="zh-CN" altLang="en-US">
                <a:latin typeface="Times New Roman" panose="02020603050405020304" charset="0"/>
                <a:cs typeface="Times New Roman" panose="02020603050405020304" charset="0"/>
              </a:rPr>
              <a:t>The success of large language models marks the rise of language intelligence and has become an important path for the development of artificial intelligence. More and more companies and research institutes are using this technology to develop a variety of language-based applications, from chatbots to intelligent assistants, which show great potential.</a:t>
            </a:r>
            <a:endParaRPr lang="zh-CN" altLang="en-US">
              <a:latin typeface="Times New Roman" panose="02020603050405020304" charset="0"/>
              <a:cs typeface="Times New Roman" panose="02020603050405020304" charset="0"/>
            </a:endParaRPr>
          </a:p>
        </p:txBody>
      </p:sp>
      <p:sp>
        <p:nvSpPr>
          <p:cNvPr id="38" name="任意多边形: 形状 65"/>
          <p:cNvSpPr/>
          <p:nvPr/>
        </p:nvSpPr>
        <p:spPr>
          <a:xfrm>
            <a:off x="6414135" y="5238750"/>
            <a:ext cx="5927090" cy="995045"/>
          </a:xfrm>
          <a:custGeom>
            <a:avLst/>
            <a:gdLst>
              <a:gd name="connsiteX0" fmla="*/ 0 w 10363200"/>
              <a:gd name="connsiteY0" fmla="*/ 1463040 h 1463040"/>
              <a:gd name="connsiteX1" fmla="*/ 76200 w 10363200"/>
              <a:gd name="connsiteY1" fmla="*/ 1432560 h 1463040"/>
              <a:gd name="connsiteX2" fmla="*/ 3078480 w 10363200"/>
              <a:gd name="connsiteY2" fmla="*/ 472440 h 1463040"/>
              <a:gd name="connsiteX3" fmla="*/ 7498080 w 10363200"/>
              <a:gd name="connsiteY3" fmla="*/ 1127760 h 1463040"/>
              <a:gd name="connsiteX4" fmla="*/ 10363200 w 10363200"/>
              <a:gd name="connsiteY4" fmla="*/ 0 h 1463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63200" h="1463040">
                <a:moveTo>
                  <a:pt x="0" y="1463040"/>
                </a:moveTo>
                <a:lnTo>
                  <a:pt x="76200" y="1432560"/>
                </a:lnTo>
                <a:cubicBezTo>
                  <a:pt x="589280" y="1267460"/>
                  <a:pt x="1841500" y="523240"/>
                  <a:pt x="3078480" y="472440"/>
                </a:cubicBezTo>
                <a:cubicBezTo>
                  <a:pt x="4315460" y="421640"/>
                  <a:pt x="6283960" y="1206500"/>
                  <a:pt x="7498080" y="1127760"/>
                </a:cubicBezTo>
                <a:cubicBezTo>
                  <a:pt x="8712200" y="1049020"/>
                  <a:pt x="9537700" y="524510"/>
                  <a:pt x="10363200" y="0"/>
                </a:cubicBezTo>
              </a:path>
            </a:pathLst>
          </a:custGeom>
          <a:noFill/>
          <a:ln w="47625" cap="flat" cmpd="sng" algn="ctr">
            <a:gradFill flip="none" rotWithShape="1">
              <a:gsLst>
                <a:gs pos="0">
                  <a:schemeClr val="accent1">
                    <a:alpha val="0"/>
                  </a:schemeClr>
                </a:gs>
                <a:gs pos="58000">
                  <a:schemeClr val="accent1"/>
                </a:gs>
                <a:gs pos="100000">
                  <a:schemeClr val="accent1">
                    <a:alpha val="0"/>
                  </a:schemeClr>
                </a:gs>
              </a:gsLst>
              <a:lin ang="0" scaled="1"/>
              <a:tileRect/>
            </a:gradFill>
            <a:prstDash val="solid"/>
            <a:miter lim="800000"/>
          </a:ln>
          <a:effectLst>
            <a:outerShdw blurRad="50800" dist="88900" dir="5400000" algn="t"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39" name="组合 38"/>
          <p:cNvGrpSpPr/>
          <p:nvPr/>
        </p:nvGrpSpPr>
        <p:grpSpPr>
          <a:xfrm rot="10800000">
            <a:off x="8143652" y="5473619"/>
            <a:ext cx="160866" cy="523664"/>
            <a:chOff x="1826683" y="3533986"/>
            <a:chExt cx="160866" cy="523664"/>
          </a:xfrm>
        </p:grpSpPr>
        <p:cxnSp>
          <p:nvCxnSpPr>
            <p:cNvPr id="40" name="直接连接符 39"/>
            <p:cNvCxnSpPr/>
            <p:nvPr/>
          </p:nvCxnSpPr>
          <p:spPr>
            <a:xfrm>
              <a:off x="1907116" y="3533986"/>
              <a:ext cx="0" cy="436880"/>
            </a:xfrm>
            <a:prstGeom prst="line">
              <a:avLst/>
            </a:prstGeom>
            <a:ln w="28575">
              <a:solidFill>
                <a:schemeClr val="accent2"/>
              </a:solidFill>
              <a:prstDash val="sysDot"/>
            </a:ln>
          </p:spPr>
          <p:style>
            <a:lnRef idx="1">
              <a:schemeClr val="accent1"/>
            </a:lnRef>
            <a:fillRef idx="0">
              <a:schemeClr val="accent1"/>
            </a:fillRef>
            <a:effectRef idx="0">
              <a:schemeClr val="accent1"/>
            </a:effectRef>
            <a:fontRef idx="minor">
              <a:schemeClr val="tx1"/>
            </a:fontRef>
          </p:style>
        </p:cxnSp>
        <p:sp>
          <p:nvSpPr>
            <p:cNvPr id="41" name="椭圆 40"/>
            <p:cNvSpPr/>
            <p:nvPr/>
          </p:nvSpPr>
          <p:spPr>
            <a:xfrm>
              <a:off x="1826683" y="3896784"/>
              <a:ext cx="160866" cy="160866"/>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42" name="文本框 41"/>
          <p:cNvSpPr txBox="1"/>
          <p:nvPr/>
        </p:nvSpPr>
        <p:spPr>
          <a:xfrm>
            <a:off x="7753350" y="5930900"/>
            <a:ext cx="1003300" cy="368300"/>
          </a:xfrm>
          <a:prstGeom prst="rect">
            <a:avLst/>
          </a:prstGeom>
          <a:noFill/>
        </p:spPr>
        <p:txBody>
          <a:bodyPr wrap="square">
            <a:spAutoFit/>
          </a:bodyPr>
          <a:p>
            <a:pPr algn="l"/>
            <a:r>
              <a:rPr lang="zh-CN" altLang="en-US">
                <a:latin typeface="Times New Roman" panose="02020603050405020304" charset="0"/>
                <a:cs typeface="Times New Roman" panose="02020603050405020304" charset="0"/>
                <a:sym typeface="+mn-ea"/>
              </a:rPr>
              <a:t>chatbots</a:t>
            </a:r>
            <a:endParaRPr lang="en-US" altLang="zh-CN" b="0" i="0" dirty="0">
              <a:solidFill>
                <a:srgbClr val="060607"/>
              </a:solidFill>
              <a:effectLst/>
              <a:latin typeface="Times New Roman" panose="02020603050405020304" charset="0"/>
              <a:cs typeface="Times New Roman" panose="02020603050405020304" charset="0"/>
            </a:endParaRPr>
          </a:p>
        </p:txBody>
      </p:sp>
      <p:grpSp>
        <p:nvGrpSpPr>
          <p:cNvPr id="43" name="组合 42"/>
          <p:cNvGrpSpPr/>
          <p:nvPr/>
        </p:nvGrpSpPr>
        <p:grpSpPr>
          <a:xfrm>
            <a:off x="10431833" y="5548956"/>
            <a:ext cx="160866" cy="523664"/>
            <a:chOff x="1826683" y="3533986"/>
            <a:chExt cx="160866" cy="523664"/>
          </a:xfrm>
        </p:grpSpPr>
        <p:cxnSp>
          <p:nvCxnSpPr>
            <p:cNvPr id="44" name="直接连接符 43"/>
            <p:cNvCxnSpPr/>
            <p:nvPr/>
          </p:nvCxnSpPr>
          <p:spPr>
            <a:xfrm>
              <a:off x="1907116" y="3533986"/>
              <a:ext cx="0" cy="436880"/>
            </a:xfrm>
            <a:prstGeom prst="line">
              <a:avLst/>
            </a:prstGeom>
            <a:ln w="28575">
              <a:solidFill>
                <a:schemeClr val="accent2"/>
              </a:solidFill>
              <a:prstDash val="sysDot"/>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1826683" y="3896784"/>
              <a:ext cx="160866" cy="160866"/>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58" name="文本框 57"/>
          <p:cNvSpPr txBox="1"/>
          <p:nvPr/>
        </p:nvSpPr>
        <p:spPr>
          <a:xfrm>
            <a:off x="9497695" y="5220970"/>
            <a:ext cx="2172335" cy="368300"/>
          </a:xfrm>
          <a:prstGeom prst="rect">
            <a:avLst/>
          </a:prstGeom>
          <a:noFill/>
        </p:spPr>
        <p:txBody>
          <a:bodyPr wrap="square">
            <a:spAutoFit/>
          </a:bodyPr>
          <a:p>
            <a:pPr algn="l"/>
            <a:r>
              <a:rPr lang="zh-CN" altLang="en-US">
                <a:latin typeface="Times New Roman" panose="02020603050405020304" charset="0"/>
                <a:cs typeface="Times New Roman" panose="02020603050405020304" charset="0"/>
                <a:sym typeface="+mn-ea"/>
              </a:rPr>
              <a:t>intelligen</a:t>
            </a:r>
            <a:r>
              <a:rPr lang="en-US" altLang="zh-CN">
                <a:latin typeface="Times New Roman" panose="02020603050405020304" charset="0"/>
                <a:cs typeface="Times New Roman" panose="02020603050405020304" charset="0"/>
                <a:sym typeface="+mn-ea"/>
              </a:rPr>
              <a:t>t</a:t>
            </a:r>
            <a:r>
              <a:rPr lang="zh-CN" altLang="en-US">
                <a:latin typeface="Times New Roman" panose="02020603050405020304" charset="0"/>
                <a:cs typeface="Times New Roman" panose="02020603050405020304" charset="0"/>
                <a:sym typeface="+mn-ea"/>
              </a:rPr>
              <a:t> assistants</a:t>
            </a:r>
            <a:endParaRPr lang="en-US" altLang="zh-CN" b="0" i="0" dirty="0">
              <a:solidFill>
                <a:srgbClr val="060607"/>
              </a:solidFill>
              <a:effectLst/>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60465" y="1775326"/>
            <a:ext cx="3168018" cy="3558529"/>
          </a:xfrm>
          <a:prstGeom prst="rect">
            <a:avLst/>
          </a:prstGeom>
          <a:gradFill>
            <a:gsLst>
              <a:gs pos="7000">
                <a:schemeClr val="accent1"/>
              </a:gs>
              <a:gs pos="100000">
                <a:schemeClr val="accent2"/>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4" name="矩形 3"/>
          <p:cNvSpPr/>
          <p:nvPr/>
        </p:nvSpPr>
        <p:spPr>
          <a:xfrm>
            <a:off x="2284814" y="1775327"/>
            <a:ext cx="690770" cy="69574"/>
          </a:xfrm>
          <a:prstGeom prst="rect">
            <a:avLst/>
          </a:prstGeom>
          <a:solidFill>
            <a:schemeClr val="accent1">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1090295" y="2884805"/>
            <a:ext cx="2917825" cy="2376170"/>
          </a:xfrm>
          <a:prstGeom prst="rect">
            <a:avLst/>
          </a:prstGeom>
        </p:spPr>
        <p:txBody>
          <a:bodyPr wrap="square">
            <a:spAutoFit/>
            <a:scene3d>
              <a:camera prst="orthographicFront"/>
              <a:lightRig rig="threePt" dir="t"/>
            </a:scene3d>
            <a:sp3d contourW="12700"/>
          </a:bodyPr>
          <a:lstStyle>
            <a:defPPr>
              <a:defRPr lang="zh-CN"/>
            </a:defPPr>
            <a:lvl1pPr>
              <a:lnSpc>
                <a:spcPct val="150000"/>
              </a:lnSpc>
              <a:spcBef>
                <a:spcPts val="1200"/>
              </a:spcBef>
              <a:defRPr sz="1100" spc="100">
                <a:solidFill>
                  <a:schemeClr val="tx2"/>
                </a:solidFill>
                <a:latin typeface="微软雅黑" panose="020B050302020402020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just"/>
            <a:r>
              <a:rPr lang="zh-CN" altLang="en-US" dirty="0">
                <a:solidFill>
                  <a:schemeClr val="bg1"/>
                </a:solidFill>
                <a:latin typeface="Times New Roman" panose="02020603050405020304" charset="0"/>
                <a:cs typeface="Times New Roman" panose="02020603050405020304" charset="0"/>
              </a:rPr>
              <a:t>Traditional search engines are mainly based on the working principle of keyword matching, and its core idea is to index a large number of web documents through an indexing system, and then match them in the index according to the keywords entered by users, and finally return document links or information related to keywords.</a:t>
            </a:r>
            <a:endParaRPr lang="zh-CN" altLang="en-US" dirty="0">
              <a:solidFill>
                <a:schemeClr val="bg1"/>
              </a:solidFill>
              <a:latin typeface="Times New Roman" panose="02020603050405020304" charset="0"/>
              <a:cs typeface="Times New Roman" panose="02020603050405020304" charset="0"/>
            </a:endParaRPr>
          </a:p>
        </p:txBody>
      </p:sp>
      <p:sp>
        <p:nvSpPr>
          <p:cNvPr id="6" name="文本框 5"/>
          <p:cNvSpPr txBox="1"/>
          <p:nvPr/>
        </p:nvSpPr>
        <p:spPr>
          <a:xfrm>
            <a:off x="1185545" y="1996440"/>
            <a:ext cx="2718435" cy="642620"/>
          </a:xfrm>
          <a:prstGeom prst="rect">
            <a:avLst/>
          </a:prstGeom>
          <a:noFill/>
        </p:spPr>
        <p:txBody>
          <a:bodyPr wrap="none" rtlCol="0">
            <a:noAutofit/>
          </a:bodyPr>
          <a:lstStyle/>
          <a:p>
            <a:pPr algn="l"/>
            <a:r>
              <a:rPr lang="zh-CN" altLang="en-US" sz="2000" b="1" dirty="0">
                <a:solidFill>
                  <a:schemeClr val="bg1"/>
                </a:solidFill>
                <a:latin typeface="Times New Roman" panose="02020603050405020304" charset="0"/>
                <a:ea typeface="+mj-ea"/>
                <a:cs typeface="Times New Roman" panose="02020603050405020304" charset="0"/>
              </a:rPr>
              <a:t>Traditional information</a:t>
            </a:r>
            <a:endParaRPr lang="zh-CN" altLang="en-US" sz="2000" b="1" dirty="0">
              <a:solidFill>
                <a:schemeClr val="bg1"/>
              </a:solidFill>
              <a:latin typeface="Times New Roman" panose="02020603050405020304" charset="0"/>
              <a:ea typeface="+mj-ea"/>
              <a:cs typeface="Times New Roman" panose="02020603050405020304" charset="0"/>
            </a:endParaRPr>
          </a:p>
          <a:p>
            <a:pPr algn="l"/>
            <a:r>
              <a:rPr lang="zh-CN" altLang="en-US" sz="2000" b="1" dirty="0">
                <a:solidFill>
                  <a:schemeClr val="bg1"/>
                </a:solidFill>
                <a:latin typeface="Times New Roman" panose="02020603050405020304" charset="0"/>
                <a:ea typeface="+mj-ea"/>
                <a:cs typeface="Times New Roman" panose="02020603050405020304" charset="0"/>
              </a:rPr>
              <a:t>retrieval</a:t>
            </a:r>
            <a:endParaRPr lang="zh-CN" altLang="en-US" sz="2000" b="1" dirty="0">
              <a:solidFill>
                <a:schemeClr val="bg1"/>
              </a:solidFill>
              <a:latin typeface="Times New Roman" panose="02020603050405020304" charset="0"/>
              <a:ea typeface="+mj-ea"/>
              <a:cs typeface="Times New Roman" panose="02020603050405020304" charset="0"/>
            </a:endParaRPr>
          </a:p>
        </p:txBody>
      </p:sp>
      <p:cxnSp>
        <p:nvCxnSpPr>
          <p:cNvPr id="7" name="直接连接符 6"/>
          <p:cNvCxnSpPr/>
          <p:nvPr/>
        </p:nvCxnSpPr>
        <p:spPr>
          <a:xfrm>
            <a:off x="2525079" y="2791418"/>
            <a:ext cx="210240" cy="0"/>
          </a:xfrm>
          <a:prstGeom prst="line">
            <a:avLst/>
          </a:prstGeom>
          <a:ln w="190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8038965" y="1775326"/>
            <a:ext cx="3168018" cy="3558529"/>
          </a:xfrm>
          <a:prstGeom prst="rect">
            <a:avLst/>
          </a:prstGeom>
          <a:gradFill>
            <a:gsLst>
              <a:gs pos="7000">
                <a:schemeClr val="accent1"/>
              </a:gs>
              <a:gs pos="100000">
                <a:schemeClr val="accent2"/>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9" name="矩形 8"/>
          <p:cNvSpPr/>
          <p:nvPr/>
        </p:nvSpPr>
        <p:spPr>
          <a:xfrm>
            <a:off x="9277589" y="1775327"/>
            <a:ext cx="690770" cy="69574"/>
          </a:xfrm>
          <a:prstGeom prst="rect">
            <a:avLst/>
          </a:prstGeom>
          <a:solidFill>
            <a:schemeClr val="accent1">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8334659" y="2885117"/>
            <a:ext cx="2716330" cy="2376170"/>
          </a:xfrm>
          <a:prstGeom prst="rect">
            <a:avLst/>
          </a:prstGeom>
        </p:spPr>
        <p:txBody>
          <a:bodyPr wrap="square">
            <a:spAutoFit/>
            <a:scene3d>
              <a:camera prst="orthographicFront"/>
              <a:lightRig rig="threePt" dir="t"/>
            </a:scene3d>
            <a:sp3d contourW="12700"/>
          </a:bodyPr>
          <a:lstStyle>
            <a:defPPr>
              <a:defRPr lang="zh-CN"/>
            </a:defPPr>
            <a:lvl1pPr>
              <a:lnSpc>
                <a:spcPct val="150000"/>
              </a:lnSpc>
              <a:spcBef>
                <a:spcPts val="1200"/>
              </a:spcBef>
              <a:defRPr sz="1100" spc="100">
                <a:solidFill>
                  <a:schemeClr val="tx2"/>
                </a:solidFill>
                <a:latin typeface="微软雅黑" panose="020B050302020402020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olidFill>
                  <a:schemeClr val="bg1"/>
                </a:solidFill>
                <a:latin typeface="Times New Roman" panose="02020603050405020304" charset="0"/>
                <a:cs typeface="Times New Roman" panose="02020603050405020304" charset="0"/>
              </a:rPr>
              <a:t>Today, information retrieval systems based on large language models allow users to ask questions in natural language, greatly improving the user experience. Users no longer need to focus on keyword selection, but can directly ask</a:t>
            </a:r>
            <a:r>
              <a:rPr lang="en-US" altLang="zh-CN" dirty="0">
                <a:solidFill>
                  <a:schemeClr val="bg1"/>
                </a:solidFill>
                <a:latin typeface="Times New Roman" panose="02020603050405020304" charset="0"/>
                <a:cs typeface="Times New Roman" panose="02020603050405020304" charset="0"/>
              </a:rPr>
              <a:t>. </a:t>
            </a:r>
            <a:r>
              <a:rPr lang="zh-CN" altLang="en-US" dirty="0">
                <a:solidFill>
                  <a:schemeClr val="bg1"/>
                </a:solidFill>
                <a:latin typeface="Times New Roman" panose="02020603050405020304" charset="0"/>
                <a:cs typeface="Times New Roman" panose="02020603050405020304" charset="0"/>
              </a:rPr>
              <a:t>The system is able to understand the context and provide accurate information.</a:t>
            </a:r>
            <a:endParaRPr lang="zh-CN" altLang="en-US" dirty="0">
              <a:solidFill>
                <a:schemeClr val="bg1"/>
              </a:solidFill>
              <a:latin typeface="Times New Roman" panose="02020603050405020304" charset="0"/>
              <a:cs typeface="Times New Roman" panose="02020603050405020304" charset="0"/>
            </a:endParaRPr>
          </a:p>
        </p:txBody>
      </p:sp>
      <p:sp>
        <p:nvSpPr>
          <p:cNvPr id="11" name="文本框 10"/>
          <p:cNvSpPr txBox="1"/>
          <p:nvPr/>
        </p:nvSpPr>
        <p:spPr>
          <a:xfrm>
            <a:off x="8264525" y="2119630"/>
            <a:ext cx="2694940" cy="774700"/>
          </a:xfrm>
          <a:prstGeom prst="rect">
            <a:avLst/>
          </a:prstGeom>
          <a:noFill/>
        </p:spPr>
        <p:txBody>
          <a:bodyPr wrap="none" rtlCol="0">
            <a:noAutofit/>
          </a:bodyPr>
          <a:lstStyle/>
          <a:p>
            <a:pPr algn="r"/>
            <a:r>
              <a:rPr lang="zh-CN" altLang="en-US" sz="2000" b="1">
                <a:solidFill>
                  <a:schemeClr val="bg1"/>
                </a:solidFill>
                <a:latin typeface="Times New Roman" panose="02020603050405020304" charset="0"/>
                <a:ea typeface="+mj-ea"/>
                <a:cs typeface="Times New Roman" panose="02020603050405020304" charset="0"/>
                <a:sym typeface="+mn-ea"/>
              </a:rPr>
              <a:t>Large language models</a:t>
            </a:r>
            <a:endParaRPr lang="zh-CN" altLang="en-US" sz="2000" b="1">
              <a:solidFill>
                <a:schemeClr val="bg1"/>
              </a:solidFill>
              <a:latin typeface="Times New Roman" panose="02020603050405020304" charset="0"/>
              <a:ea typeface="+mj-ea"/>
              <a:cs typeface="Times New Roman" panose="02020603050405020304" charset="0"/>
              <a:sym typeface="+mn-ea"/>
            </a:endParaRPr>
          </a:p>
          <a:p>
            <a:pPr algn="r"/>
            <a:endParaRPr lang="zh-CN" altLang="en-US" sz="2000" b="1">
              <a:solidFill>
                <a:schemeClr val="bg1"/>
              </a:solidFill>
              <a:latin typeface="Times New Roman" panose="02020603050405020304" charset="0"/>
              <a:ea typeface="+mj-ea"/>
              <a:cs typeface="Times New Roman" panose="02020603050405020304" charset="0"/>
            </a:endParaRPr>
          </a:p>
        </p:txBody>
      </p:sp>
      <p:cxnSp>
        <p:nvCxnSpPr>
          <p:cNvPr id="12" name="直接连接符 11"/>
          <p:cNvCxnSpPr/>
          <p:nvPr/>
        </p:nvCxnSpPr>
        <p:spPr>
          <a:xfrm>
            <a:off x="9517854" y="2696168"/>
            <a:ext cx="210240" cy="0"/>
          </a:xfrm>
          <a:prstGeom prst="line">
            <a:avLst/>
          </a:prstGeom>
          <a:ln w="190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3" name="任意多边形 20"/>
          <p:cNvSpPr/>
          <p:nvPr/>
        </p:nvSpPr>
        <p:spPr>
          <a:xfrm>
            <a:off x="4884042" y="2992323"/>
            <a:ext cx="2400238" cy="293585"/>
          </a:xfrm>
          <a:custGeom>
            <a:avLst/>
            <a:gdLst>
              <a:gd name="connsiteX0" fmla="*/ 1324243 w 1674229"/>
              <a:gd name="connsiteY0" fmla="*/ 0 h 204783"/>
              <a:gd name="connsiteX1" fmla="*/ 1674229 w 1674229"/>
              <a:gd name="connsiteY1" fmla="*/ 204783 h 204783"/>
              <a:gd name="connsiteX2" fmla="*/ 0 w 1674229"/>
              <a:gd name="connsiteY2" fmla="*/ 204783 h 204783"/>
              <a:gd name="connsiteX3" fmla="*/ 0 w 1674229"/>
              <a:gd name="connsiteY3" fmla="*/ 129461 h 204783"/>
              <a:gd name="connsiteX4" fmla="*/ 1324243 w 1674229"/>
              <a:gd name="connsiteY4" fmla="*/ 129461 h 204783"/>
              <a:gd name="connsiteX5" fmla="*/ 1324243 w 1674229"/>
              <a:gd name="connsiteY5" fmla="*/ 0 h 204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4229" h="204783">
                <a:moveTo>
                  <a:pt x="1324243" y="0"/>
                </a:moveTo>
                <a:lnTo>
                  <a:pt x="1674229" y="204783"/>
                </a:lnTo>
                <a:lnTo>
                  <a:pt x="0" y="204783"/>
                </a:lnTo>
                <a:lnTo>
                  <a:pt x="0" y="129461"/>
                </a:lnTo>
                <a:lnTo>
                  <a:pt x="1324243" y="129461"/>
                </a:lnTo>
                <a:lnTo>
                  <a:pt x="1324243" y="0"/>
                </a:lnTo>
                <a:close/>
              </a:path>
            </a:pathLst>
          </a:custGeom>
          <a:gradFill>
            <a:gsLst>
              <a:gs pos="0">
                <a:schemeClr val="accent1">
                  <a:lumMod val="5000"/>
                  <a:lumOff val="95000"/>
                  <a:alpha val="0"/>
                </a:schemeClr>
              </a:gs>
              <a:gs pos="70000">
                <a:schemeClr val="accent1"/>
              </a:gs>
            </a:gsLst>
            <a:lin ang="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5466962" y="3345461"/>
            <a:ext cx="1314450" cy="337185"/>
          </a:xfrm>
          <a:prstGeom prst="rect">
            <a:avLst/>
          </a:prstGeom>
          <a:noFill/>
        </p:spPr>
        <p:txBody>
          <a:bodyPr wrap="none" rtlCol="0">
            <a:spAutoFit/>
          </a:bodyPr>
          <a:lstStyle/>
          <a:p>
            <a:pPr algn="ctr"/>
            <a:r>
              <a:rPr lang="en-US" altLang="zh-CN" sz="1600" b="1" dirty="0">
                <a:solidFill>
                  <a:schemeClr val="accent1"/>
                </a:solidFill>
                <a:latin typeface="+mj-ea"/>
                <a:ea typeface="+mj-ea"/>
              </a:rPr>
              <a:t>D</a:t>
            </a:r>
            <a:r>
              <a:rPr lang="en-US" altLang="zh-CN" sz="1600" b="1" dirty="0">
                <a:solidFill>
                  <a:schemeClr val="accent1"/>
                </a:solidFill>
                <a:latin typeface="+mj-ea"/>
                <a:ea typeface="+mj-ea"/>
              </a:rPr>
              <a:t>evelopment</a:t>
            </a:r>
            <a:endParaRPr lang="en-US" altLang="zh-CN" sz="1600" b="1" dirty="0">
              <a:solidFill>
                <a:schemeClr val="accent1"/>
              </a:solidFill>
              <a:latin typeface="+mj-ea"/>
              <a:ea typeface="+mj-ea"/>
            </a:endParaRPr>
          </a:p>
        </p:txBody>
      </p:sp>
      <p:sp>
        <p:nvSpPr>
          <p:cNvPr id="2" name="文本框 1"/>
          <p:cNvSpPr txBox="1"/>
          <p:nvPr/>
        </p:nvSpPr>
        <p:spPr>
          <a:xfrm>
            <a:off x="3444875" y="476250"/>
            <a:ext cx="5273675" cy="521970"/>
          </a:xfrm>
          <a:prstGeom prst="rect">
            <a:avLst/>
          </a:prstGeom>
          <a:noFill/>
        </p:spPr>
        <p:txBody>
          <a:bodyPr wrap="square" rtlCol="0" anchor="ctr">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pPr algn="l"/>
            <a:r>
              <a:rPr lang="en-US" altLang="zh-CN" sz="2800" dirty="0">
                <a:effectLst/>
                <a:latin typeface="Montserrat" panose="00000500000000000000" pitchFamily="2" charset="0"/>
                <a:sym typeface="HarmonyOS Sans SC Light" panose="00000400000000000000" pitchFamily="2" charset="-122"/>
              </a:rPr>
              <a:t>Natural language processing</a:t>
            </a:r>
            <a:endParaRPr lang="en-US" altLang="zh-CN" sz="2800" dirty="0">
              <a:effectLst/>
              <a:latin typeface="Montserrat" panose="00000500000000000000" pitchFamily="2" charset="0"/>
            </a:endParaRPr>
          </a:p>
        </p:txBody>
      </p:sp>
      <p:cxnSp>
        <p:nvCxnSpPr>
          <p:cNvPr id="22" name="直接连接符 21"/>
          <p:cNvCxnSpPr/>
          <p:nvPr/>
        </p:nvCxnSpPr>
        <p:spPr>
          <a:xfrm>
            <a:off x="5857389" y="1111349"/>
            <a:ext cx="44974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cxnSp>
        <p:nvCxnSpPr>
          <p:cNvPr id="28" name="直接连接符 27"/>
          <p:cNvCxnSpPr/>
          <p:nvPr/>
        </p:nvCxnSpPr>
        <p:spPr>
          <a:xfrm>
            <a:off x="5857389" y="1111349"/>
            <a:ext cx="44974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7" name="Freeform 15" descr="D:\51PPT模板网\51pptmoban.com\图片.jpg"/>
          <p:cNvSpPr>
            <a:spLocks noEditPoints="1"/>
          </p:cNvSpPr>
          <p:nvPr>
            <p:custDataLst>
              <p:tags r:id="rId2"/>
            </p:custDataLst>
          </p:nvPr>
        </p:nvSpPr>
        <p:spPr bwMode="auto">
          <a:xfrm>
            <a:off x="5528682" y="1840126"/>
            <a:ext cx="665855" cy="665856"/>
          </a:xfrm>
          <a:custGeom>
            <a:avLst/>
            <a:gdLst>
              <a:gd name="T0" fmla="*/ 2204 w 2599"/>
              <a:gd name="T1" fmla="*/ 392 h 2595"/>
              <a:gd name="T2" fmla="*/ 1893 w 2599"/>
              <a:gd name="T3" fmla="*/ 233 h 2595"/>
              <a:gd name="T4" fmla="*/ 772 w 2599"/>
              <a:gd name="T5" fmla="*/ 165 h 2595"/>
              <a:gd name="T6" fmla="*/ 100 w 2599"/>
              <a:gd name="T7" fmla="*/ 838 h 2595"/>
              <a:gd name="T8" fmla="*/ 100 w 2599"/>
              <a:gd name="T9" fmla="*/ 1822 h 2595"/>
              <a:gd name="T10" fmla="*/ 772 w 2599"/>
              <a:gd name="T11" fmla="*/ 2495 h 2595"/>
              <a:gd name="T12" fmla="*/ 1757 w 2599"/>
              <a:gd name="T13" fmla="*/ 2495 h 2595"/>
              <a:gd name="T14" fmla="*/ 2430 w 2599"/>
              <a:gd name="T15" fmla="*/ 1822 h 2595"/>
              <a:gd name="T16" fmla="*/ 2364 w 2599"/>
              <a:gd name="T17" fmla="*/ 705 h 2595"/>
              <a:gd name="T18" fmla="*/ 1976 w 2599"/>
              <a:gd name="T19" fmla="*/ 1081 h 2595"/>
              <a:gd name="T20" fmla="*/ 2024 w 2599"/>
              <a:gd name="T21" fmla="*/ 1330 h 2595"/>
              <a:gd name="T22" fmla="*/ 1265 w 2599"/>
              <a:gd name="T23" fmla="*/ 2089 h 2595"/>
              <a:gd name="T24" fmla="*/ 506 w 2599"/>
              <a:gd name="T25" fmla="*/ 1330 h 2595"/>
              <a:gd name="T26" fmla="*/ 1265 w 2599"/>
              <a:gd name="T27" fmla="*/ 571 h 2595"/>
              <a:gd name="T28" fmla="*/ 1512 w 2599"/>
              <a:gd name="T29" fmla="*/ 613 h 2595"/>
              <a:gd name="T30" fmla="*/ 1523 w 2599"/>
              <a:gd name="T31" fmla="*/ 970 h 2595"/>
              <a:gd name="T32" fmla="*/ 822 w 2599"/>
              <a:gd name="T33" fmla="*/ 1329 h 2595"/>
              <a:gd name="T34" fmla="*/ 1707 w 2599"/>
              <a:gd name="T35" fmla="*/ 1329 h 2595"/>
              <a:gd name="T36" fmla="*/ 1669 w 2599"/>
              <a:gd name="T37" fmla="*/ 1014 h 2595"/>
              <a:gd name="T38" fmla="*/ 1580 w 2599"/>
              <a:gd name="T39" fmla="*/ 1330 h 2595"/>
              <a:gd name="T40" fmla="*/ 949 w 2599"/>
              <a:gd name="T41" fmla="*/ 1330 h 2595"/>
              <a:gd name="T42" fmla="*/ 1439 w 2599"/>
              <a:gd name="T43" fmla="*/ 1066 h 2595"/>
              <a:gd name="T44" fmla="*/ 1264 w 2599"/>
              <a:gd name="T45" fmla="*/ 1203 h 2595"/>
              <a:gd name="T46" fmla="*/ 1264 w 2599"/>
              <a:gd name="T47" fmla="*/ 1457 h 2595"/>
              <a:gd name="T48" fmla="*/ 1387 w 2599"/>
              <a:gd name="T49" fmla="*/ 1297 h 2595"/>
              <a:gd name="T50" fmla="*/ 1580 w 2599"/>
              <a:gd name="T51" fmla="*/ 1330 h 2595"/>
              <a:gd name="T52" fmla="*/ 1802 w 2599"/>
              <a:gd name="T53" fmla="*/ 502 h 2595"/>
              <a:gd name="T54" fmla="*/ 1916 w 2599"/>
              <a:gd name="T55" fmla="*/ 588 h 2595"/>
              <a:gd name="T56" fmla="*/ 1750 w 2599"/>
              <a:gd name="T57" fmla="*/ 555 h 2595"/>
              <a:gd name="T58" fmla="*/ 1682 w 2599"/>
              <a:gd name="T59" fmla="*/ 816 h 2595"/>
              <a:gd name="T60" fmla="*/ 1750 w 2599"/>
              <a:gd name="T61" fmla="*/ 555 h 2595"/>
              <a:gd name="T62" fmla="*/ 1936 w 2599"/>
              <a:gd name="T63" fmla="*/ 943 h 2595"/>
              <a:gd name="T64" fmla="*/ 1881 w 2599"/>
              <a:gd name="T65" fmla="*/ 802 h 2595"/>
              <a:gd name="T66" fmla="*/ 2021 w 2599"/>
              <a:gd name="T67" fmla="*/ 861 h 2595"/>
              <a:gd name="T68" fmla="*/ 1935 w 2599"/>
              <a:gd name="T69" fmla="*/ 749 h 2595"/>
              <a:gd name="T70" fmla="*/ 2177 w 2599"/>
              <a:gd name="T71" fmla="*/ 710 h 2595"/>
              <a:gd name="T72" fmla="*/ 2232 w 2599"/>
              <a:gd name="T73" fmla="*/ 656 h 2595"/>
              <a:gd name="T74" fmla="*/ 2159 w 2599"/>
              <a:gd name="T75" fmla="*/ 528 h 2595"/>
              <a:gd name="T76" fmla="*/ 2341 w 2599"/>
              <a:gd name="T77" fmla="*/ 551 h 2595"/>
              <a:gd name="T78" fmla="*/ 2081 w 2599"/>
              <a:gd name="T79" fmla="*/ 424 h 2595"/>
              <a:gd name="T80" fmla="*/ 1928 w 2599"/>
              <a:gd name="T81" fmla="*/ 376 h 2595"/>
              <a:gd name="T82" fmla="*/ 2081 w 2599"/>
              <a:gd name="T83" fmla="*/ 424 h 2595"/>
              <a:gd name="T84" fmla="*/ 2069 w 2599"/>
              <a:gd name="T85" fmla="*/ 2134 h 2595"/>
              <a:gd name="T86" fmla="*/ 460 w 2599"/>
              <a:gd name="T87" fmla="*/ 2134 h 2595"/>
              <a:gd name="T88" fmla="*/ 460 w 2599"/>
              <a:gd name="T89" fmla="*/ 525 h 2595"/>
              <a:gd name="T90" fmla="*/ 1800 w 2599"/>
              <a:gd name="T91" fmla="*/ 325 h 2595"/>
              <a:gd name="T92" fmla="*/ 1265 w 2599"/>
              <a:gd name="T93" fmla="*/ 444 h 2595"/>
              <a:gd name="T94" fmla="*/ 380 w 2599"/>
              <a:gd name="T95" fmla="*/ 1329 h 2595"/>
              <a:gd name="T96" fmla="*/ 1265 w 2599"/>
              <a:gd name="T97" fmla="*/ 2214 h 2595"/>
              <a:gd name="T98" fmla="*/ 2150 w 2599"/>
              <a:gd name="T99" fmla="*/ 1329 h 2595"/>
              <a:gd name="T100" fmla="*/ 2269 w 2599"/>
              <a:gd name="T101" fmla="*/ 796 h 2595"/>
              <a:gd name="T102" fmla="*/ 2403 w 2599"/>
              <a:gd name="T103" fmla="*/ 1330 h 2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99" h="2595">
                <a:moveTo>
                  <a:pt x="2599" y="477"/>
                </a:moveTo>
                <a:cubicBezTo>
                  <a:pt x="2204" y="392"/>
                  <a:pt x="2204" y="392"/>
                  <a:pt x="2204" y="392"/>
                </a:cubicBezTo>
                <a:cubicBezTo>
                  <a:pt x="2126" y="0"/>
                  <a:pt x="2126" y="0"/>
                  <a:pt x="2126" y="0"/>
                </a:cubicBezTo>
                <a:cubicBezTo>
                  <a:pt x="1893" y="233"/>
                  <a:pt x="1893" y="233"/>
                  <a:pt x="1893" y="233"/>
                </a:cubicBezTo>
                <a:cubicBezTo>
                  <a:pt x="1703" y="123"/>
                  <a:pt x="1487" y="65"/>
                  <a:pt x="1265" y="65"/>
                </a:cubicBezTo>
                <a:cubicBezTo>
                  <a:pt x="1094" y="65"/>
                  <a:pt x="928" y="99"/>
                  <a:pt x="772" y="165"/>
                </a:cubicBezTo>
                <a:cubicBezTo>
                  <a:pt x="622" y="228"/>
                  <a:pt x="487" y="320"/>
                  <a:pt x="371" y="436"/>
                </a:cubicBezTo>
                <a:cubicBezTo>
                  <a:pt x="254" y="552"/>
                  <a:pt x="163" y="687"/>
                  <a:pt x="100" y="838"/>
                </a:cubicBezTo>
                <a:cubicBezTo>
                  <a:pt x="34" y="994"/>
                  <a:pt x="0" y="1159"/>
                  <a:pt x="0" y="1330"/>
                </a:cubicBezTo>
                <a:cubicBezTo>
                  <a:pt x="0" y="1500"/>
                  <a:pt x="34" y="1666"/>
                  <a:pt x="100" y="1822"/>
                </a:cubicBezTo>
                <a:cubicBezTo>
                  <a:pt x="163" y="1973"/>
                  <a:pt x="254" y="2108"/>
                  <a:pt x="371" y="2224"/>
                </a:cubicBezTo>
                <a:cubicBezTo>
                  <a:pt x="487" y="2340"/>
                  <a:pt x="622" y="2431"/>
                  <a:pt x="772" y="2495"/>
                </a:cubicBezTo>
                <a:cubicBezTo>
                  <a:pt x="928" y="2561"/>
                  <a:pt x="1094" y="2595"/>
                  <a:pt x="1265" y="2595"/>
                </a:cubicBezTo>
                <a:cubicBezTo>
                  <a:pt x="1435" y="2595"/>
                  <a:pt x="1601" y="2561"/>
                  <a:pt x="1757" y="2495"/>
                </a:cubicBezTo>
                <a:cubicBezTo>
                  <a:pt x="1908" y="2431"/>
                  <a:pt x="2043" y="2340"/>
                  <a:pt x="2159" y="2224"/>
                </a:cubicBezTo>
                <a:cubicBezTo>
                  <a:pt x="2275" y="2108"/>
                  <a:pt x="2366" y="1973"/>
                  <a:pt x="2430" y="1822"/>
                </a:cubicBezTo>
                <a:cubicBezTo>
                  <a:pt x="2496" y="1666"/>
                  <a:pt x="2529" y="1500"/>
                  <a:pt x="2529" y="1330"/>
                </a:cubicBezTo>
                <a:cubicBezTo>
                  <a:pt x="2529" y="1109"/>
                  <a:pt x="2472" y="894"/>
                  <a:pt x="2364" y="705"/>
                </a:cubicBezTo>
                <a:lnTo>
                  <a:pt x="2599" y="477"/>
                </a:lnTo>
                <a:close/>
                <a:moveTo>
                  <a:pt x="1976" y="1081"/>
                </a:moveTo>
                <a:cubicBezTo>
                  <a:pt x="1980" y="1076"/>
                  <a:pt x="1980" y="1076"/>
                  <a:pt x="1980" y="1076"/>
                </a:cubicBezTo>
                <a:cubicBezTo>
                  <a:pt x="2009" y="1157"/>
                  <a:pt x="2024" y="1242"/>
                  <a:pt x="2024" y="1330"/>
                </a:cubicBezTo>
                <a:cubicBezTo>
                  <a:pt x="2024" y="1532"/>
                  <a:pt x="1945" y="1723"/>
                  <a:pt x="1801" y="1866"/>
                </a:cubicBezTo>
                <a:cubicBezTo>
                  <a:pt x="1658" y="2010"/>
                  <a:pt x="1468" y="2089"/>
                  <a:pt x="1265" y="2089"/>
                </a:cubicBezTo>
                <a:cubicBezTo>
                  <a:pt x="1062" y="2089"/>
                  <a:pt x="871" y="2010"/>
                  <a:pt x="728" y="1866"/>
                </a:cubicBezTo>
                <a:cubicBezTo>
                  <a:pt x="585" y="1723"/>
                  <a:pt x="506" y="1532"/>
                  <a:pt x="506" y="1330"/>
                </a:cubicBezTo>
                <a:cubicBezTo>
                  <a:pt x="506" y="1127"/>
                  <a:pt x="585" y="936"/>
                  <a:pt x="728" y="793"/>
                </a:cubicBezTo>
                <a:cubicBezTo>
                  <a:pt x="871" y="650"/>
                  <a:pt x="1062" y="571"/>
                  <a:pt x="1265" y="571"/>
                </a:cubicBezTo>
                <a:cubicBezTo>
                  <a:pt x="1351" y="571"/>
                  <a:pt x="1434" y="585"/>
                  <a:pt x="1513" y="612"/>
                </a:cubicBezTo>
                <a:cubicBezTo>
                  <a:pt x="1512" y="613"/>
                  <a:pt x="1512" y="613"/>
                  <a:pt x="1512" y="613"/>
                </a:cubicBezTo>
                <a:cubicBezTo>
                  <a:pt x="1574" y="920"/>
                  <a:pt x="1574" y="920"/>
                  <a:pt x="1574" y="920"/>
                </a:cubicBezTo>
                <a:cubicBezTo>
                  <a:pt x="1523" y="970"/>
                  <a:pt x="1523" y="970"/>
                  <a:pt x="1523" y="970"/>
                </a:cubicBezTo>
                <a:cubicBezTo>
                  <a:pt x="1450" y="918"/>
                  <a:pt x="1361" y="887"/>
                  <a:pt x="1265" y="887"/>
                </a:cubicBezTo>
                <a:cubicBezTo>
                  <a:pt x="1021" y="887"/>
                  <a:pt x="822" y="1085"/>
                  <a:pt x="822" y="1329"/>
                </a:cubicBezTo>
                <a:cubicBezTo>
                  <a:pt x="822" y="1573"/>
                  <a:pt x="1020" y="1772"/>
                  <a:pt x="1265" y="1772"/>
                </a:cubicBezTo>
                <a:cubicBezTo>
                  <a:pt x="1509" y="1772"/>
                  <a:pt x="1707" y="1573"/>
                  <a:pt x="1707" y="1329"/>
                </a:cubicBezTo>
                <a:cubicBezTo>
                  <a:pt x="1707" y="1230"/>
                  <a:pt x="1675" y="1139"/>
                  <a:pt x="1619" y="1065"/>
                </a:cubicBezTo>
                <a:cubicBezTo>
                  <a:pt x="1669" y="1014"/>
                  <a:pt x="1669" y="1014"/>
                  <a:pt x="1669" y="1014"/>
                </a:cubicBezTo>
                <a:lnTo>
                  <a:pt x="1976" y="1081"/>
                </a:lnTo>
                <a:close/>
                <a:moveTo>
                  <a:pt x="1580" y="1330"/>
                </a:moveTo>
                <a:cubicBezTo>
                  <a:pt x="1580" y="1504"/>
                  <a:pt x="1439" y="1645"/>
                  <a:pt x="1265" y="1645"/>
                </a:cubicBezTo>
                <a:cubicBezTo>
                  <a:pt x="1091" y="1645"/>
                  <a:pt x="949" y="1504"/>
                  <a:pt x="949" y="1330"/>
                </a:cubicBezTo>
                <a:cubicBezTo>
                  <a:pt x="949" y="1156"/>
                  <a:pt x="1091" y="1014"/>
                  <a:pt x="1265" y="1014"/>
                </a:cubicBezTo>
                <a:cubicBezTo>
                  <a:pt x="1329" y="1014"/>
                  <a:pt x="1389" y="1033"/>
                  <a:pt x="1439" y="1066"/>
                </a:cubicBezTo>
                <a:cubicBezTo>
                  <a:pt x="1297" y="1208"/>
                  <a:pt x="1297" y="1208"/>
                  <a:pt x="1297" y="1208"/>
                </a:cubicBezTo>
                <a:cubicBezTo>
                  <a:pt x="1287" y="1205"/>
                  <a:pt x="1276" y="1203"/>
                  <a:pt x="1264" y="1203"/>
                </a:cubicBezTo>
                <a:cubicBezTo>
                  <a:pt x="1195" y="1203"/>
                  <a:pt x="1138" y="1260"/>
                  <a:pt x="1138" y="1330"/>
                </a:cubicBezTo>
                <a:cubicBezTo>
                  <a:pt x="1138" y="1400"/>
                  <a:pt x="1194" y="1457"/>
                  <a:pt x="1264" y="1457"/>
                </a:cubicBezTo>
                <a:cubicBezTo>
                  <a:pt x="1334" y="1457"/>
                  <a:pt x="1391" y="1399"/>
                  <a:pt x="1391" y="1330"/>
                </a:cubicBezTo>
                <a:cubicBezTo>
                  <a:pt x="1391" y="1318"/>
                  <a:pt x="1390" y="1307"/>
                  <a:pt x="1387" y="1297"/>
                </a:cubicBezTo>
                <a:cubicBezTo>
                  <a:pt x="1528" y="1155"/>
                  <a:pt x="1528" y="1155"/>
                  <a:pt x="1528" y="1155"/>
                </a:cubicBezTo>
                <a:cubicBezTo>
                  <a:pt x="1561" y="1205"/>
                  <a:pt x="1580" y="1265"/>
                  <a:pt x="1580" y="1330"/>
                </a:cubicBezTo>
                <a:close/>
                <a:moveTo>
                  <a:pt x="1841" y="661"/>
                </a:moveTo>
                <a:cubicBezTo>
                  <a:pt x="1802" y="502"/>
                  <a:pt x="1802" y="502"/>
                  <a:pt x="1802" y="502"/>
                </a:cubicBezTo>
                <a:cubicBezTo>
                  <a:pt x="1876" y="428"/>
                  <a:pt x="1876" y="428"/>
                  <a:pt x="1876" y="428"/>
                </a:cubicBezTo>
                <a:cubicBezTo>
                  <a:pt x="1916" y="588"/>
                  <a:pt x="1916" y="588"/>
                  <a:pt x="1916" y="588"/>
                </a:cubicBezTo>
                <a:lnTo>
                  <a:pt x="1841" y="661"/>
                </a:lnTo>
                <a:close/>
                <a:moveTo>
                  <a:pt x="1750" y="555"/>
                </a:moveTo>
                <a:cubicBezTo>
                  <a:pt x="1789" y="712"/>
                  <a:pt x="1789" y="712"/>
                  <a:pt x="1789" y="712"/>
                </a:cubicBezTo>
                <a:cubicBezTo>
                  <a:pt x="1682" y="816"/>
                  <a:pt x="1682" y="816"/>
                  <a:pt x="1682" y="816"/>
                </a:cubicBezTo>
                <a:cubicBezTo>
                  <a:pt x="1649" y="655"/>
                  <a:pt x="1649" y="655"/>
                  <a:pt x="1649" y="655"/>
                </a:cubicBezTo>
                <a:lnTo>
                  <a:pt x="1750" y="555"/>
                </a:lnTo>
                <a:close/>
                <a:moveTo>
                  <a:pt x="2021" y="861"/>
                </a:moveTo>
                <a:cubicBezTo>
                  <a:pt x="1936" y="943"/>
                  <a:pt x="1936" y="943"/>
                  <a:pt x="1936" y="943"/>
                </a:cubicBezTo>
                <a:cubicBezTo>
                  <a:pt x="1775" y="908"/>
                  <a:pt x="1775" y="908"/>
                  <a:pt x="1775" y="908"/>
                </a:cubicBezTo>
                <a:cubicBezTo>
                  <a:pt x="1881" y="802"/>
                  <a:pt x="1881" y="802"/>
                  <a:pt x="1881" y="802"/>
                </a:cubicBezTo>
                <a:cubicBezTo>
                  <a:pt x="2047" y="835"/>
                  <a:pt x="2047" y="835"/>
                  <a:pt x="2047" y="835"/>
                </a:cubicBezTo>
                <a:lnTo>
                  <a:pt x="2021" y="861"/>
                </a:lnTo>
                <a:close/>
                <a:moveTo>
                  <a:pt x="2102" y="782"/>
                </a:moveTo>
                <a:cubicBezTo>
                  <a:pt x="1935" y="749"/>
                  <a:pt x="1935" y="749"/>
                  <a:pt x="1935" y="749"/>
                </a:cubicBezTo>
                <a:cubicBezTo>
                  <a:pt x="2008" y="676"/>
                  <a:pt x="2008" y="676"/>
                  <a:pt x="2008" y="676"/>
                </a:cubicBezTo>
                <a:cubicBezTo>
                  <a:pt x="2177" y="710"/>
                  <a:pt x="2177" y="710"/>
                  <a:pt x="2177" y="710"/>
                </a:cubicBezTo>
                <a:lnTo>
                  <a:pt x="2102" y="782"/>
                </a:lnTo>
                <a:close/>
                <a:moveTo>
                  <a:pt x="2232" y="656"/>
                </a:moveTo>
                <a:cubicBezTo>
                  <a:pt x="2062" y="622"/>
                  <a:pt x="2062" y="622"/>
                  <a:pt x="2062" y="622"/>
                </a:cubicBezTo>
                <a:cubicBezTo>
                  <a:pt x="2159" y="528"/>
                  <a:pt x="2159" y="528"/>
                  <a:pt x="2159" y="528"/>
                </a:cubicBezTo>
                <a:cubicBezTo>
                  <a:pt x="2174" y="515"/>
                  <a:pt x="2174" y="515"/>
                  <a:pt x="2174" y="515"/>
                </a:cubicBezTo>
                <a:cubicBezTo>
                  <a:pt x="2341" y="551"/>
                  <a:pt x="2341" y="551"/>
                  <a:pt x="2341" y="551"/>
                </a:cubicBezTo>
                <a:lnTo>
                  <a:pt x="2232" y="656"/>
                </a:lnTo>
                <a:close/>
                <a:moveTo>
                  <a:pt x="2081" y="424"/>
                </a:moveTo>
                <a:cubicBezTo>
                  <a:pt x="1968" y="537"/>
                  <a:pt x="1968" y="537"/>
                  <a:pt x="1968" y="537"/>
                </a:cubicBezTo>
                <a:cubicBezTo>
                  <a:pt x="1928" y="376"/>
                  <a:pt x="1928" y="376"/>
                  <a:pt x="1928" y="376"/>
                </a:cubicBezTo>
                <a:cubicBezTo>
                  <a:pt x="2048" y="256"/>
                  <a:pt x="2048" y="256"/>
                  <a:pt x="2048" y="256"/>
                </a:cubicBezTo>
                <a:lnTo>
                  <a:pt x="2081" y="424"/>
                </a:lnTo>
                <a:close/>
                <a:moveTo>
                  <a:pt x="2403" y="1330"/>
                </a:moveTo>
                <a:cubicBezTo>
                  <a:pt x="2403" y="1634"/>
                  <a:pt x="2284" y="1919"/>
                  <a:pt x="2069" y="2134"/>
                </a:cubicBezTo>
                <a:cubicBezTo>
                  <a:pt x="1854" y="2349"/>
                  <a:pt x="1569" y="2468"/>
                  <a:pt x="1265" y="2468"/>
                </a:cubicBezTo>
                <a:cubicBezTo>
                  <a:pt x="961" y="2468"/>
                  <a:pt x="675" y="2349"/>
                  <a:pt x="460" y="2134"/>
                </a:cubicBezTo>
                <a:cubicBezTo>
                  <a:pt x="245" y="1919"/>
                  <a:pt x="127" y="1634"/>
                  <a:pt x="127" y="1330"/>
                </a:cubicBezTo>
                <a:cubicBezTo>
                  <a:pt x="127" y="1026"/>
                  <a:pt x="245" y="740"/>
                  <a:pt x="460" y="525"/>
                </a:cubicBezTo>
                <a:cubicBezTo>
                  <a:pt x="675" y="310"/>
                  <a:pt x="961" y="191"/>
                  <a:pt x="1265" y="191"/>
                </a:cubicBezTo>
                <a:cubicBezTo>
                  <a:pt x="1454" y="191"/>
                  <a:pt x="1637" y="237"/>
                  <a:pt x="1800" y="325"/>
                </a:cubicBezTo>
                <a:cubicBezTo>
                  <a:pt x="1611" y="515"/>
                  <a:pt x="1611" y="515"/>
                  <a:pt x="1611" y="515"/>
                </a:cubicBezTo>
                <a:cubicBezTo>
                  <a:pt x="1502" y="468"/>
                  <a:pt x="1386" y="444"/>
                  <a:pt x="1265" y="444"/>
                </a:cubicBezTo>
                <a:cubicBezTo>
                  <a:pt x="1028" y="444"/>
                  <a:pt x="806" y="536"/>
                  <a:pt x="639" y="703"/>
                </a:cubicBezTo>
                <a:cubicBezTo>
                  <a:pt x="472" y="870"/>
                  <a:pt x="380" y="1093"/>
                  <a:pt x="380" y="1329"/>
                </a:cubicBezTo>
                <a:cubicBezTo>
                  <a:pt x="380" y="1566"/>
                  <a:pt x="472" y="1788"/>
                  <a:pt x="639" y="1955"/>
                </a:cubicBezTo>
                <a:cubicBezTo>
                  <a:pt x="806" y="2122"/>
                  <a:pt x="1028" y="2214"/>
                  <a:pt x="1265" y="2214"/>
                </a:cubicBezTo>
                <a:cubicBezTo>
                  <a:pt x="1501" y="2214"/>
                  <a:pt x="1724" y="2122"/>
                  <a:pt x="1891" y="1955"/>
                </a:cubicBezTo>
                <a:cubicBezTo>
                  <a:pt x="2058" y="1788"/>
                  <a:pt x="2150" y="1566"/>
                  <a:pt x="2150" y="1329"/>
                </a:cubicBezTo>
                <a:cubicBezTo>
                  <a:pt x="2150" y="1208"/>
                  <a:pt x="2126" y="1091"/>
                  <a:pt x="2078" y="981"/>
                </a:cubicBezTo>
                <a:cubicBezTo>
                  <a:pt x="2269" y="796"/>
                  <a:pt x="2269" y="796"/>
                  <a:pt x="2269" y="796"/>
                </a:cubicBezTo>
                <a:cubicBezTo>
                  <a:pt x="2357" y="959"/>
                  <a:pt x="2403" y="1142"/>
                  <a:pt x="2403" y="1330"/>
                </a:cubicBezTo>
                <a:close/>
                <a:moveTo>
                  <a:pt x="2403" y="1330"/>
                </a:moveTo>
                <a:cubicBezTo>
                  <a:pt x="2403" y="1330"/>
                  <a:pt x="2403" y="1330"/>
                  <a:pt x="2403" y="1330"/>
                </a:cubicBezTo>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6" name="文本框 25"/>
          <p:cNvSpPr txBox="1"/>
          <p:nvPr/>
        </p:nvSpPr>
        <p:spPr>
          <a:xfrm>
            <a:off x="4093729" y="476226"/>
            <a:ext cx="3975735" cy="521970"/>
          </a:xfrm>
          <a:prstGeom prst="rect">
            <a:avLst/>
          </a:prstGeom>
          <a:noFill/>
        </p:spPr>
        <p:txBody>
          <a:bodyPr wrap="none" rtlCol="0" anchor="ctr">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pPr algn="l"/>
            <a:r>
              <a:rPr lang="en-US" altLang="zh-CN" sz="2800" dirty="0">
                <a:effectLst/>
                <a:latin typeface="Montserrat" panose="00000500000000000000" pitchFamily="2" charset="0"/>
              </a:rPr>
              <a:t>Information retrieval</a:t>
            </a:r>
            <a:endParaRPr lang="en-US" altLang="zh-CN" sz="2800" dirty="0">
              <a:effectLst/>
              <a:latin typeface="Montserrat" panose="00000500000000000000" pitchFamily="2" charset="0"/>
            </a:endParaRPr>
          </a:p>
        </p:txBody>
      </p:sp>
      <p:sp>
        <p:nvSpPr>
          <p:cNvPr id="5" name="椭圆 4"/>
          <p:cNvSpPr/>
          <p:nvPr/>
        </p:nvSpPr>
        <p:spPr>
          <a:xfrm>
            <a:off x="305435" y="1798955"/>
            <a:ext cx="6812915" cy="3853815"/>
          </a:xfrm>
          <a:prstGeom prst="ellipse">
            <a:avLst/>
          </a:prstGeom>
          <a:gradFill>
            <a:gsLst>
              <a:gs pos="7000">
                <a:schemeClr val="accent1"/>
              </a:gs>
              <a:gs pos="100000">
                <a:schemeClr val="accent2"/>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endParaRPr lang="zh-CN" altLang="en-US"/>
          </a:p>
        </p:txBody>
      </p:sp>
      <p:pic>
        <p:nvPicPr>
          <p:cNvPr id="6" name="图片 5"/>
          <p:cNvPicPr>
            <a:picLocks noChangeAspect="1"/>
          </p:cNvPicPr>
          <p:nvPr/>
        </p:nvPicPr>
        <p:blipFill>
          <a:blip r:embed="rId3" cstate="print"/>
          <a:stretch>
            <a:fillRect/>
          </a:stretch>
        </p:blipFill>
        <p:spPr>
          <a:xfrm>
            <a:off x="1161415" y="2463165"/>
            <a:ext cx="5033010" cy="252476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3" name="任意多边形: 形状 26"/>
          <p:cNvSpPr/>
          <p:nvPr/>
        </p:nvSpPr>
        <p:spPr>
          <a:xfrm>
            <a:off x="7346315" y="1280795"/>
            <a:ext cx="4308475" cy="4907915"/>
          </a:xfrm>
          <a:custGeom>
            <a:avLst/>
            <a:gdLst>
              <a:gd name="connsiteX0" fmla="*/ 0 w 2574201"/>
              <a:gd name="connsiteY0" fmla="*/ 0 h 1914553"/>
              <a:gd name="connsiteX1" fmla="*/ 2574201 w 2574201"/>
              <a:gd name="connsiteY1" fmla="*/ 0 h 1914553"/>
              <a:gd name="connsiteX2" fmla="*/ 2574201 w 2574201"/>
              <a:gd name="connsiteY2" fmla="*/ 1874602 h 1914553"/>
              <a:gd name="connsiteX3" fmla="*/ 2534250 w 2574201"/>
              <a:gd name="connsiteY3" fmla="*/ 1914553 h 1914553"/>
              <a:gd name="connsiteX4" fmla="*/ 39952 w 2574201"/>
              <a:gd name="connsiteY4" fmla="*/ 1914553 h 1914553"/>
              <a:gd name="connsiteX5" fmla="*/ 0 w 2574201"/>
              <a:gd name="connsiteY5" fmla="*/ 1874602 h 1914553"/>
              <a:gd name="connsiteX6" fmla="*/ 0 w 2574201"/>
              <a:gd name="connsiteY6" fmla="*/ 0 h 1914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4201" h="1914553">
                <a:moveTo>
                  <a:pt x="0" y="0"/>
                </a:moveTo>
                <a:lnTo>
                  <a:pt x="2574201" y="0"/>
                </a:lnTo>
                <a:lnTo>
                  <a:pt x="2574201" y="1874602"/>
                </a:lnTo>
                <a:cubicBezTo>
                  <a:pt x="2574201" y="1896666"/>
                  <a:pt x="2556314" y="1914553"/>
                  <a:pt x="2534250" y="1914553"/>
                </a:cubicBezTo>
                <a:lnTo>
                  <a:pt x="39952" y="1914553"/>
                </a:lnTo>
                <a:cubicBezTo>
                  <a:pt x="17887" y="1914553"/>
                  <a:pt x="0" y="1896666"/>
                  <a:pt x="0" y="1874602"/>
                </a:cubicBezTo>
                <a:lnTo>
                  <a:pt x="0" y="0"/>
                </a:lnTo>
                <a:close/>
              </a:path>
            </a:pathLst>
          </a:custGeom>
        </p:spPr>
        <p:style>
          <a:lnRef idx="0">
            <a:srgbClr val="FFFFFF"/>
          </a:lnRef>
          <a:fillRef idx="3">
            <a:schemeClr val="accent1"/>
          </a:fillRef>
          <a:effectRef idx="0">
            <a:srgbClr val="FFFFFF"/>
          </a:effectRef>
          <a:fontRef idx="minor">
            <a:schemeClr val="lt1"/>
          </a:fontRef>
        </p:style>
        <p:txBody>
          <a:bodyPr rot="0" spcFirstLastPara="0" vertOverflow="overflow" horzOverflow="overflow" vert="horz" wrap="square" lIns="0" tIns="45720" rIns="0" bIns="45720" numCol="1" spcCol="0" rtlCol="0" fromWordArt="0" anchor="ctr" anchorCtr="0" forceAA="0" compatLnSpc="1">
            <a:noAutofit/>
          </a:bodyPr>
          <a:p>
            <a:pPr>
              <a:lnSpc>
                <a:spcPct val="150000"/>
              </a:lnSpc>
            </a:pPr>
            <a:r>
              <a:rPr lang="en-US" altLang="zh-CN" sz="1200" dirty="0">
                <a:solidFill>
                  <a:schemeClr val="tx1"/>
                </a:solidFill>
                <a:latin typeface="Times New Roman" panose="02020603050405020304" charset="0"/>
                <a:ea typeface="+mj-ea"/>
                <a:cs typeface="Times New Roman" panose="02020603050405020304" charset="0"/>
              </a:rPr>
              <a:t>. </a:t>
            </a:r>
            <a:endParaRPr lang="en-US" altLang="zh-CN" sz="1200" dirty="0">
              <a:solidFill>
                <a:schemeClr val="tx1"/>
              </a:solidFill>
              <a:latin typeface="Times New Roman" panose="02020603050405020304" charset="0"/>
              <a:ea typeface="+mj-ea"/>
              <a:cs typeface="Times New Roman" panose="02020603050405020304" charset="0"/>
            </a:endParaRPr>
          </a:p>
          <a:p>
            <a:pPr>
              <a:lnSpc>
                <a:spcPct val="150000"/>
              </a:lnSpc>
            </a:pPr>
            <a:endParaRPr lang="zh-CN" altLang="en-US" sz="1200" dirty="0">
              <a:solidFill>
                <a:schemeClr val="tx1"/>
              </a:solidFill>
              <a:latin typeface="Times New Roman" panose="02020603050405020304" charset="0"/>
              <a:ea typeface="+mj-ea"/>
              <a:cs typeface="Times New Roman" panose="02020603050405020304" charset="0"/>
            </a:endParaRPr>
          </a:p>
          <a:p>
            <a:pPr>
              <a:lnSpc>
                <a:spcPct val="150000"/>
              </a:lnSpc>
            </a:pPr>
            <a:endParaRPr lang="zh-CN" altLang="en-US" sz="1200" dirty="0">
              <a:solidFill>
                <a:schemeClr val="tx1"/>
              </a:solidFill>
              <a:latin typeface="Times New Roman" panose="02020603050405020304" charset="0"/>
              <a:ea typeface="+mj-ea"/>
              <a:cs typeface="Times New Roman" panose="02020603050405020304" charset="0"/>
            </a:endParaRPr>
          </a:p>
          <a:p>
            <a:pPr indent="457200">
              <a:lnSpc>
                <a:spcPct val="150000"/>
              </a:lnSpc>
            </a:pPr>
            <a:endParaRPr lang="zh-CN" altLang="en-US" sz="1200" dirty="0">
              <a:solidFill>
                <a:schemeClr val="tx1"/>
              </a:solidFill>
              <a:latin typeface="Times New Roman" panose="02020603050405020304" charset="0"/>
              <a:ea typeface="+mj-ea"/>
              <a:cs typeface="Times New Roman" panose="02020603050405020304" charset="0"/>
            </a:endParaRPr>
          </a:p>
        </p:txBody>
      </p:sp>
      <p:pic>
        <p:nvPicPr>
          <p:cNvPr id="14" name="图片 13"/>
          <p:cNvPicPr>
            <a:picLocks noChangeAspect="1"/>
          </p:cNvPicPr>
          <p:nvPr/>
        </p:nvPicPr>
        <p:blipFill>
          <a:blip r:embed="rId4"/>
          <a:stretch>
            <a:fillRect/>
          </a:stretch>
        </p:blipFill>
        <p:spPr>
          <a:xfrm>
            <a:off x="7666355" y="1576705"/>
            <a:ext cx="3787775" cy="2129790"/>
          </a:xfrm>
          <a:prstGeom prst="rect">
            <a:avLst/>
          </a:prstGeom>
        </p:spPr>
      </p:pic>
      <p:sp>
        <p:nvSpPr>
          <p:cNvPr id="15" name="文本框 14"/>
          <p:cNvSpPr txBox="1"/>
          <p:nvPr/>
        </p:nvSpPr>
        <p:spPr>
          <a:xfrm>
            <a:off x="7531100" y="3811270"/>
            <a:ext cx="4058920" cy="2362835"/>
          </a:xfrm>
          <a:prstGeom prst="rect">
            <a:avLst/>
          </a:prstGeom>
          <a:noFill/>
        </p:spPr>
        <p:txBody>
          <a:bodyPr wrap="square" rtlCol="0" anchor="t">
            <a:noAutofit/>
          </a:bodyPr>
          <a:p>
            <a:pPr algn="just"/>
            <a:r>
              <a:rPr lang="zh-CN" altLang="en-US" sz="1600" spc="100" dirty="0">
                <a:solidFill>
                  <a:schemeClr val="bg1"/>
                </a:solidFill>
                <a:latin typeface="Times New Roman" panose="02020603050405020304" charset="0"/>
                <a:cs typeface="Times New Roman" panose="02020603050405020304" charset="0"/>
              </a:rPr>
              <a:t>One success story is Microsoft's launch of New Bing, a search engine based on large language model enhancements. It combines the advantages of large language models with traditional search engines to provide users with a more intelligent and personalized search experience, which greatly improves the efficiency of information retrieval.</a:t>
            </a:r>
            <a:endParaRPr lang="zh-CN" altLang="en-US" sz="1600" spc="100" dirty="0">
              <a:solidFill>
                <a:schemeClr val="bg1"/>
              </a:solidFill>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4462664" y="476226"/>
            <a:ext cx="3108960" cy="521970"/>
          </a:xfrm>
          <a:prstGeom prst="rect">
            <a:avLst/>
          </a:prstGeom>
          <a:noFill/>
        </p:spPr>
        <p:txBody>
          <a:bodyPr wrap="none" rtlCol="0" anchor="ctr">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pPr algn="l"/>
            <a:r>
              <a:rPr lang="en-US" altLang="zh-CN" sz="2800" dirty="0">
                <a:effectLst/>
                <a:latin typeface="Montserrat" panose="00000500000000000000" pitchFamily="2" charset="0"/>
                <a:sym typeface="HarmonyOS Sans SC Light" panose="00000400000000000000" pitchFamily="2" charset="-122"/>
              </a:rPr>
              <a:t>Computer vision</a:t>
            </a:r>
            <a:endParaRPr lang="en-US" altLang="zh-CN" sz="2800" dirty="0">
              <a:effectLst/>
              <a:latin typeface="Montserrat" panose="00000500000000000000" pitchFamily="2" charset="0"/>
            </a:endParaRPr>
          </a:p>
        </p:txBody>
      </p:sp>
      <p:cxnSp>
        <p:nvCxnSpPr>
          <p:cNvPr id="14" name="直接连接符 13"/>
          <p:cNvCxnSpPr/>
          <p:nvPr/>
        </p:nvCxnSpPr>
        <p:spPr>
          <a:xfrm>
            <a:off x="5857389" y="1111349"/>
            <a:ext cx="44974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6" name="矩形 65"/>
          <p:cNvSpPr/>
          <p:nvPr/>
        </p:nvSpPr>
        <p:spPr>
          <a:xfrm>
            <a:off x="4510405" y="1763395"/>
            <a:ext cx="7356475" cy="3890010"/>
          </a:xfrm>
          <a:prstGeom prst="rect">
            <a:avLst/>
          </a:prstGeom>
          <a:gradFill>
            <a:gsLst>
              <a:gs pos="7000">
                <a:schemeClr val="accent1"/>
              </a:gs>
              <a:gs pos="100000">
                <a:schemeClr val="accent2"/>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endParaRPr lang="zh-CN" altLang="en-US"/>
          </a:p>
        </p:txBody>
      </p:sp>
      <p:pic>
        <p:nvPicPr>
          <p:cNvPr id="2" name="图片 1"/>
          <p:cNvPicPr>
            <a:picLocks noChangeAspect="1"/>
          </p:cNvPicPr>
          <p:nvPr/>
        </p:nvPicPr>
        <p:blipFill>
          <a:blip r:embed="rId1"/>
          <a:stretch>
            <a:fillRect/>
          </a:stretch>
        </p:blipFill>
        <p:spPr>
          <a:xfrm>
            <a:off x="4719320" y="1908175"/>
            <a:ext cx="6987540" cy="3623945"/>
          </a:xfrm>
          <a:prstGeom prst="rect">
            <a:avLst/>
          </a:prstGeom>
          <a:ln>
            <a:solidFill>
              <a:schemeClr val="accent2">
                <a:lumMod val="60000"/>
                <a:lumOff val="40000"/>
              </a:schemeClr>
            </a:solidFill>
          </a:ln>
          <a:effectLst>
            <a:outerShdw blurRad="50800" dist="38100" dir="7800000" algn="t" rotWithShape="0">
              <a:schemeClr val="accent6">
                <a:alpha val="40000"/>
              </a:schemeClr>
            </a:outerShdw>
            <a:softEdge rad="76200"/>
          </a:effectLst>
        </p:spPr>
      </p:pic>
      <p:cxnSp>
        <p:nvCxnSpPr>
          <p:cNvPr id="15" name="直接连接符 14"/>
          <p:cNvCxnSpPr/>
          <p:nvPr/>
        </p:nvCxnSpPr>
        <p:spPr>
          <a:xfrm>
            <a:off x="298451" y="2176222"/>
            <a:ext cx="4071620" cy="88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298450" y="2651760"/>
            <a:ext cx="3846830" cy="2584450"/>
          </a:xfrm>
          <a:prstGeom prst="rect">
            <a:avLst/>
          </a:prstGeom>
          <a:noFill/>
        </p:spPr>
        <p:txBody>
          <a:bodyPr wrap="square" rtlCol="0" anchor="t">
            <a:spAutoFit/>
          </a:bodyPr>
          <a:p>
            <a:pPr indent="0" algn="just"/>
            <a:r>
              <a:rPr lang="zh-CN" altLang="en-US">
                <a:latin typeface="Times New Roman" panose="02020603050405020304" charset="0"/>
                <a:cs typeface="Times New Roman" panose="02020603050405020304" charset="0"/>
                <a:sym typeface="+mn-ea"/>
              </a:rPr>
              <a:t>Large language models have the ability to process multimodal information of images and texts. This allows them to not only understand texts but also analyze images and videos. This cross-modality capability improves the model's performance in understanding complex scenarios and generating descriptions.</a:t>
            </a:r>
            <a:endParaRPr lang="zh-CN" altLang="en-US">
              <a:latin typeface="Times New Roman" panose="02020603050405020304" charset="0"/>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圆角 49"/>
          <p:cNvSpPr/>
          <p:nvPr>
            <p:custDataLst>
              <p:tags r:id="rId1"/>
            </p:custDataLst>
          </p:nvPr>
        </p:nvSpPr>
        <p:spPr>
          <a:xfrm>
            <a:off x="1266190" y="1661160"/>
            <a:ext cx="4591050" cy="4742180"/>
          </a:xfrm>
          <a:prstGeom prst="roundRect">
            <a:avLst>
              <a:gd name="adj" fmla="val 6897"/>
            </a:avLst>
          </a:prstGeom>
          <a:gradFill>
            <a:gsLst>
              <a:gs pos="0">
                <a:schemeClr val="accent1">
                  <a:lumMod val="20000"/>
                  <a:lumOff val="80000"/>
                  <a:alpha val="0"/>
                </a:schemeClr>
              </a:gs>
              <a:gs pos="100000">
                <a:schemeClr val="accent1">
                  <a:lumMod val="20000"/>
                  <a:lumOff val="80000"/>
                  <a:alpha val="30000"/>
                </a:schemeClr>
              </a:gs>
            </a:gsLst>
            <a:lin ang="2700000" scaled="0"/>
          </a:gra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ym typeface="MiSans Normal" panose="00000500000000000000" pitchFamily="2" charset="-122"/>
            </a:endParaRPr>
          </a:p>
        </p:txBody>
      </p:sp>
      <p:sp>
        <p:nvSpPr>
          <p:cNvPr id="51" name="文本框 50"/>
          <p:cNvSpPr txBox="1"/>
          <p:nvPr>
            <p:custDataLst>
              <p:tags r:id="rId2"/>
            </p:custDataLst>
          </p:nvPr>
        </p:nvSpPr>
        <p:spPr>
          <a:xfrm>
            <a:off x="1474470" y="1688465"/>
            <a:ext cx="5040630"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Times New Roman" panose="02020603050405020304" charset="0"/>
                <a:ea typeface="+mj-ea"/>
                <a:cs typeface="Times New Roman" panose="02020603050405020304" charset="0"/>
                <a:sym typeface="HarmonyOS Sans SC Bold" panose="00000800000000000000" pitchFamily="2" charset="-122"/>
              </a:rPr>
              <a:t>Famous mathemat</a:t>
            </a:r>
            <a:r>
              <a:rPr kumimoji="0" lang="zh-CN" altLang="en-US" sz="2000" b="1" i="0" u="none" strike="noStrike" kern="1200" cap="none" spc="0" normalizeH="0" baseline="0" noProof="0" dirty="0">
                <a:ln>
                  <a:noFill/>
                </a:ln>
                <a:solidFill>
                  <a:schemeClr val="accent1"/>
                </a:solidFill>
                <a:effectLst/>
                <a:uLnTx/>
                <a:uFillTx/>
                <a:latin typeface="+mj-ea"/>
                <a:ea typeface="+mj-ea"/>
                <a:cs typeface="+mn-cs"/>
                <a:sym typeface="HarmonyOS Sans SC Bold" panose="00000800000000000000" pitchFamily="2" charset="-122"/>
              </a:rPr>
              <a:t>ician Tao Zhexuan</a:t>
            </a:r>
            <a:endParaRPr kumimoji="0" lang="zh-CN" altLang="en-US" sz="2000" b="1" i="0" u="none" strike="noStrike" kern="1200" cap="none" spc="0" normalizeH="0" baseline="0" noProof="0" dirty="0">
              <a:ln>
                <a:noFill/>
              </a:ln>
              <a:solidFill>
                <a:schemeClr val="accent1"/>
              </a:solidFill>
              <a:effectLst/>
              <a:uLnTx/>
              <a:uFillTx/>
              <a:latin typeface="+mj-ea"/>
              <a:ea typeface="+mj-ea"/>
              <a:cs typeface="+mn-cs"/>
              <a:sym typeface="HarmonyOS Sans SC Bold" panose="00000800000000000000" pitchFamily="2" charset="-122"/>
            </a:endParaRPr>
          </a:p>
        </p:txBody>
      </p:sp>
      <p:cxnSp>
        <p:nvCxnSpPr>
          <p:cNvPr id="53" name="直接连接符 52"/>
          <p:cNvCxnSpPr/>
          <p:nvPr>
            <p:custDataLst>
              <p:tags r:id="rId3"/>
            </p:custDataLst>
          </p:nvPr>
        </p:nvCxnSpPr>
        <p:spPr>
          <a:xfrm>
            <a:off x="2118360" y="2250440"/>
            <a:ext cx="3451860" cy="0"/>
          </a:xfrm>
          <a:prstGeom prst="line">
            <a:avLst/>
          </a:prstGeom>
          <a:ln w="1270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66" name="矩形: 圆角 65"/>
          <p:cNvSpPr/>
          <p:nvPr>
            <p:custDataLst>
              <p:tags r:id="rId4"/>
            </p:custDataLst>
          </p:nvPr>
        </p:nvSpPr>
        <p:spPr>
          <a:xfrm>
            <a:off x="919480" y="3494762"/>
            <a:ext cx="696238" cy="696238"/>
          </a:xfrm>
          <a:prstGeom prst="roundRect">
            <a:avLst/>
          </a:prstGeom>
          <a:gradFill>
            <a:gsLst>
              <a:gs pos="7000">
                <a:schemeClr val="accent1"/>
              </a:gs>
              <a:gs pos="100000">
                <a:schemeClr val="accent2"/>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cxnSp>
        <p:nvCxnSpPr>
          <p:cNvPr id="3" name="直接连接符 2"/>
          <p:cNvCxnSpPr/>
          <p:nvPr/>
        </p:nvCxnSpPr>
        <p:spPr>
          <a:xfrm>
            <a:off x="5857389" y="1111349"/>
            <a:ext cx="44974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5"/>
          <a:stretch>
            <a:fillRect/>
          </a:stretch>
        </p:blipFill>
        <p:spPr>
          <a:xfrm>
            <a:off x="1764030" y="2250440"/>
            <a:ext cx="3773805" cy="390271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9" name="矩形: 圆角 49"/>
          <p:cNvSpPr/>
          <p:nvPr>
            <p:custDataLst>
              <p:tags r:id="rId6"/>
            </p:custDataLst>
          </p:nvPr>
        </p:nvSpPr>
        <p:spPr>
          <a:xfrm>
            <a:off x="6738620" y="1661160"/>
            <a:ext cx="4591050" cy="4742180"/>
          </a:xfrm>
          <a:prstGeom prst="roundRect">
            <a:avLst>
              <a:gd name="adj" fmla="val 6897"/>
            </a:avLst>
          </a:prstGeom>
          <a:gradFill>
            <a:gsLst>
              <a:gs pos="0">
                <a:schemeClr val="accent1">
                  <a:lumMod val="20000"/>
                  <a:lumOff val="80000"/>
                  <a:alpha val="0"/>
                </a:schemeClr>
              </a:gs>
              <a:gs pos="100000">
                <a:schemeClr val="accent1">
                  <a:lumMod val="20000"/>
                  <a:lumOff val="80000"/>
                  <a:alpha val="30000"/>
                </a:schemeClr>
              </a:gs>
            </a:gsLst>
            <a:lin ang="2700000" scaled="0"/>
          </a:gra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Times New Roman" panose="02020603050405020304" charset="0"/>
              <a:cs typeface="Times New Roman" panose="02020603050405020304" charset="0"/>
              <a:sym typeface="MiSans Normal" panose="00000500000000000000" pitchFamily="2" charset="-122"/>
            </a:endParaRPr>
          </a:p>
        </p:txBody>
      </p:sp>
      <p:cxnSp>
        <p:nvCxnSpPr>
          <p:cNvPr id="10" name="直接连接符 9"/>
          <p:cNvCxnSpPr/>
          <p:nvPr>
            <p:custDataLst>
              <p:tags r:id="rId7"/>
            </p:custDataLst>
          </p:nvPr>
        </p:nvCxnSpPr>
        <p:spPr>
          <a:xfrm>
            <a:off x="1968500" y="2087245"/>
            <a:ext cx="3451860" cy="0"/>
          </a:xfrm>
          <a:prstGeom prst="line">
            <a:avLst/>
          </a:prstGeom>
          <a:ln w="1270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1" name="矩形: 圆角 65"/>
          <p:cNvSpPr/>
          <p:nvPr>
            <p:custDataLst>
              <p:tags r:id="rId8"/>
            </p:custDataLst>
          </p:nvPr>
        </p:nvSpPr>
        <p:spPr>
          <a:xfrm>
            <a:off x="6391910" y="3494762"/>
            <a:ext cx="696238" cy="696238"/>
          </a:xfrm>
          <a:prstGeom prst="roundRect">
            <a:avLst/>
          </a:prstGeom>
          <a:gradFill>
            <a:gsLst>
              <a:gs pos="7000">
                <a:schemeClr val="accent1"/>
              </a:gs>
              <a:gs pos="100000">
                <a:schemeClr val="accent2"/>
              </a:gs>
            </a:gsLst>
            <a:lin ang="18600000" scaled="0"/>
          </a:gra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endParaRPr lang="zh-CN" altLang="en-US"/>
          </a:p>
        </p:txBody>
      </p:sp>
      <p:sp>
        <p:nvSpPr>
          <p:cNvPr id="13" name="文本框 12"/>
          <p:cNvSpPr txBox="1"/>
          <p:nvPr/>
        </p:nvSpPr>
        <p:spPr>
          <a:xfrm>
            <a:off x="7087870" y="1868805"/>
            <a:ext cx="3925570" cy="4327525"/>
          </a:xfrm>
          <a:prstGeom prst="rect">
            <a:avLst/>
          </a:prstGeom>
          <a:noFill/>
        </p:spPr>
        <p:txBody>
          <a:bodyPr wrap="square" rtlCol="0" anchor="t">
            <a:noAutofit/>
          </a:bodyPr>
          <a:p>
            <a:pPr algn="just"/>
            <a:r>
              <a:rPr lang="zh-CN" altLang="en-US">
                <a:latin typeface="Times New Roman" panose="02020603050405020304" charset="0"/>
                <a:cs typeface="Times New Roman" panose="02020603050405020304" charset="0"/>
                <a:sym typeface="MiSans Normal" panose="00000500000000000000" pitchFamily="2" charset="-122"/>
              </a:rPr>
              <a:t>Large language models are widely used in a variety of disciplines such as mathematics, chemistry, physics, and biology. Tao Zhexuan, a well-known mathematician, has said that he has widely used large language models in his research to get inspiration for solving problems and write papers.</a:t>
            </a:r>
            <a:endParaRPr lang="zh-CN" altLang="en-US">
              <a:solidFill>
                <a:schemeClr val="tx1"/>
              </a:solidFill>
              <a:latin typeface="Times New Roman" panose="02020603050405020304" charset="0"/>
              <a:cs typeface="Times New Roman" panose="02020603050405020304" charset="0"/>
              <a:sym typeface="MiSans Normal" panose="00000500000000000000" pitchFamily="2" charset="-122"/>
            </a:endParaRPr>
          </a:p>
          <a:p>
            <a:pPr algn="just"/>
            <a:r>
              <a:rPr lang="zh-CN" altLang="en-US">
                <a:latin typeface="Times New Roman" panose="02020603050405020304" charset="0"/>
                <a:cs typeface="Times New Roman" panose="02020603050405020304" charset="0"/>
                <a:sym typeface="MiSans Normal" panose="00000500000000000000" pitchFamily="2" charset="-122"/>
              </a:rPr>
              <a:t>In areas such as new material discovery and biopharmaceuticals, large language models show great potential. Researchers use models to analyze literature, formulate hypotheses, and even generate experimental designs to accelerate scientific discovery.</a:t>
            </a:r>
            <a:endParaRPr lang="zh-CN" altLang="en-US">
              <a:latin typeface="Times New Roman" panose="02020603050405020304" charset="0"/>
              <a:cs typeface="Times New Roman" panose="02020603050405020304" charset="0"/>
              <a:sym typeface="MiSans Normal" panose="00000500000000000000" pitchFamily="2" charset="-122"/>
            </a:endParaRPr>
          </a:p>
        </p:txBody>
      </p:sp>
      <p:sp>
        <p:nvSpPr>
          <p:cNvPr id="15" name="文本框 14"/>
          <p:cNvSpPr txBox="1"/>
          <p:nvPr/>
        </p:nvSpPr>
        <p:spPr>
          <a:xfrm>
            <a:off x="5018289" y="476226"/>
            <a:ext cx="2127250" cy="521970"/>
          </a:xfrm>
          <a:prstGeom prst="rect">
            <a:avLst/>
          </a:prstGeom>
          <a:noFill/>
        </p:spPr>
        <p:txBody>
          <a:bodyPr wrap="none" rtlCol="0" anchor="ctr">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en-US" altLang="zh-CN" sz="2800" dirty="0">
                <a:effectLst/>
                <a:latin typeface="Montserrat" panose="00000500000000000000" pitchFamily="2" charset="0"/>
              </a:rPr>
              <a:t>AI4Science</a:t>
            </a:r>
            <a:endParaRPr lang="en-US" altLang="zh-CN" sz="2800" dirty="0">
              <a:effectLst/>
              <a:latin typeface="Montserrat" panose="00000500000000000000" pitchFamily="2"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cxnSp>
        <p:nvCxnSpPr>
          <p:cNvPr id="28" name="直接连接符 27"/>
          <p:cNvCxnSpPr/>
          <p:nvPr/>
        </p:nvCxnSpPr>
        <p:spPr>
          <a:xfrm>
            <a:off x="5857389" y="1036419"/>
            <a:ext cx="44974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7" name="Freeform 15" descr="D:\51PPT模板网\51pptmoban.com\图片.jpg"/>
          <p:cNvSpPr>
            <a:spLocks noEditPoints="1"/>
          </p:cNvSpPr>
          <p:nvPr>
            <p:custDataLst>
              <p:tags r:id="rId2"/>
            </p:custDataLst>
          </p:nvPr>
        </p:nvSpPr>
        <p:spPr bwMode="auto">
          <a:xfrm>
            <a:off x="5357232" y="1878226"/>
            <a:ext cx="665855" cy="665856"/>
          </a:xfrm>
          <a:custGeom>
            <a:avLst/>
            <a:gdLst>
              <a:gd name="T0" fmla="*/ 2204 w 2599"/>
              <a:gd name="T1" fmla="*/ 392 h 2595"/>
              <a:gd name="T2" fmla="*/ 1893 w 2599"/>
              <a:gd name="T3" fmla="*/ 233 h 2595"/>
              <a:gd name="T4" fmla="*/ 772 w 2599"/>
              <a:gd name="T5" fmla="*/ 165 h 2595"/>
              <a:gd name="T6" fmla="*/ 100 w 2599"/>
              <a:gd name="T7" fmla="*/ 838 h 2595"/>
              <a:gd name="T8" fmla="*/ 100 w 2599"/>
              <a:gd name="T9" fmla="*/ 1822 h 2595"/>
              <a:gd name="T10" fmla="*/ 772 w 2599"/>
              <a:gd name="T11" fmla="*/ 2495 h 2595"/>
              <a:gd name="T12" fmla="*/ 1757 w 2599"/>
              <a:gd name="T13" fmla="*/ 2495 h 2595"/>
              <a:gd name="T14" fmla="*/ 2430 w 2599"/>
              <a:gd name="T15" fmla="*/ 1822 h 2595"/>
              <a:gd name="T16" fmla="*/ 2364 w 2599"/>
              <a:gd name="T17" fmla="*/ 705 h 2595"/>
              <a:gd name="T18" fmla="*/ 1976 w 2599"/>
              <a:gd name="T19" fmla="*/ 1081 h 2595"/>
              <a:gd name="T20" fmla="*/ 2024 w 2599"/>
              <a:gd name="T21" fmla="*/ 1330 h 2595"/>
              <a:gd name="T22" fmla="*/ 1265 w 2599"/>
              <a:gd name="T23" fmla="*/ 2089 h 2595"/>
              <a:gd name="T24" fmla="*/ 506 w 2599"/>
              <a:gd name="T25" fmla="*/ 1330 h 2595"/>
              <a:gd name="T26" fmla="*/ 1265 w 2599"/>
              <a:gd name="T27" fmla="*/ 571 h 2595"/>
              <a:gd name="T28" fmla="*/ 1512 w 2599"/>
              <a:gd name="T29" fmla="*/ 613 h 2595"/>
              <a:gd name="T30" fmla="*/ 1523 w 2599"/>
              <a:gd name="T31" fmla="*/ 970 h 2595"/>
              <a:gd name="T32" fmla="*/ 822 w 2599"/>
              <a:gd name="T33" fmla="*/ 1329 h 2595"/>
              <a:gd name="T34" fmla="*/ 1707 w 2599"/>
              <a:gd name="T35" fmla="*/ 1329 h 2595"/>
              <a:gd name="T36" fmla="*/ 1669 w 2599"/>
              <a:gd name="T37" fmla="*/ 1014 h 2595"/>
              <a:gd name="T38" fmla="*/ 1580 w 2599"/>
              <a:gd name="T39" fmla="*/ 1330 h 2595"/>
              <a:gd name="T40" fmla="*/ 949 w 2599"/>
              <a:gd name="T41" fmla="*/ 1330 h 2595"/>
              <a:gd name="T42" fmla="*/ 1439 w 2599"/>
              <a:gd name="T43" fmla="*/ 1066 h 2595"/>
              <a:gd name="T44" fmla="*/ 1264 w 2599"/>
              <a:gd name="T45" fmla="*/ 1203 h 2595"/>
              <a:gd name="T46" fmla="*/ 1264 w 2599"/>
              <a:gd name="T47" fmla="*/ 1457 h 2595"/>
              <a:gd name="T48" fmla="*/ 1387 w 2599"/>
              <a:gd name="T49" fmla="*/ 1297 h 2595"/>
              <a:gd name="T50" fmla="*/ 1580 w 2599"/>
              <a:gd name="T51" fmla="*/ 1330 h 2595"/>
              <a:gd name="T52" fmla="*/ 1802 w 2599"/>
              <a:gd name="T53" fmla="*/ 502 h 2595"/>
              <a:gd name="T54" fmla="*/ 1916 w 2599"/>
              <a:gd name="T55" fmla="*/ 588 h 2595"/>
              <a:gd name="T56" fmla="*/ 1750 w 2599"/>
              <a:gd name="T57" fmla="*/ 555 h 2595"/>
              <a:gd name="T58" fmla="*/ 1682 w 2599"/>
              <a:gd name="T59" fmla="*/ 816 h 2595"/>
              <a:gd name="T60" fmla="*/ 1750 w 2599"/>
              <a:gd name="T61" fmla="*/ 555 h 2595"/>
              <a:gd name="T62" fmla="*/ 1936 w 2599"/>
              <a:gd name="T63" fmla="*/ 943 h 2595"/>
              <a:gd name="T64" fmla="*/ 1881 w 2599"/>
              <a:gd name="T65" fmla="*/ 802 h 2595"/>
              <a:gd name="T66" fmla="*/ 2021 w 2599"/>
              <a:gd name="T67" fmla="*/ 861 h 2595"/>
              <a:gd name="T68" fmla="*/ 1935 w 2599"/>
              <a:gd name="T69" fmla="*/ 749 h 2595"/>
              <a:gd name="T70" fmla="*/ 2177 w 2599"/>
              <a:gd name="T71" fmla="*/ 710 h 2595"/>
              <a:gd name="T72" fmla="*/ 2232 w 2599"/>
              <a:gd name="T73" fmla="*/ 656 h 2595"/>
              <a:gd name="T74" fmla="*/ 2159 w 2599"/>
              <a:gd name="T75" fmla="*/ 528 h 2595"/>
              <a:gd name="T76" fmla="*/ 2341 w 2599"/>
              <a:gd name="T77" fmla="*/ 551 h 2595"/>
              <a:gd name="T78" fmla="*/ 2081 w 2599"/>
              <a:gd name="T79" fmla="*/ 424 h 2595"/>
              <a:gd name="T80" fmla="*/ 1928 w 2599"/>
              <a:gd name="T81" fmla="*/ 376 h 2595"/>
              <a:gd name="T82" fmla="*/ 2081 w 2599"/>
              <a:gd name="T83" fmla="*/ 424 h 2595"/>
              <a:gd name="T84" fmla="*/ 2069 w 2599"/>
              <a:gd name="T85" fmla="*/ 2134 h 2595"/>
              <a:gd name="T86" fmla="*/ 460 w 2599"/>
              <a:gd name="T87" fmla="*/ 2134 h 2595"/>
              <a:gd name="T88" fmla="*/ 460 w 2599"/>
              <a:gd name="T89" fmla="*/ 525 h 2595"/>
              <a:gd name="T90" fmla="*/ 1800 w 2599"/>
              <a:gd name="T91" fmla="*/ 325 h 2595"/>
              <a:gd name="T92" fmla="*/ 1265 w 2599"/>
              <a:gd name="T93" fmla="*/ 444 h 2595"/>
              <a:gd name="T94" fmla="*/ 380 w 2599"/>
              <a:gd name="T95" fmla="*/ 1329 h 2595"/>
              <a:gd name="T96" fmla="*/ 1265 w 2599"/>
              <a:gd name="T97" fmla="*/ 2214 h 2595"/>
              <a:gd name="T98" fmla="*/ 2150 w 2599"/>
              <a:gd name="T99" fmla="*/ 1329 h 2595"/>
              <a:gd name="T100" fmla="*/ 2269 w 2599"/>
              <a:gd name="T101" fmla="*/ 796 h 2595"/>
              <a:gd name="T102" fmla="*/ 2403 w 2599"/>
              <a:gd name="T103" fmla="*/ 1330 h 2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99" h="2595">
                <a:moveTo>
                  <a:pt x="2599" y="477"/>
                </a:moveTo>
                <a:cubicBezTo>
                  <a:pt x="2204" y="392"/>
                  <a:pt x="2204" y="392"/>
                  <a:pt x="2204" y="392"/>
                </a:cubicBezTo>
                <a:cubicBezTo>
                  <a:pt x="2126" y="0"/>
                  <a:pt x="2126" y="0"/>
                  <a:pt x="2126" y="0"/>
                </a:cubicBezTo>
                <a:cubicBezTo>
                  <a:pt x="1893" y="233"/>
                  <a:pt x="1893" y="233"/>
                  <a:pt x="1893" y="233"/>
                </a:cubicBezTo>
                <a:cubicBezTo>
                  <a:pt x="1703" y="123"/>
                  <a:pt x="1487" y="65"/>
                  <a:pt x="1265" y="65"/>
                </a:cubicBezTo>
                <a:cubicBezTo>
                  <a:pt x="1094" y="65"/>
                  <a:pt x="928" y="99"/>
                  <a:pt x="772" y="165"/>
                </a:cubicBezTo>
                <a:cubicBezTo>
                  <a:pt x="622" y="228"/>
                  <a:pt x="487" y="320"/>
                  <a:pt x="371" y="436"/>
                </a:cubicBezTo>
                <a:cubicBezTo>
                  <a:pt x="254" y="552"/>
                  <a:pt x="163" y="687"/>
                  <a:pt x="100" y="838"/>
                </a:cubicBezTo>
                <a:cubicBezTo>
                  <a:pt x="34" y="994"/>
                  <a:pt x="0" y="1159"/>
                  <a:pt x="0" y="1330"/>
                </a:cubicBezTo>
                <a:cubicBezTo>
                  <a:pt x="0" y="1500"/>
                  <a:pt x="34" y="1666"/>
                  <a:pt x="100" y="1822"/>
                </a:cubicBezTo>
                <a:cubicBezTo>
                  <a:pt x="163" y="1973"/>
                  <a:pt x="254" y="2108"/>
                  <a:pt x="371" y="2224"/>
                </a:cubicBezTo>
                <a:cubicBezTo>
                  <a:pt x="487" y="2340"/>
                  <a:pt x="622" y="2431"/>
                  <a:pt x="772" y="2495"/>
                </a:cubicBezTo>
                <a:cubicBezTo>
                  <a:pt x="928" y="2561"/>
                  <a:pt x="1094" y="2595"/>
                  <a:pt x="1265" y="2595"/>
                </a:cubicBezTo>
                <a:cubicBezTo>
                  <a:pt x="1435" y="2595"/>
                  <a:pt x="1601" y="2561"/>
                  <a:pt x="1757" y="2495"/>
                </a:cubicBezTo>
                <a:cubicBezTo>
                  <a:pt x="1908" y="2431"/>
                  <a:pt x="2043" y="2340"/>
                  <a:pt x="2159" y="2224"/>
                </a:cubicBezTo>
                <a:cubicBezTo>
                  <a:pt x="2275" y="2108"/>
                  <a:pt x="2366" y="1973"/>
                  <a:pt x="2430" y="1822"/>
                </a:cubicBezTo>
                <a:cubicBezTo>
                  <a:pt x="2496" y="1666"/>
                  <a:pt x="2529" y="1500"/>
                  <a:pt x="2529" y="1330"/>
                </a:cubicBezTo>
                <a:cubicBezTo>
                  <a:pt x="2529" y="1109"/>
                  <a:pt x="2472" y="894"/>
                  <a:pt x="2364" y="705"/>
                </a:cubicBezTo>
                <a:lnTo>
                  <a:pt x="2599" y="477"/>
                </a:lnTo>
                <a:close/>
                <a:moveTo>
                  <a:pt x="1976" y="1081"/>
                </a:moveTo>
                <a:cubicBezTo>
                  <a:pt x="1980" y="1076"/>
                  <a:pt x="1980" y="1076"/>
                  <a:pt x="1980" y="1076"/>
                </a:cubicBezTo>
                <a:cubicBezTo>
                  <a:pt x="2009" y="1157"/>
                  <a:pt x="2024" y="1242"/>
                  <a:pt x="2024" y="1330"/>
                </a:cubicBezTo>
                <a:cubicBezTo>
                  <a:pt x="2024" y="1532"/>
                  <a:pt x="1945" y="1723"/>
                  <a:pt x="1801" y="1866"/>
                </a:cubicBezTo>
                <a:cubicBezTo>
                  <a:pt x="1658" y="2010"/>
                  <a:pt x="1468" y="2089"/>
                  <a:pt x="1265" y="2089"/>
                </a:cubicBezTo>
                <a:cubicBezTo>
                  <a:pt x="1062" y="2089"/>
                  <a:pt x="871" y="2010"/>
                  <a:pt x="728" y="1866"/>
                </a:cubicBezTo>
                <a:cubicBezTo>
                  <a:pt x="585" y="1723"/>
                  <a:pt x="506" y="1532"/>
                  <a:pt x="506" y="1330"/>
                </a:cubicBezTo>
                <a:cubicBezTo>
                  <a:pt x="506" y="1127"/>
                  <a:pt x="585" y="936"/>
                  <a:pt x="728" y="793"/>
                </a:cubicBezTo>
                <a:cubicBezTo>
                  <a:pt x="871" y="650"/>
                  <a:pt x="1062" y="571"/>
                  <a:pt x="1265" y="571"/>
                </a:cubicBezTo>
                <a:cubicBezTo>
                  <a:pt x="1351" y="571"/>
                  <a:pt x="1434" y="585"/>
                  <a:pt x="1513" y="612"/>
                </a:cubicBezTo>
                <a:cubicBezTo>
                  <a:pt x="1512" y="613"/>
                  <a:pt x="1512" y="613"/>
                  <a:pt x="1512" y="613"/>
                </a:cubicBezTo>
                <a:cubicBezTo>
                  <a:pt x="1574" y="920"/>
                  <a:pt x="1574" y="920"/>
                  <a:pt x="1574" y="920"/>
                </a:cubicBezTo>
                <a:cubicBezTo>
                  <a:pt x="1523" y="970"/>
                  <a:pt x="1523" y="970"/>
                  <a:pt x="1523" y="970"/>
                </a:cubicBezTo>
                <a:cubicBezTo>
                  <a:pt x="1450" y="918"/>
                  <a:pt x="1361" y="887"/>
                  <a:pt x="1265" y="887"/>
                </a:cubicBezTo>
                <a:cubicBezTo>
                  <a:pt x="1021" y="887"/>
                  <a:pt x="822" y="1085"/>
                  <a:pt x="822" y="1329"/>
                </a:cubicBezTo>
                <a:cubicBezTo>
                  <a:pt x="822" y="1573"/>
                  <a:pt x="1020" y="1772"/>
                  <a:pt x="1265" y="1772"/>
                </a:cubicBezTo>
                <a:cubicBezTo>
                  <a:pt x="1509" y="1772"/>
                  <a:pt x="1707" y="1573"/>
                  <a:pt x="1707" y="1329"/>
                </a:cubicBezTo>
                <a:cubicBezTo>
                  <a:pt x="1707" y="1230"/>
                  <a:pt x="1675" y="1139"/>
                  <a:pt x="1619" y="1065"/>
                </a:cubicBezTo>
                <a:cubicBezTo>
                  <a:pt x="1669" y="1014"/>
                  <a:pt x="1669" y="1014"/>
                  <a:pt x="1669" y="1014"/>
                </a:cubicBezTo>
                <a:lnTo>
                  <a:pt x="1976" y="1081"/>
                </a:lnTo>
                <a:close/>
                <a:moveTo>
                  <a:pt x="1580" y="1330"/>
                </a:moveTo>
                <a:cubicBezTo>
                  <a:pt x="1580" y="1504"/>
                  <a:pt x="1439" y="1645"/>
                  <a:pt x="1265" y="1645"/>
                </a:cubicBezTo>
                <a:cubicBezTo>
                  <a:pt x="1091" y="1645"/>
                  <a:pt x="949" y="1504"/>
                  <a:pt x="949" y="1330"/>
                </a:cubicBezTo>
                <a:cubicBezTo>
                  <a:pt x="949" y="1156"/>
                  <a:pt x="1091" y="1014"/>
                  <a:pt x="1265" y="1014"/>
                </a:cubicBezTo>
                <a:cubicBezTo>
                  <a:pt x="1329" y="1014"/>
                  <a:pt x="1389" y="1033"/>
                  <a:pt x="1439" y="1066"/>
                </a:cubicBezTo>
                <a:cubicBezTo>
                  <a:pt x="1297" y="1208"/>
                  <a:pt x="1297" y="1208"/>
                  <a:pt x="1297" y="1208"/>
                </a:cubicBezTo>
                <a:cubicBezTo>
                  <a:pt x="1287" y="1205"/>
                  <a:pt x="1276" y="1203"/>
                  <a:pt x="1264" y="1203"/>
                </a:cubicBezTo>
                <a:cubicBezTo>
                  <a:pt x="1195" y="1203"/>
                  <a:pt x="1138" y="1260"/>
                  <a:pt x="1138" y="1330"/>
                </a:cubicBezTo>
                <a:cubicBezTo>
                  <a:pt x="1138" y="1400"/>
                  <a:pt x="1194" y="1457"/>
                  <a:pt x="1264" y="1457"/>
                </a:cubicBezTo>
                <a:cubicBezTo>
                  <a:pt x="1334" y="1457"/>
                  <a:pt x="1391" y="1399"/>
                  <a:pt x="1391" y="1330"/>
                </a:cubicBezTo>
                <a:cubicBezTo>
                  <a:pt x="1391" y="1318"/>
                  <a:pt x="1390" y="1307"/>
                  <a:pt x="1387" y="1297"/>
                </a:cubicBezTo>
                <a:cubicBezTo>
                  <a:pt x="1528" y="1155"/>
                  <a:pt x="1528" y="1155"/>
                  <a:pt x="1528" y="1155"/>
                </a:cubicBezTo>
                <a:cubicBezTo>
                  <a:pt x="1561" y="1205"/>
                  <a:pt x="1580" y="1265"/>
                  <a:pt x="1580" y="1330"/>
                </a:cubicBezTo>
                <a:close/>
                <a:moveTo>
                  <a:pt x="1841" y="661"/>
                </a:moveTo>
                <a:cubicBezTo>
                  <a:pt x="1802" y="502"/>
                  <a:pt x="1802" y="502"/>
                  <a:pt x="1802" y="502"/>
                </a:cubicBezTo>
                <a:cubicBezTo>
                  <a:pt x="1876" y="428"/>
                  <a:pt x="1876" y="428"/>
                  <a:pt x="1876" y="428"/>
                </a:cubicBezTo>
                <a:cubicBezTo>
                  <a:pt x="1916" y="588"/>
                  <a:pt x="1916" y="588"/>
                  <a:pt x="1916" y="588"/>
                </a:cubicBezTo>
                <a:lnTo>
                  <a:pt x="1841" y="661"/>
                </a:lnTo>
                <a:close/>
                <a:moveTo>
                  <a:pt x="1750" y="555"/>
                </a:moveTo>
                <a:cubicBezTo>
                  <a:pt x="1789" y="712"/>
                  <a:pt x="1789" y="712"/>
                  <a:pt x="1789" y="712"/>
                </a:cubicBezTo>
                <a:cubicBezTo>
                  <a:pt x="1682" y="816"/>
                  <a:pt x="1682" y="816"/>
                  <a:pt x="1682" y="816"/>
                </a:cubicBezTo>
                <a:cubicBezTo>
                  <a:pt x="1649" y="655"/>
                  <a:pt x="1649" y="655"/>
                  <a:pt x="1649" y="655"/>
                </a:cubicBezTo>
                <a:lnTo>
                  <a:pt x="1750" y="555"/>
                </a:lnTo>
                <a:close/>
                <a:moveTo>
                  <a:pt x="2021" y="861"/>
                </a:moveTo>
                <a:cubicBezTo>
                  <a:pt x="1936" y="943"/>
                  <a:pt x="1936" y="943"/>
                  <a:pt x="1936" y="943"/>
                </a:cubicBezTo>
                <a:cubicBezTo>
                  <a:pt x="1775" y="908"/>
                  <a:pt x="1775" y="908"/>
                  <a:pt x="1775" y="908"/>
                </a:cubicBezTo>
                <a:cubicBezTo>
                  <a:pt x="1881" y="802"/>
                  <a:pt x="1881" y="802"/>
                  <a:pt x="1881" y="802"/>
                </a:cubicBezTo>
                <a:cubicBezTo>
                  <a:pt x="2047" y="835"/>
                  <a:pt x="2047" y="835"/>
                  <a:pt x="2047" y="835"/>
                </a:cubicBezTo>
                <a:lnTo>
                  <a:pt x="2021" y="861"/>
                </a:lnTo>
                <a:close/>
                <a:moveTo>
                  <a:pt x="2102" y="782"/>
                </a:moveTo>
                <a:cubicBezTo>
                  <a:pt x="1935" y="749"/>
                  <a:pt x="1935" y="749"/>
                  <a:pt x="1935" y="749"/>
                </a:cubicBezTo>
                <a:cubicBezTo>
                  <a:pt x="2008" y="676"/>
                  <a:pt x="2008" y="676"/>
                  <a:pt x="2008" y="676"/>
                </a:cubicBezTo>
                <a:cubicBezTo>
                  <a:pt x="2177" y="710"/>
                  <a:pt x="2177" y="710"/>
                  <a:pt x="2177" y="710"/>
                </a:cubicBezTo>
                <a:lnTo>
                  <a:pt x="2102" y="782"/>
                </a:lnTo>
                <a:close/>
                <a:moveTo>
                  <a:pt x="2232" y="656"/>
                </a:moveTo>
                <a:cubicBezTo>
                  <a:pt x="2062" y="622"/>
                  <a:pt x="2062" y="622"/>
                  <a:pt x="2062" y="622"/>
                </a:cubicBezTo>
                <a:cubicBezTo>
                  <a:pt x="2159" y="528"/>
                  <a:pt x="2159" y="528"/>
                  <a:pt x="2159" y="528"/>
                </a:cubicBezTo>
                <a:cubicBezTo>
                  <a:pt x="2174" y="515"/>
                  <a:pt x="2174" y="515"/>
                  <a:pt x="2174" y="515"/>
                </a:cubicBezTo>
                <a:cubicBezTo>
                  <a:pt x="2341" y="551"/>
                  <a:pt x="2341" y="551"/>
                  <a:pt x="2341" y="551"/>
                </a:cubicBezTo>
                <a:lnTo>
                  <a:pt x="2232" y="656"/>
                </a:lnTo>
                <a:close/>
                <a:moveTo>
                  <a:pt x="2081" y="424"/>
                </a:moveTo>
                <a:cubicBezTo>
                  <a:pt x="1968" y="537"/>
                  <a:pt x="1968" y="537"/>
                  <a:pt x="1968" y="537"/>
                </a:cubicBezTo>
                <a:cubicBezTo>
                  <a:pt x="1928" y="376"/>
                  <a:pt x="1928" y="376"/>
                  <a:pt x="1928" y="376"/>
                </a:cubicBezTo>
                <a:cubicBezTo>
                  <a:pt x="2048" y="256"/>
                  <a:pt x="2048" y="256"/>
                  <a:pt x="2048" y="256"/>
                </a:cubicBezTo>
                <a:lnTo>
                  <a:pt x="2081" y="424"/>
                </a:lnTo>
                <a:close/>
                <a:moveTo>
                  <a:pt x="2403" y="1330"/>
                </a:moveTo>
                <a:cubicBezTo>
                  <a:pt x="2403" y="1634"/>
                  <a:pt x="2284" y="1919"/>
                  <a:pt x="2069" y="2134"/>
                </a:cubicBezTo>
                <a:cubicBezTo>
                  <a:pt x="1854" y="2349"/>
                  <a:pt x="1569" y="2468"/>
                  <a:pt x="1265" y="2468"/>
                </a:cubicBezTo>
                <a:cubicBezTo>
                  <a:pt x="961" y="2468"/>
                  <a:pt x="675" y="2349"/>
                  <a:pt x="460" y="2134"/>
                </a:cubicBezTo>
                <a:cubicBezTo>
                  <a:pt x="245" y="1919"/>
                  <a:pt x="127" y="1634"/>
                  <a:pt x="127" y="1330"/>
                </a:cubicBezTo>
                <a:cubicBezTo>
                  <a:pt x="127" y="1026"/>
                  <a:pt x="245" y="740"/>
                  <a:pt x="460" y="525"/>
                </a:cubicBezTo>
                <a:cubicBezTo>
                  <a:pt x="675" y="310"/>
                  <a:pt x="961" y="191"/>
                  <a:pt x="1265" y="191"/>
                </a:cubicBezTo>
                <a:cubicBezTo>
                  <a:pt x="1454" y="191"/>
                  <a:pt x="1637" y="237"/>
                  <a:pt x="1800" y="325"/>
                </a:cubicBezTo>
                <a:cubicBezTo>
                  <a:pt x="1611" y="515"/>
                  <a:pt x="1611" y="515"/>
                  <a:pt x="1611" y="515"/>
                </a:cubicBezTo>
                <a:cubicBezTo>
                  <a:pt x="1502" y="468"/>
                  <a:pt x="1386" y="444"/>
                  <a:pt x="1265" y="444"/>
                </a:cubicBezTo>
                <a:cubicBezTo>
                  <a:pt x="1028" y="444"/>
                  <a:pt x="806" y="536"/>
                  <a:pt x="639" y="703"/>
                </a:cubicBezTo>
                <a:cubicBezTo>
                  <a:pt x="472" y="870"/>
                  <a:pt x="380" y="1093"/>
                  <a:pt x="380" y="1329"/>
                </a:cubicBezTo>
                <a:cubicBezTo>
                  <a:pt x="380" y="1566"/>
                  <a:pt x="472" y="1788"/>
                  <a:pt x="639" y="1955"/>
                </a:cubicBezTo>
                <a:cubicBezTo>
                  <a:pt x="806" y="2122"/>
                  <a:pt x="1028" y="2214"/>
                  <a:pt x="1265" y="2214"/>
                </a:cubicBezTo>
                <a:cubicBezTo>
                  <a:pt x="1501" y="2214"/>
                  <a:pt x="1724" y="2122"/>
                  <a:pt x="1891" y="1955"/>
                </a:cubicBezTo>
                <a:cubicBezTo>
                  <a:pt x="2058" y="1788"/>
                  <a:pt x="2150" y="1566"/>
                  <a:pt x="2150" y="1329"/>
                </a:cubicBezTo>
                <a:cubicBezTo>
                  <a:pt x="2150" y="1208"/>
                  <a:pt x="2126" y="1091"/>
                  <a:pt x="2078" y="981"/>
                </a:cubicBezTo>
                <a:cubicBezTo>
                  <a:pt x="2269" y="796"/>
                  <a:pt x="2269" y="796"/>
                  <a:pt x="2269" y="796"/>
                </a:cubicBezTo>
                <a:cubicBezTo>
                  <a:pt x="2357" y="959"/>
                  <a:pt x="2403" y="1142"/>
                  <a:pt x="2403" y="1330"/>
                </a:cubicBezTo>
                <a:close/>
                <a:moveTo>
                  <a:pt x="2403" y="1330"/>
                </a:moveTo>
                <a:cubicBezTo>
                  <a:pt x="2403" y="1330"/>
                  <a:pt x="2403" y="1330"/>
                  <a:pt x="2403" y="1330"/>
                </a:cubicBezTo>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47" name="组合 46"/>
          <p:cNvGrpSpPr/>
          <p:nvPr>
            <p:custDataLst>
              <p:tags r:id="rId3"/>
            </p:custDataLst>
          </p:nvPr>
        </p:nvGrpSpPr>
        <p:grpSpPr>
          <a:xfrm>
            <a:off x="4575002" y="2873365"/>
            <a:ext cx="2235567" cy="1047355"/>
            <a:chOff x="206009" y="1906534"/>
            <a:chExt cx="2235567" cy="1047355"/>
          </a:xfrm>
        </p:grpSpPr>
        <p:sp>
          <p:nvSpPr>
            <p:cNvPr id="48" name="文本框 47"/>
            <p:cNvSpPr txBox="1"/>
            <p:nvPr>
              <p:custDataLst>
                <p:tags r:id="rId4"/>
              </p:custDataLst>
            </p:nvPr>
          </p:nvSpPr>
          <p:spPr>
            <a:xfrm>
              <a:off x="283599" y="2190603"/>
              <a:ext cx="2080388" cy="763286"/>
            </a:xfrm>
            <a:prstGeom prst="rect">
              <a:avLst/>
            </a:prstGeom>
            <a:noFill/>
          </p:spPr>
          <p:txBody>
            <a:bodyPr wrap="square">
              <a:spAutoFit/>
            </a:bodyPr>
            <a:lstStyle>
              <a:defPPr>
                <a:defRPr lang="zh-CN"/>
              </a:defPPr>
              <a:lvl1pPr>
                <a:lnSpc>
                  <a:spcPct val="150000"/>
                </a:lnSpc>
                <a:defRPr sz="105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ctr"/>
              <a:r>
                <a:rPr lang="zh-CN" altLang="en-US" sz="1000" dirty="0">
                  <a:solidFill>
                    <a:schemeClr val="bg1"/>
                  </a:solidFill>
                  <a:sym typeface="HarmonyOS Sans SC Light" panose="00000400000000000000" pitchFamily="2" charset="-122"/>
                </a:rPr>
                <a:t>根据自己的需要添加适当的文字，此处添加详细文本描述，建议与标题相关尽量简洁</a:t>
              </a:r>
              <a:r>
                <a:rPr lang="en-US" altLang="zh-CN" sz="1000" dirty="0">
                  <a:solidFill>
                    <a:schemeClr val="bg1"/>
                  </a:solidFill>
                  <a:sym typeface="HarmonyOS Sans SC Light" panose="00000400000000000000" pitchFamily="2" charset="-122"/>
                </a:rPr>
                <a:t>... ...</a:t>
              </a:r>
              <a:endParaRPr lang="en-US" altLang="zh-CN" sz="1000" dirty="0">
                <a:solidFill>
                  <a:schemeClr val="bg1"/>
                </a:solidFill>
                <a:sym typeface="HarmonyOS Sans SC Light" panose="00000400000000000000" pitchFamily="2" charset="-122"/>
              </a:endParaRPr>
            </a:p>
          </p:txBody>
        </p:sp>
        <p:sp>
          <p:nvSpPr>
            <p:cNvPr id="49" name="文本框 48"/>
            <p:cNvSpPr txBox="1"/>
            <p:nvPr>
              <p:custDataLst>
                <p:tags r:id="rId5"/>
              </p:custDataLst>
            </p:nvPr>
          </p:nvSpPr>
          <p:spPr>
            <a:xfrm>
              <a:off x="206009" y="1906534"/>
              <a:ext cx="2235567" cy="338554"/>
            </a:xfrm>
            <a:prstGeom prst="rect">
              <a:avLst/>
            </a:prstGeom>
            <a:noFill/>
          </p:spPr>
          <p:txBody>
            <a:bodyPr wrap="square" rtlCol="0">
              <a:spAutoFit/>
            </a:bodyPr>
            <a:lstStyle>
              <a:defPPr>
                <a:defRPr lang="zh-CN"/>
              </a:defPPr>
              <a:lvl1pPr>
                <a:defRPr sz="1600" b="1">
                  <a:solidFill>
                    <a:schemeClr val="tx1">
                      <a:lumMod val="95000"/>
                      <a:lumOff val="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ctr"/>
              <a:r>
                <a:rPr lang="zh-CN" altLang="en-US" dirty="0">
                  <a:solidFill>
                    <a:schemeClr val="bg1"/>
                  </a:solidFill>
                  <a:sym typeface="HarmonyOS Sans SC Light" panose="00000400000000000000" pitchFamily="2" charset="-122"/>
                </a:rPr>
                <a:t>添加标题文本</a:t>
              </a:r>
              <a:endParaRPr lang="zh-CN" altLang="en-US" dirty="0">
                <a:solidFill>
                  <a:schemeClr val="bg1"/>
                </a:solidFill>
                <a:sym typeface="HarmonyOS Sans SC Light" panose="00000400000000000000" pitchFamily="2" charset="-122"/>
              </a:endParaRPr>
            </a:p>
          </p:txBody>
        </p:sp>
      </p:grpSp>
      <p:pic>
        <p:nvPicPr>
          <p:cNvPr id="2" name="图片 1"/>
          <p:cNvPicPr>
            <a:picLocks noChangeAspect="1"/>
          </p:cNvPicPr>
          <p:nvPr/>
        </p:nvPicPr>
        <p:blipFill>
          <a:blip r:embed="rId6"/>
          <a:stretch>
            <a:fillRect/>
          </a:stretch>
        </p:blipFill>
        <p:spPr>
          <a:xfrm>
            <a:off x="2041525" y="1262380"/>
            <a:ext cx="7766050" cy="319405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3" name="文本框 2"/>
          <p:cNvSpPr txBox="1"/>
          <p:nvPr/>
        </p:nvSpPr>
        <p:spPr>
          <a:xfrm>
            <a:off x="5018289" y="476226"/>
            <a:ext cx="2127250" cy="521970"/>
          </a:xfrm>
          <a:prstGeom prst="rect">
            <a:avLst/>
          </a:prstGeom>
          <a:noFill/>
        </p:spPr>
        <p:txBody>
          <a:bodyPr wrap="none" rtlCol="0" anchor="ctr">
            <a:spAutoFit/>
          </a:bodyPr>
          <a:lstStyle>
            <a:defPPr>
              <a:defRPr lang="zh-CN"/>
            </a:defPPr>
            <a:lvl1pPr>
              <a:defRPr sz="96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en-US" altLang="zh-CN" sz="2800" dirty="0">
                <a:effectLst/>
                <a:latin typeface="Montserrat" panose="00000500000000000000" pitchFamily="2" charset="0"/>
              </a:rPr>
              <a:t>AI4Science</a:t>
            </a:r>
            <a:endParaRPr lang="en-US" altLang="zh-CN" sz="2800" dirty="0">
              <a:effectLst/>
              <a:latin typeface="Montserrat" panose="00000500000000000000" pitchFamily="2" charset="0"/>
            </a:endParaRPr>
          </a:p>
        </p:txBody>
      </p:sp>
      <p:cxnSp>
        <p:nvCxnSpPr>
          <p:cNvPr id="10" name="直接连接符 9"/>
          <p:cNvCxnSpPr/>
          <p:nvPr/>
        </p:nvCxnSpPr>
        <p:spPr>
          <a:xfrm>
            <a:off x="2041526" y="4682567"/>
            <a:ext cx="7748905" cy="254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2041525" y="4869815"/>
            <a:ext cx="7748905" cy="1322070"/>
          </a:xfrm>
          <a:prstGeom prst="rect">
            <a:avLst/>
          </a:prstGeom>
        </p:spPr>
        <p:txBody>
          <a:bodyPr wrap="square">
            <a:spAutoFit/>
          </a:bodyPr>
          <a:p>
            <a:pPr marL="0" indent="0" algn="just"/>
            <a:r>
              <a:rPr lang="en-US" altLang="zh-CN" sz="1600" b="0" i="0">
                <a:solidFill>
                  <a:srgbClr val="333333"/>
                </a:solidFill>
                <a:latin typeface="Times New Roman" panose="02020603050405020304" charset="0"/>
                <a:ea typeface="v-sans"/>
                <a:cs typeface="Times New Roman" panose="02020603050405020304" charset="0"/>
              </a:rPr>
              <a:t>The 2024 Nobel Prize in Chemistry illustrates the synergy between computational methods in protein research and large language models. LLMs enhance data processing and pattern recognition, which can improve predictive models in chemistry, facilitate interdisciplinary collaboration, and support drug discovery by analyzing molecular interactions and synthesizing relevant scientific knowledge. </a:t>
            </a:r>
            <a:endParaRPr lang="en-US" altLang="zh-CN" sz="1600" b="0" i="0">
              <a:solidFill>
                <a:srgbClr val="333333"/>
              </a:solidFill>
              <a:latin typeface="Times New Roman" panose="02020603050405020304" charset="0"/>
              <a:ea typeface="v-sans"/>
              <a:cs typeface="Times New Roman" panose="02020603050405020304" charset="0"/>
            </a:endParaRPr>
          </a:p>
        </p:txBody>
      </p:sp>
      <p:sp>
        <p:nvSpPr>
          <p:cNvPr id="24" name="矩形: 圆角 23"/>
          <p:cNvSpPr/>
          <p:nvPr/>
        </p:nvSpPr>
        <p:spPr>
          <a:xfrm>
            <a:off x="10512402" y="1878418"/>
            <a:ext cx="217332" cy="4068606"/>
          </a:xfrm>
          <a:prstGeom prst="roundRect">
            <a:avLst>
              <a:gd name="adj" fmla="val 50000"/>
            </a:avLst>
          </a:prstGeom>
          <a:gradFill>
            <a:gsLst>
              <a:gs pos="0">
                <a:srgbClr val="5082FF"/>
              </a:gs>
              <a:gs pos="100000">
                <a:srgbClr val="A5D2FF">
                  <a:alpha val="0"/>
                </a:srgbClr>
              </a:gs>
            </a:gsLst>
            <a:lin ang="5400000" scaled="1"/>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b="1"/>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88210" y="3047365"/>
            <a:ext cx="7921625" cy="922020"/>
          </a:xfrm>
          <a:prstGeom prst="rect">
            <a:avLst/>
          </a:prstGeom>
          <a:noFill/>
        </p:spPr>
        <p:txBody>
          <a:bodyPr wrap="square" rtlCol="0">
            <a:spAutoFit/>
          </a:bodyPr>
          <a:lstStyle/>
          <a:p>
            <a:pPr algn="ctr"/>
            <a:r>
              <a:rPr lang="en-US" altLang="zh-CN" sz="5400" spc="300" dirty="0">
                <a:solidFill>
                  <a:schemeClr val="bg1"/>
                </a:solidFill>
                <a:latin typeface="+mj-lt"/>
              </a:rPr>
              <a:t>Thanks for listening</a:t>
            </a:r>
            <a:endParaRPr lang="en-US" altLang="zh-CN" sz="5400" spc="300" dirty="0">
              <a:solidFill>
                <a:schemeClr val="bg1"/>
              </a:solidFill>
              <a:latin typeface="+mj-lt"/>
            </a:endParaRPr>
          </a:p>
        </p:txBody>
      </p:sp>
      <p:cxnSp>
        <p:nvCxnSpPr>
          <p:cNvPr id="14" name="直接连接符 13"/>
          <p:cNvCxnSpPr/>
          <p:nvPr/>
        </p:nvCxnSpPr>
        <p:spPr>
          <a:xfrm>
            <a:off x="3103902" y="2671849"/>
            <a:ext cx="602622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103902" y="4354408"/>
            <a:ext cx="602622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3" name="矩形 66"/>
          <p:cNvSpPr/>
          <p:nvPr/>
        </p:nvSpPr>
        <p:spPr>
          <a:xfrm>
            <a:off x="5000022" y="992019"/>
            <a:ext cx="2192260" cy="657225"/>
          </a:xfrm>
          <a:prstGeom prst="rect">
            <a:avLst/>
          </a:prstGeom>
          <a:blipFill rotWithShape="1">
            <a:blip r:embed="rId1">
              <a:alphaModFix amt="48000"/>
              <a:lum/>
            </a:blip>
            <a:stretch>
              <a:fillRect/>
            </a:stretch>
          </a:blipFill>
          <a:ln w="12700" cap="flat" cmpd="sng">
            <a:noFill/>
            <a:prstDash val="solid"/>
            <a:miter lim="800000"/>
          </a:ln>
          <a:effectLst>
            <a:outerShdw blurRad="50800" dist="50800" dir="5400000" algn="ctr">
              <a:srgbClr val="000000">
                <a:alpha val="45000"/>
              </a:srgbClr>
            </a:outerShdw>
          </a:effectLst>
        </p:spPr>
        <p:txBody>
          <a:bodyPr anchor="ctr"/>
          <a:p>
            <a:pPr marL="0" lvl="0" indent="0" algn="ctr" defTabSz="914400">
              <a:lnSpc>
                <a:spcPct val="100000"/>
              </a:lnSpc>
              <a:spcBef>
                <a:spcPts val="0"/>
              </a:spcBef>
              <a:spcAft>
                <a:spcPts val="0"/>
              </a:spcAft>
              <a:buClrTx/>
              <a:buSzTx/>
              <a:buFontTx/>
              <a:buNone/>
            </a:pPr>
            <a:endParaRPr lang="zh-CN" sz="1800" b="0" i="0" u="none" strike="noStrike" kern="0" spc="0" baseline="0">
              <a:ln>
                <a:noFill/>
              </a:ln>
              <a:solidFill>
                <a:srgbClr val="FFFFFF"/>
              </a:solidFill>
              <a:effectLst/>
              <a:latin typeface="等线" panose="02010600030101010101" charset="-122"/>
              <a:ea typeface="等线" panose="02010600030101010101" charset="-122"/>
            </a:endParaRPr>
          </a:p>
        </p:txBody>
      </p:sp>
      <p:sp>
        <p:nvSpPr>
          <p:cNvPr id="7" name="文本框 6"/>
          <p:cNvSpPr txBox="1"/>
          <p:nvPr/>
        </p:nvSpPr>
        <p:spPr>
          <a:xfrm>
            <a:off x="6096000" y="4669790"/>
            <a:ext cx="1260475" cy="1334135"/>
          </a:xfrm>
          <a:prstGeom prst="rect">
            <a:avLst/>
          </a:prstGeom>
          <a:noFill/>
        </p:spPr>
        <p:txBody>
          <a:bodyPr wrap="none" rtlCol="0">
            <a:noAutofit/>
          </a:bodyPr>
          <a:lstStyle/>
          <a:p>
            <a:pPr marL="0" lvl="0" indent="0" algn="l"/>
            <a:r>
              <a:rPr lang="zh-CN" altLang="en-US" sz="2400" spc="150" dirty="0">
                <a:solidFill>
                  <a:schemeClr val="bg1"/>
                </a:solidFill>
                <a:latin typeface="+mj-lt"/>
              </a:rPr>
              <a:t>李四</a:t>
            </a:r>
            <a:endParaRPr lang="zh-CN" altLang="en-US" sz="2400" spc="150" dirty="0">
              <a:solidFill>
                <a:schemeClr val="bg1"/>
              </a:solidFill>
              <a:latin typeface="+mj-lt"/>
            </a:endParaRPr>
          </a:p>
          <a:p>
            <a:pPr marL="0" lvl="0" indent="0" algn="l"/>
            <a:r>
              <a:rPr lang="zh-CN" altLang="en-US" sz="2400" spc="150" dirty="0">
                <a:solidFill>
                  <a:schemeClr val="bg1"/>
                </a:solidFill>
                <a:latin typeface="+mj-lt"/>
              </a:rPr>
              <a:t>张三</a:t>
            </a:r>
            <a:endParaRPr lang="zh-CN" altLang="en-US" sz="2400" spc="150" dirty="0">
              <a:solidFill>
                <a:schemeClr val="bg1"/>
              </a:solidFill>
              <a:latin typeface="+mj-lt"/>
            </a:endParaRPr>
          </a:p>
          <a:p>
            <a:pPr marL="0" lvl="0" indent="0" algn="l"/>
            <a:r>
              <a:rPr lang="zh-CN" altLang="en-US" sz="2400" spc="150" dirty="0">
                <a:solidFill>
                  <a:schemeClr val="bg1"/>
                </a:solidFill>
                <a:latin typeface="+mj-lt"/>
              </a:rPr>
              <a:t>王五</a:t>
            </a:r>
            <a:endParaRPr lang="zh-CN" altLang="en-US" sz="2400" spc="150" dirty="0">
              <a:solidFill>
                <a:schemeClr val="bg1"/>
              </a:solidFill>
              <a:latin typeface="+mj-lt"/>
            </a:endParaRPr>
          </a:p>
        </p:txBody>
      </p:sp>
      <p:sp>
        <p:nvSpPr>
          <p:cNvPr id="8" name="文本框 7"/>
          <p:cNvSpPr txBox="1"/>
          <p:nvPr/>
        </p:nvSpPr>
        <p:spPr>
          <a:xfrm>
            <a:off x="4766310" y="5010150"/>
            <a:ext cx="1329690" cy="460375"/>
          </a:xfrm>
          <a:prstGeom prst="rect">
            <a:avLst/>
          </a:prstGeom>
          <a:noFill/>
        </p:spPr>
        <p:txBody>
          <a:bodyPr wrap="square" rtlCol="0" anchor="t">
            <a:spAutoFit/>
          </a:bodyPr>
          <a:p>
            <a:r>
              <a:rPr lang="zh-CN" altLang="en-US" sz="2400" spc="150" dirty="0">
                <a:solidFill>
                  <a:schemeClr val="bg1"/>
                </a:solidFill>
                <a:latin typeface="+mj-lt"/>
                <a:sym typeface="+mn-ea"/>
              </a:rPr>
              <a:t>演讲人：</a:t>
            </a:r>
            <a:endParaRPr lang="zh-CN" altLang="en-US" sz="2400" spc="150" dirty="0">
              <a:solidFill>
                <a:schemeClr val="bg1"/>
              </a:solidFill>
              <a:latin typeface="+mj-lt"/>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ags/tag1.xml><?xml version="1.0" encoding="utf-8"?>
<p:tagLst xmlns:p="http://schemas.openxmlformats.org/presentationml/2006/main">
  <p:tag name="KSO_WM_DIAGRAM_VIRTUALLY_FRAME" val="{&quot;height&quot;:265.7787401574803,&quot;left&quot;:115.74645669291337,&quot;top&quot;:149.3,&quot;width&quot;:1025.188661417323}"/>
</p:tagLst>
</file>

<file path=ppt/tags/tag2.xml><?xml version="1.0" encoding="utf-8"?>
<p:tagLst xmlns:p="http://schemas.openxmlformats.org/presentationml/2006/main">
  <p:tag name="KSO_WM_DIAGRAM_VIRTUALLY_FRAME" val="{&quot;height&quot;:265.7787401574803,&quot;left&quot;:115.74645669291337,&quot;top&quot;:149.3,&quot;width&quot;:1025.188661417323}"/>
</p:tagLst>
</file>

<file path=ppt/tags/tag3.xml><?xml version="1.0" encoding="utf-8"?>
<p:tagLst xmlns:p="http://schemas.openxmlformats.org/presentationml/2006/main">
  <p:tag name="KSO_WM_DIAGRAM_VIRTUALLY_FRAME" val="{&quot;height&quot;:265.7787401574803,&quot;left&quot;:115.74645669291337,&quot;top&quot;:149.3,&quot;width&quot;:1025.188661417323}"/>
</p:tagLst>
</file>

<file path=ppt/tags/tag4.xml><?xml version="1.0" encoding="utf-8"?>
<p:tagLst xmlns:p="http://schemas.openxmlformats.org/presentationml/2006/main">
  <p:tag name="KSO_WM_DIAGRAM_VIRTUALLY_FRAME" val="{&quot;height&quot;:265.7787401574803,&quot;left&quot;:115.74645669291337,&quot;top&quot;:149.3,&quot;width&quot;:1025.188661417323}"/>
</p:tagLst>
</file>

<file path=ppt/tags/tag5.xml><?xml version="1.0" encoding="utf-8"?>
<p:tagLst xmlns:p="http://schemas.openxmlformats.org/presentationml/2006/main">
  <p:tag name="KSO_WM_DIAGRAM_VIRTUALLY_FRAME" val="{&quot;height&quot;:265.7787401574803,&quot;left&quot;:115.74645669291337,&quot;top&quot;:149.3,&quot;width&quot;:1025.188661417323}"/>
</p:tagLst>
</file>

<file path=ppt/tags/tag6.xml><?xml version="1.0" encoding="utf-8"?>
<p:tagLst xmlns:p="http://schemas.openxmlformats.org/presentationml/2006/main">
  <p:tag name="KSO_WM_DIAGRAM_VIRTUALLY_FRAME" val="{&quot;height&quot;:265.7787401574803,&quot;left&quot;:115.74645669291337,&quot;top&quot;:149.3,&quot;width&quot;:1025.188661417323}"/>
</p:tagLst>
</file>

<file path=ppt/tags/tag7.xml><?xml version="1.0" encoding="utf-8"?>
<p:tagLst xmlns:p="http://schemas.openxmlformats.org/presentationml/2006/main">
  <p:tag name="KSO_WM_DIAGRAM_VIRTUALLY_FRAME" val="{&quot;height&quot;:265.7787401574803,&quot;left&quot;:115.74645669291337,&quot;top&quot;:149.3,&quot;width&quot;:1025.188661417323}"/>
</p:tagLst>
</file>

<file path=ppt/tags/tag8.xml><?xml version="1.0" encoding="utf-8"?>
<p:tagLst xmlns:p="http://schemas.openxmlformats.org/presentationml/2006/main">
  <p:tag name="KSO_WM_DIAGRAM_VIRTUALLY_FRAME" val="{&quot;height&quot;:265.7787401574803,&quot;left&quot;:115.74645669291337,&quot;top&quot;:149.3,&quot;width&quot;:1025.188661417323}"/>
</p:tagLst>
</file>

<file path=ppt/tags/tag9.xml><?xml version="1.0" encoding="utf-8"?>
<p:tagLst xmlns:p="http://schemas.openxmlformats.org/presentationml/2006/main">
  <p:tag name="KSO_WM_DIAGRAM_VIRTUALLY_FRAME" val="{&quot;height&quot;:265.7787401574803,&quot;left&quot;:115.74645669291337,&quot;top&quot;:149.3,&quot;width&quot;:1025.188661417323}"/>
</p:tagLst>
</file>

<file path=ppt/tags/tag10.xml><?xml version="1.0" encoding="utf-8"?>
<p:tagLst xmlns:p="http://schemas.openxmlformats.org/presentationml/2006/main">
  <p:tag name="KSO_WM_UNIT_DIAGRAM_MODELTYPE" val="dynamicNum"/>
  <p:tag name="KSO_WM_BEAUTIFY_FLAG" val="#wm#"/>
  <p:tag name="KSO_WM_UNIT_TYPE" val="ζ_h_f"/>
  <p:tag name="KSO_WM_UNIT_DYNAMIC_NUM_END" val="1"/>
  <p:tag name="KSO_WM_UNIT_INDEX" val="1579180774592_1_1"/>
</p:tagLst>
</file>

<file path=ppt/tags/tag11.xml><?xml version="1.0" encoding="utf-8"?>
<p:tagLst xmlns:p="http://schemas.openxmlformats.org/presentationml/2006/main">
  <p:tag name="KSO_WM_DIAGRAM_VIRTUALLY_FRAME" val="{&quot;height&quot;:293.7,&quot;left&quot;:129.4,&quot;top&quot;:147.45,&quot;width&quot;:763.65}"/>
</p:tagLst>
</file>

<file path=ppt/tags/tag12.xml><?xml version="1.0" encoding="utf-8"?>
<p:tagLst xmlns:p="http://schemas.openxmlformats.org/presentationml/2006/main">
  <p:tag name="KSO_WM_DIAGRAM_VIRTUALLY_FRAME" val="{&quot;height&quot;:293.7,&quot;left&quot;:129.4,&quot;top&quot;:147.45,&quot;width&quot;:763.65}"/>
</p:tagLst>
</file>

<file path=ppt/tags/tag13.xml><?xml version="1.0" encoding="utf-8"?>
<p:tagLst xmlns:p="http://schemas.openxmlformats.org/presentationml/2006/main">
  <p:tag name="KSO_WM_DIAGRAM_VIRTUALLY_FRAME" val="{&quot;height&quot;:293.7,&quot;left&quot;:129.4,&quot;top&quot;:147.45,&quot;width&quot;:763.65}"/>
</p:tagLst>
</file>

<file path=ppt/tags/tag14.xml><?xml version="1.0" encoding="utf-8"?>
<p:tagLst xmlns:p="http://schemas.openxmlformats.org/presentationml/2006/main">
  <p:tag name="KSO_WM_DIAGRAM_VIRTUALLY_FRAME" val="{&quot;height&quot;:293.7,&quot;left&quot;:129.4,&quot;top&quot;:147.45,&quot;width&quot;:763.65}"/>
</p:tagLst>
</file>

<file path=ppt/tags/tag15.xml><?xml version="1.0" encoding="utf-8"?>
<p:tagLst xmlns:p="http://schemas.openxmlformats.org/presentationml/2006/main">
  <p:tag name="KSO_WM_DIAGRAM_VIRTUALLY_FRAME" val="{&quot;height&quot;:293.7,&quot;left&quot;:129.4,&quot;top&quot;:147.45,&quot;width&quot;:763.65}"/>
</p:tagLst>
</file>

<file path=ppt/tags/tag16.xml><?xml version="1.0" encoding="utf-8"?>
<p:tagLst xmlns:p="http://schemas.openxmlformats.org/presentationml/2006/main">
  <p:tag name="KSO_WM_DIAGRAM_VIRTUALLY_FRAME" val="{&quot;height&quot;:293.7,&quot;left&quot;:129.4,&quot;top&quot;:147.45,&quot;width&quot;:763.65}"/>
</p:tagLst>
</file>

<file path=ppt/tags/tag17.xml><?xml version="1.0" encoding="utf-8"?>
<p:tagLst xmlns:p="http://schemas.openxmlformats.org/presentationml/2006/main">
  <p:tag name="KSO_WM_DIAGRAM_VIRTUALLY_FRAME" val="{&quot;height&quot;:293.7,&quot;left&quot;:129.4,&quot;top&quot;:147.45,&quot;width&quot;:763.65}"/>
</p:tagLst>
</file>

<file path=ppt/tags/tag18.xml><?xml version="1.0" encoding="utf-8"?>
<p:tagLst xmlns:p="http://schemas.openxmlformats.org/presentationml/2006/main">
  <p:tag name="KSO_WM_DIAGRAM_VIRTUALLY_FRAME" val="{&quot;height&quot;:293.7,&quot;left&quot;:129.4,&quot;top&quot;:147.45,&quot;width&quot;:763.65}"/>
</p:tagLst>
</file>

<file path=ppt/tags/tag19.xml><?xml version="1.0" encoding="utf-8"?>
<p:tagLst xmlns:p="http://schemas.openxmlformats.org/presentationml/2006/main">
  <p:tag name="KSO_WM_DIAGRAM_VIRTUALLY_FRAME" val="{&quot;height&quot;:293.7,&quot;left&quot;:129.4,&quot;top&quot;:147.45,&quot;width&quot;:763.65}"/>
</p:tagLst>
</file>

<file path=ppt/tags/tag20.xml><?xml version="1.0" encoding="utf-8"?>
<p:tagLst xmlns:p="http://schemas.openxmlformats.org/presentationml/2006/main">
  <p:tag name="KSO_WM_DIAGRAM_VIRTUALLY_FRAME" val="{&quot;height&quot;:293.7,&quot;left&quot;:129.4,&quot;top&quot;:147.45,&quot;width&quot;:763.65}"/>
</p:tagLst>
</file>

<file path=ppt/tags/tag21.xml><?xml version="1.0" encoding="utf-8"?>
<p:tagLst xmlns:p="http://schemas.openxmlformats.org/presentationml/2006/main">
  <p:tag name="KSO_WM_DIAGRAM_VIRTUALLY_FRAME" val="{&quot;height&quot;:293.7,&quot;left&quot;:129.4,&quot;top&quot;:147.45,&quot;width&quot;:763.65}"/>
</p:tagLst>
</file>

<file path=ppt/tags/tag22.xml><?xml version="1.0" encoding="utf-8"?>
<p:tagLst xmlns:p="http://schemas.openxmlformats.org/presentationml/2006/main">
  <p:tag name="KSO_WM_DIAGRAM_VIRTUALLY_FRAME" val="{&quot;height&quot;:293.7,&quot;left&quot;:129.4,&quot;top&quot;:147.45,&quot;width&quot;:763.65}"/>
</p:tagLst>
</file>

<file path=ppt/tags/tag23.xml><?xml version="1.0" encoding="utf-8"?>
<p:tagLst xmlns:p="http://schemas.openxmlformats.org/presentationml/2006/main">
  <p:tag name="KSO_WM_DIAGRAM_VIRTUALLY_FRAME" val="{&quot;height&quot;:293.7,&quot;left&quot;:129.4,&quot;top&quot;:147.45,&quot;width&quot;:763.65}"/>
</p:tagLst>
</file>

<file path=ppt/tags/tag24.xml><?xml version="1.0" encoding="utf-8"?>
<p:tagLst xmlns:p="http://schemas.openxmlformats.org/presentationml/2006/main">
  <p:tag name="KSO_WM_DIAGRAM_VIRTUALLY_FRAME" val="{&quot;height&quot;:293.7,&quot;left&quot;:129.4,&quot;top&quot;:147.45,&quot;width&quot;:763.65}"/>
</p:tagLst>
</file>

<file path=ppt/tags/tag25.xml><?xml version="1.0" encoding="utf-8"?>
<p:tagLst xmlns:p="http://schemas.openxmlformats.org/presentationml/2006/main">
  <p:tag name="KSO_WM_DIAGRAM_VIRTUALLY_FRAME" val="{&quot;height&quot;:293.7,&quot;left&quot;:129.4,&quot;top&quot;:147.45,&quot;width&quot;:763.65}"/>
</p:tagLst>
</file>

<file path=ppt/tags/tag26.xml><?xml version="1.0" encoding="utf-8"?>
<p:tagLst xmlns:p="http://schemas.openxmlformats.org/presentationml/2006/main">
  <p:tag name="KSO_WM_DIAGRAM_VIRTUALLY_FRAME" val="{&quot;height&quot;:293.7,&quot;left&quot;:129.4,&quot;top&quot;:147.45,&quot;width&quot;:763.65}"/>
</p:tagLst>
</file>

<file path=ppt/tags/tag27.xml><?xml version="1.0" encoding="utf-8"?>
<p:tagLst xmlns:p="http://schemas.openxmlformats.org/presentationml/2006/main">
  <p:tag name="KSO_WM_DIAGRAM_VIRTUALLY_FRAME" val="{&quot;height&quot;:293.7,&quot;left&quot;:129.4,&quot;top&quot;:147.45,&quot;width&quot;:763.65}"/>
</p:tagLst>
</file>

<file path=ppt/tags/tag28.xml><?xml version="1.0" encoding="utf-8"?>
<p:tagLst xmlns:p="http://schemas.openxmlformats.org/presentationml/2006/main">
  <p:tag name="KSO_WM_DIAGRAM_VIRTUALLY_FRAME" val="{&quot;height&quot;:293.7,&quot;left&quot;:129.4,&quot;top&quot;:147.45,&quot;width&quot;:763.65}"/>
</p:tagLst>
</file>

<file path=ppt/tags/tag29.xml><?xml version="1.0" encoding="utf-8"?>
<p:tagLst xmlns:p="http://schemas.openxmlformats.org/presentationml/2006/main">
  <p:tag name="KSO_WM_DIAGRAM_VIRTUALLY_FRAME" val="{&quot;height&quot;:293.7,&quot;left&quot;:129.4,&quot;top&quot;:147.45,&quot;width&quot;:763.65}"/>
</p:tagLst>
</file>

<file path=ppt/tags/tag30.xml><?xml version="1.0" encoding="utf-8"?>
<p:tagLst xmlns:p="http://schemas.openxmlformats.org/presentationml/2006/main">
  <p:tag name="KSO_WM_DIAGRAM_VIRTUALLY_FRAME" val="{&quot;height&quot;:293.7,&quot;left&quot;:129.4,&quot;top&quot;:147.45,&quot;width&quot;:763.65}"/>
</p:tagLst>
</file>

<file path=ppt/tags/tag31.xml><?xml version="1.0" encoding="utf-8"?>
<p:tagLst xmlns:p="http://schemas.openxmlformats.org/presentationml/2006/main">
  <p:tag name="KSO_WM_DIAGRAM_VIRTUALLY_FRAME" val="{&quot;height&quot;:293.7,&quot;left&quot;:129.4,&quot;top&quot;:147.45,&quot;width&quot;:763.65}"/>
</p:tagLst>
</file>

<file path=ppt/tags/tag32.xml><?xml version="1.0" encoding="utf-8"?>
<p:tagLst xmlns:p="http://schemas.openxmlformats.org/presentationml/2006/main">
  <p:tag name="KSO_WM_DIAGRAM_VIRTUALLY_FRAME" val="{&quot;height&quot;:293.7,&quot;left&quot;:129.4,&quot;top&quot;:147.45,&quot;width&quot;:763.65}"/>
</p:tagLst>
</file>

<file path=ppt/tags/tag33.xml><?xml version="1.0" encoding="utf-8"?>
<p:tagLst xmlns:p="http://schemas.openxmlformats.org/presentationml/2006/main">
  <p:tag name="KSO_WM_DIAGRAM_VIRTUALLY_FRAME" val="{&quot;height&quot;:293.7,&quot;left&quot;:129.4,&quot;top&quot;:147.45,&quot;width&quot;:763.65}"/>
</p:tagLst>
</file>

<file path=ppt/tags/tag34.xml><?xml version="1.0" encoding="utf-8"?>
<p:tagLst xmlns:p="http://schemas.openxmlformats.org/presentationml/2006/main">
  <p:tag name="KSO_WM_DIAGRAM_VIRTUALLY_FRAME" val="{&quot;height&quot;:293.7,&quot;left&quot;:129.4,&quot;top&quot;:147.45,&quot;width&quot;:763.65}"/>
</p:tagLst>
</file>

<file path=ppt/tags/tag35.xml><?xml version="1.0" encoding="utf-8"?>
<p:tagLst xmlns:p="http://schemas.openxmlformats.org/presentationml/2006/main">
  <p:tag name="KSO_WM_DIAGRAM_VIRTUALLY_FRAME" val="{&quot;height&quot;:293.7,&quot;left&quot;:129.4,&quot;top&quot;:147.45,&quot;width&quot;:763.65}"/>
</p:tagLst>
</file>

<file path=ppt/tags/tag36.xml><?xml version="1.0" encoding="utf-8"?>
<p:tagLst xmlns:p="http://schemas.openxmlformats.org/presentationml/2006/main">
  <p:tag name="KSO_WM_DIAGRAM_VIRTUALLY_FRAME" val="{&quot;height&quot;:293.7,&quot;left&quot;:129.4,&quot;top&quot;:147.45,&quot;width&quot;:763.65}"/>
</p:tagLst>
</file>

<file path=ppt/tags/tag37.xml><?xml version="1.0" encoding="utf-8"?>
<p:tagLst xmlns:p="http://schemas.openxmlformats.org/presentationml/2006/main">
  <p:tag name="KSO_WM_DIAGRAM_VIRTUALLY_FRAME" val="{&quot;height&quot;:293.7,&quot;left&quot;:129.4,&quot;top&quot;:147.45,&quot;width&quot;:763.65}"/>
</p:tagLst>
</file>

<file path=ppt/tags/tag38.xml><?xml version="1.0" encoding="utf-8"?>
<p:tagLst xmlns:p="http://schemas.openxmlformats.org/presentationml/2006/main">
  <p:tag name="KSO_WM_DIAGRAM_VIRTUALLY_FRAME" val="{&quot;height&quot;:293.7,&quot;left&quot;:129.4,&quot;top&quot;:147.45,&quot;width&quot;:763.65}"/>
</p:tagLst>
</file>

<file path=ppt/tags/tag39.xml><?xml version="1.0" encoding="utf-8"?>
<p:tagLst xmlns:p="http://schemas.openxmlformats.org/presentationml/2006/main">
  <p:tag name="KSO_WM_DIAGRAM_VIRTUALLY_FRAME" val="{&quot;height&quot;:293.7,&quot;left&quot;:129.4,&quot;top&quot;:147.45,&quot;width&quot;:763.65}"/>
</p:tagLst>
</file>

<file path=ppt/tags/tag40.xml><?xml version="1.0" encoding="utf-8"?>
<p:tagLst xmlns:p="http://schemas.openxmlformats.org/presentationml/2006/main">
  <p:tag name="KSO_WM_DIAGRAM_VIRTUALLY_FRAME" val="{&quot;height&quot;:293.7,&quot;left&quot;:129.4,&quot;top&quot;:147.45,&quot;width&quot;:763.65}"/>
</p:tagLst>
</file>

<file path=ppt/tags/tag41.xml><?xml version="1.0" encoding="utf-8"?>
<p:tagLst xmlns:p="http://schemas.openxmlformats.org/presentationml/2006/main">
  <p:tag name="KSO_WM_DIAGRAM_VIRTUALLY_FRAME" val="{&quot;height&quot;:293.7,&quot;left&quot;:129.4,&quot;top&quot;:147.45,&quot;width&quot;:763.65}"/>
</p:tagLst>
</file>

<file path=ppt/tags/tag42.xml><?xml version="1.0" encoding="utf-8"?>
<p:tagLst xmlns:p="http://schemas.openxmlformats.org/presentationml/2006/main">
  <p:tag name="KSO_WM_DIAGRAM_VIRTUALLY_FRAME" val="{&quot;height&quot;:293.7,&quot;left&quot;:129.4,&quot;top&quot;:147.45,&quot;width&quot;:763.65}"/>
</p:tagLst>
</file>

<file path=ppt/tags/tag43.xml><?xml version="1.0" encoding="utf-8"?>
<p:tagLst xmlns:p="http://schemas.openxmlformats.org/presentationml/2006/main">
  <p:tag name="KSO_WM_DIAGRAM_VIRTUALLY_FRAME" val="{&quot;height&quot;:293.7,&quot;left&quot;:129.4,&quot;top&quot;:147.45,&quot;width&quot;:763.65}"/>
</p:tagLst>
</file>

<file path=ppt/tags/tag44.xml><?xml version="1.0" encoding="utf-8"?>
<p:tagLst xmlns:p="http://schemas.openxmlformats.org/presentationml/2006/main">
  <p:tag name="KSO_WM_DIAGRAM_VIRTUALLY_FRAME" val="{&quot;height&quot;:350.59173228346464,&quot;left&quot;:339.3881102362205,&quot;top&quot;:112.53086614173228,&quot;width&quot;:536.2920472440945}"/>
</p:tagLst>
</file>

<file path=ppt/tags/tag45.xml><?xml version="1.0" encoding="utf-8"?>
<p:tagLst xmlns:p="http://schemas.openxmlformats.org/presentationml/2006/main">
  <p:tag name="KSO_WM_DIAGRAM_VIRTUALLY_FRAME" val="{&quot;height&quot;:323.20417322834646,&quot;left&quot;:56.6,&quot;top&quot;:137.2328346456693,&quot;width&quot;:853.2510236220472}"/>
</p:tagLst>
</file>

<file path=ppt/tags/tag46.xml><?xml version="1.0" encoding="utf-8"?>
<p:tagLst xmlns:p="http://schemas.openxmlformats.org/presentationml/2006/main">
  <p:tag name="KSO_WM_DIAGRAM_VIRTUALLY_FRAME" val="{&quot;height&quot;:323.20417322834646,&quot;left&quot;:56.6,&quot;top&quot;:137.2328346456693,&quot;width&quot;:853.2510236220472}"/>
</p:tagLst>
</file>

<file path=ppt/tags/tag47.xml><?xml version="1.0" encoding="utf-8"?>
<p:tagLst xmlns:p="http://schemas.openxmlformats.org/presentationml/2006/main">
  <p:tag name="KSO_WM_DIAGRAM_VIRTUALLY_FRAME" val="{&quot;height&quot;:323.20417322834646,&quot;left&quot;:56.6,&quot;top&quot;:137.2328346456693,&quot;width&quot;:853.2510236220472}"/>
</p:tagLst>
</file>

<file path=ppt/tags/tag48.xml><?xml version="1.0" encoding="utf-8"?>
<p:tagLst xmlns:p="http://schemas.openxmlformats.org/presentationml/2006/main">
  <p:tag name="KSO_WM_DIAGRAM_VIRTUALLY_FRAME" val="{&quot;height&quot;:323.20417322834646,&quot;left&quot;:56.6,&quot;top&quot;:137.2328346456693,&quot;width&quot;:853.2510236220472}"/>
</p:tagLst>
</file>

<file path=ppt/tags/tag49.xml><?xml version="1.0" encoding="utf-8"?>
<p:tagLst xmlns:p="http://schemas.openxmlformats.org/presentationml/2006/main">
  <p:tag name="KSO_WM_DIAGRAM_VIRTUALLY_FRAME" val="{&quot;height&quot;:323.20417322834646,&quot;left&quot;:56.6,&quot;top&quot;:137.2328346456693,&quot;width&quot;:853.2510236220472}"/>
</p:tagLst>
</file>

<file path=ppt/tags/tag50.xml><?xml version="1.0" encoding="utf-8"?>
<p:tagLst xmlns:p="http://schemas.openxmlformats.org/presentationml/2006/main">
  <p:tag name="KSO_WM_DIAGRAM_VIRTUALLY_FRAME" val="{&quot;height&quot;:323.20417322834646,&quot;left&quot;:56.6,&quot;top&quot;:137.2328346456693,&quot;width&quot;:853.2510236220472}"/>
</p:tagLst>
</file>

<file path=ppt/tags/tag51.xml><?xml version="1.0" encoding="utf-8"?>
<p:tagLst xmlns:p="http://schemas.openxmlformats.org/presentationml/2006/main">
  <p:tag name="KSO_WM_DIAGRAM_VIRTUALLY_FRAME" val="{&quot;height&quot;:323.20417322834646,&quot;left&quot;:56.6,&quot;top&quot;:137.2328346456693,&quot;width&quot;:853.2510236220472}"/>
</p:tagLst>
</file>

<file path=ppt/tags/tag52.xml><?xml version="1.0" encoding="utf-8"?>
<p:tagLst xmlns:p="http://schemas.openxmlformats.org/presentationml/2006/main">
  <p:tag name="KSO_WM_DIAGRAM_VIRTUALLY_FRAME" val="{&quot;height&quot;:323.20417322834646,&quot;left&quot;:56.6,&quot;top&quot;:137.2328346456693,&quot;width&quot;:853.2510236220472}"/>
</p:tagLst>
</file>

<file path=ppt/tags/tag53.xml><?xml version="1.0" encoding="utf-8"?>
<p:tagLst xmlns:p="http://schemas.openxmlformats.org/presentationml/2006/main">
  <p:tag name="KSO_WM_DIAGRAM_VIRTUALLY_FRAME" val="{&quot;height&quot;:323.20417322834646,&quot;left&quot;:56.6,&quot;top&quot;:137.2328346456693,&quot;width&quot;:853.2510236220472}"/>
</p:tagLst>
</file>

<file path=ppt/tags/tag54.xml><?xml version="1.0" encoding="utf-8"?>
<p:tagLst xmlns:p="http://schemas.openxmlformats.org/presentationml/2006/main">
  <p:tag name="KSO_WM_DIAGRAM_VIRTUALLY_FRAME" val="{&quot;height&quot;:323.20417322834646,&quot;left&quot;:56.6,&quot;top&quot;:137.2328346456693,&quot;width&quot;:853.2510236220472}"/>
</p:tagLst>
</file>

<file path=ppt/tags/tag55.xml><?xml version="1.0" encoding="utf-8"?>
<p:tagLst xmlns:p="http://schemas.openxmlformats.org/presentationml/2006/main">
  <p:tag name="KSO_WM_DIAGRAM_VIRTUALLY_FRAME" val="{&quot;height&quot;:323.20417322834646,&quot;left&quot;:56.6,&quot;top&quot;:137.2328346456693,&quot;width&quot;:853.2510236220472}"/>
</p:tagLst>
</file>

<file path=ppt/tags/tag56.xml><?xml version="1.0" encoding="utf-8"?>
<p:tagLst xmlns:p="http://schemas.openxmlformats.org/presentationml/2006/main">
  <p:tag name="KSO_WM_DIAGRAM_VIRTUALLY_FRAME" val="{&quot;height&quot;:323.20417322834646,&quot;left&quot;:56.6,&quot;top&quot;:137.2328346456693,&quot;width&quot;:853.2510236220472}"/>
</p:tagLst>
</file>

<file path=ppt/tags/tag57.xml><?xml version="1.0" encoding="utf-8"?>
<p:tagLst xmlns:p="http://schemas.openxmlformats.org/presentationml/2006/main">
  <p:tag name="KSO_WM_DIAGRAM_VIRTUALLY_FRAME" val="{&quot;height&quot;:465.5832283464567,&quot;left&quot;:56.6,&quot;top&quot;:115.4828346456693,&quot;width&quot;:871.03}"/>
</p:tagLst>
</file>

<file path=ppt/tags/tag58.xml><?xml version="1.0" encoding="utf-8"?>
<p:tagLst xmlns:p="http://schemas.openxmlformats.org/presentationml/2006/main">
  <p:tag name="KSO_WM_DIAGRAM_VIRTUALLY_FRAME" val="{&quot;height&quot;:187.81472440944884,&quot;left&quot;:170.00700787401578,&quot;top&quot;:179.99992125984252,&quot;width&quot;:625.2929921259844}"/>
</p:tagLst>
</file>

<file path=ppt/tags/tag59.xml><?xml version="1.0" encoding="utf-8"?>
<p:tagLst xmlns:p="http://schemas.openxmlformats.org/presentationml/2006/main">
  <p:tag name="KSO_WM_DIAGRAM_VIRTUALLY_FRAME" val="{&quot;height&quot;:323.20417322834646,&quot;left&quot;:56.6,&quot;top&quot;:137.2328346456693,&quot;width&quot;:853.2510236220472}"/>
</p:tagLst>
</file>

<file path=ppt/tags/tag60.xml><?xml version="1.0" encoding="utf-8"?>
<p:tagLst xmlns:p="http://schemas.openxmlformats.org/presentationml/2006/main">
  <p:tag name="KSO_WM_DIAGRAM_VIRTUALLY_FRAME" val="{&quot;height&quot;:323.20417322834646,&quot;left&quot;:56.6,&quot;top&quot;:137.2328346456693,&quot;width&quot;:853.2510236220472}"/>
</p:tagLst>
</file>

<file path=ppt/tags/tag61.xml><?xml version="1.0" encoding="utf-8"?>
<p:tagLst xmlns:p="http://schemas.openxmlformats.org/presentationml/2006/main">
  <p:tag name="KSO_WM_DIAGRAM_VIRTUALLY_FRAME" val="{&quot;height&quot;:323.20417322834646,&quot;left&quot;:56.6,&quot;top&quot;:137.2328346456693,&quot;width&quot;:853.2510236220472}"/>
</p:tagLst>
</file>

<file path=ppt/tags/tag62.xml><?xml version="1.0" encoding="utf-8"?>
<p:tagLst xmlns:p="http://schemas.openxmlformats.org/presentationml/2006/main">
  <p:tag name="KSO_WM_DIAGRAM_VIRTUALLY_FRAME" val="{&quot;height&quot;:323.20417322834646,&quot;left&quot;:56.6,&quot;top&quot;:137.2328346456693,&quot;width&quot;:853.2510236220472}"/>
</p:tagLst>
</file>

<file path=ppt/tags/tag63.xml><?xml version="1.0" encoding="utf-8"?>
<p:tagLst xmlns:p="http://schemas.openxmlformats.org/presentationml/2006/main">
  <p:tag name="KSO_WM_DIAGRAM_VIRTUALLY_FRAME" val="{&quot;height&quot;:323.20417322834646,&quot;left&quot;:56.6,&quot;top&quot;:137.2328346456693,&quot;width&quot;:853.2510236220472}"/>
</p:tagLst>
</file>

<file path=ppt/tags/tag64.xml><?xml version="1.0" encoding="utf-8"?>
<p:tagLst xmlns:p="http://schemas.openxmlformats.org/presentationml/2006/main">
  <p:tag name="KSO_WM_DIAGRAM_VIRTUALLY_FRAME" val="{&quot;height&quot;:323.20417322834646,&quot;left&quot;:56.6,&quot;top&quot;:137.2328346456693,&quot;width&quot;:853.2510236220472}"/>
</p:tagLst>
</file>

<file path=ppt/tags/tag65.xml><?xml version="1.0" encoding="utf-8"?>
<p:tagLst xmlns:p="http://schemas.openxmlformats.org/presentationml/2006/main">
  <p:tag name="KSO_WM_DIAGRAM_VIRTUALLY_FRAME" val="{&quot;height&quot;:323.20417322834646,&quot;left&quot;:56.6,&quot;top&quot;:137.2328346456693,&quot;width&quot;:853.2510236220472}"/>
</p:tagLst>
</file>

<file path=ppt/tags/tag66.xml><?xml version="1.0" encoding="utf-8"?>
<p:tagLst xmlns:p="http://schemas.openxmlformats.org/presentationml/2006/main">
  <p:tag name="KSO_WM_DIAGRAM_VIRTUALLY_FRAME" val="{&quot;height&quot;:350.59173228346464,&quot;left&quot;:43.1,&quot;top&quot;:112.53086614173228,&quot;width&quot;:905.080157480315}"/>
</p:tagLst>
</file>

<file path=ppt/tags/tag67.xml><?xml version="1.0" encoding="utf-8"?>
<p:tagLst xmlns:p="http://schemas.openxmlformats.org/presentationml/2006/main">
  <p:tag name="KSO_WM_DIAGRAM_VIRTUALLY_FRAME" val="{&quot;height&quot;:350.59173228346464,&quot;left&quot;:43.1,&quot;top&quot;:112.53086614173228,&quot;width&quot;:905.080157480315}"/>
</p:tagLst>
</file>

<file path=ppt/tags/tag68.xml><?xml version="1.0" encoding="utf-8"?>
<p:tagLst xmlns:p="http://schemas.openxmlformats.org/presentationml/2006/main">
  <p:tag name="KSO_WM_DIAGRAM_VIRTUALLY_FRAME" val="{&quot;height&quot;:350.59173228346464,&quot;left&quot;:43.1,&quot;top&quot;:112.53086614173228,&quot;width&quot;:905.080157480315}"/>
</p:tagLst>
</file>

<file path=ppt/tags/tag69.xml><?xml version="1.0" encoding="utf-8"?>
<p:tagLst xmlns:p="http://schemas.openxmlformats.org/presentationml/2006/main">
  <p:tag name="KSO_WM_DIAGRAM_VIRTUALLY_FRAME" val="{&quot;height&quot;:350.59173228346464,&quot;left&quot;:43.1,&quot;top&quot;:112.53086614173228,&quot;width&quot;:905.080157480315}"/>
</p:tagLst>
</file>

<file path=ppt/tags/tag70.xml><?xml version="1.0" encoding="utf-8"?>
<p:tagLst xmlns:p="http://schemas.openxmlformats.org/presentationml/2006/main">
  <p:tag name="KSO_WM_DIAGRAM_VIRTUALLY_FRAME" val="{&quot;height&quot;:350.59173228346464,&quot;left&quot;:43.1,&quot;top&quot;:112.53086614173228,&quot;width&quot;:905.080157480315}"/>
</p:tagLst>
</file>

<file path=ppt/tags/tag71.xml><?xml version="1.0" encoding="utf-8"?>
<p:tagLst xmlns:p="http://schemas.openxmlformats.org/presentationml/2006/main">
  <p:tag name="KSO_WM_DIAGRAM_VIRTUALLY_FRAME" val="{&quot;height&quot;:350.59173228346464,&quot;left&quot;:43.1,&quot;top&quot;:112.53086614173228,&quot;width&quot;:905.080157480315}"/>
</p:tagLst>
</file>

<file path=ppt/tags/tag72.xml><?xml version="1.0" encoding="utf-8"?>
<p:tagLst xmlns:p="http://schemas.openxmlformats.org/presentationml/2006/main">
  <p:tag name="KSO_WM_DIAGRAM_VIRTUALLY_FRAME" val="{&quot;height&quot;:350.59173228346464,&quot;left&quot;:43.1,&quot;top&quot;:112.53086614173228,&quot;width&quot;:905.080157480315}"/>
</p:tagLst>
</file>

<file path=ppt/tags/tag73.xml><?xml version="1.0" encoding="utf-8"?>
<p:tagLst xmlns:p="http://schemas.openxmlformats.org/presentationml/2006/main">
  <p:tag name="KSO_WM_DIAGRAM_VIRTUALLY_FRAME" val="{&quot;height&quot;:350.59173228346464,&quot;left&quot;:43.1,&quot;top&quot;:112.53086614173228,&quot;width&quot;:905.080157480315}"/>
</p:tagLst>
</file>

<file path=ppt/tags/tag74.xml><?xml version="1.0" encoding="utf-8"?>
<p:tagLst xmlns:p="http://schemas.openxmlformats.org/presentationml/2006/main">
  <p:tag name="KSO_WM_DIAGRAM_VIRTUALLY_FRAME" val="{&quot;height&quot;:350.59173228346464,&quot;left&quot;:339.3881102362205,&quot;top&quot;:112.53086614173228,&quot;width&quot;:551.2618897637795}"/>
</p:tagLst>
</file>

<file path=ppt/tags/tag75.xml><?xml version="1.0" encoding="utf-8"?>
<p:tagLst xmlns:p="http://schemas.openxmlformats.org/presentationml/2006/main">
  <p:tag name="KSO_WM_DIAGRAM_VIRTUALLY_FRAME" val="{&quot;height&quot;:373.4,&quot;left&quot;:72.4,&quot;top&quot;:130.8,&quot;width&quot;:818.5915748031496}"/>
</p:tagLst>
</file>

<file path=ppt/tags/tag76.xml><?xml version="1.0" encoding="utf-8"?>
<p:tagLst xmlns:p="http://schemas.openxmlformats.org/presentationml/2006/main">
  <p:tag name="KSO_WM_DIAGRAM_VIRTUALLY_FRAME" val="{&quot;height&quot;:373.4,&quot;left&quot;:72.4,&quot;top&quot;:130.8,&quot;width&quot;:818.5915748031496}"/>
</p:tagLst>
</file>

<file path=ppt/tags/tag77.xml><?xml version="1.0" encoding="utf-8"?>
<p:tagLst xmlns:p="http://schemas.openxmlformats.org/presentationml/2006/main">
  <p:tag name="KSO_WM_DIAGRAM_VIRTUALLY_FRAME" val="{&quot;height&quot;:373.4,&quot;left&quot;:72.4,&quot;top&quot;:130.8,&quot;width&quot;:818.5915748031496}"/>
</p:tagLst>
</file>

<file path=ppt/tags/tag78.xml><?xml version="1.0" encoding="utf-8"?>
<p:tagLst xmlns:p="http://schemas.openxmlformats.org/presentationml/2006/main">
  <p:tag name="KSO_WM_DIAGRAM_VIRTUALLY_FRAME" val="{&quot;height&quot;:373.4,&quot;left&quot;:72.4,&quot;top&quot;:130.8,&quot;width&quot;:818.5915748031496}"/>
</p:tagLst>
</file>

<file path=ppt/tags/tag79.xml><?xml version="1.0" encoding="utf-8"?>
<p:tagLst xmlns:p="http://schemas.openxmlformats.org/presentationml/2006/main">
  <p:tag name="KSO_WM_DIAGRAM_VIRTUALLY_FRAME" val="{&quot;height&quot;:373.4,&quot;left&quot;:72.4,&quot;top&quot;:130.8,&quot;width&quot;:818.5915748031496}"/>
</p:tagLst>
</file>

<file path=ppt/tags/tag80.xml><?xml version="1.0" encoding="utf-8"?>
<p:tagLst xmlns:p="http://schemas.openxmlformats.org/presentationml/2006/main">
  <p:tag name="KSO_WM_DIAGRAM_VIRTUALLY_FRAME" val="{&quot;height&quot;:373.4,&quot;left&quot;:72.4,&quot;top&quot;:130.8,&quot;width&quot;:818.5915748031496}"/>
</p:tagLst>
</file>

<file path=ppt/tags/tag81.xml><?xml version="1.0" encoding="utf-8"?>
<p:tagLst xmlns:p="http://schemas.openxmlformats.org/presentationml/2006/main">
  <p:tag name="KSO_WM_DIAGRAM_VIRTUALLY_FRAME" val="{&quot;height&quot;:373.4,&quot;left&quot;:72.4,&quot;top&quot;:130.8,&quot;width&quot;:818.5915748031496}"/>
</p:tagLst>
</file>

<file path=ppt/tags/tag82.xml><?xml version="1.0" encoding="utf-8"?>
<p:tagLst xmlns:p="http://schemas.openxmlformats.org/presentationml/2006/main">
  <p:tag name="KSO_WM_DIAGRAM_VIRTUALLY_FRAME" val="{&quot;height&quot;:350.59173228346464,&quot;left&quot;:339.3881102362205,&quot;top&quot;:112.53086614173228,&quot;width&quot;:551.2420472440946}"/>
</p:tagLst>
</file>

<file path=ppt/tags/tag83.xml><?xml version="1.0" encoding="utf-8"?>
<p:tagLst xmlns:p="http://schemas.openxmlformats.org/presentationml/2006/main">
  <p:tag name="KSO_WM_DIAGRAM_VIRTUALLY_FRAME" val="{&quot;height&quot;:350.59173228346464,&quot;left&quot;:339.3881102362205,&quot;top&quot;:112.53086614173228,&quot;width&quot;:551.2420472440946}"/>
</p:tagLst>
</file>

<file path=ppt/tags/tag84.xml><?xml version="1.0" encoding="utf-8"?>
<p:tagLst xmlns:p="http://schemas.openxmlformats.org/presentationml/2006/main">
  <p:tag name="KSO_WM_DIAGRAM_VIRTUALLY_FRAME" val="{&quot;height&quot;:350.59173228346464,&quot;left&quot;:339.3881102362205,&quot;top&quot;:112.53086614173228,&quot;width&quot;:551.2420472440946}"/>
</p:tagLst>
</file>

<file path=ppt/tags/tag85.xml><?xml version="1.0" encoding="utf-8"?>
<p:tagLst xmlns:p="http://schemas.openxmlformats.org/presentationml/2006/main">
  <p:tag name="KSO_WM_DIAGRAM_VIRTUALLY_FRAME" val="{&quot;height&quot;:350.59173228346464,&quot;left&quot;:339.3881102362205,&quot;top&quot;:112.53086614173228,&quot;width&quot;:551.2420472440946}"/>
</p:tagLst>
</file>

<file path=ppt/tags/tag86.xml><?xml version="1.0" encoding="utf-8"?>
<p:tagLst xmlns:p="http://schemas.openxmlformats.org/presentationml/2006/main">
  <p:tag name="commondata" val="eyJoZGlkIjoiMTZhYWUyMzFjODJjNmNkYTVkZGU0MWVhZjUxOTU5N2EifQ=="/>
</p:tagLst>
</file>

<file path=ppt/theme/theme1.xml><?xml version="1.0" encoding="utf-8"?>
<a:theme xmlns:a="http://schemas.openxmlformats.org/drawingml/2006/main" name="Office 主题">
  <a:themeElements>
    <a:clrScheme name="自定义 46">
      <a:dk1>
        <a:sysClr val="windowText" lastClr="000000"/>
      </a:dk1>
      <a:lt1>
        <a:sysClr val="window" lastClr="FFFFFF"/>
      </a:lt1>
      <a:dk2>
        <a:srgbClr val="484E60"/>
      </a:dk2>
      <a:lt2>
        <a:srgbClr val="E7E6E6"/>
      </a:lt2>
      <a:accent1>
        <a:srgbClr val="505CCC"/>
      </a:accent1>
      <a:accent2>
        <a:srgbClr val="7198E7"/>
      </a:accent2>
      <a:accent3>
        <a:srgbClr val="78A9B7"/>
      </a:accent3>
      <a:accent4>
        <a:srgbClr val="FFC000"/>
      </a:accent4>
      <a:accent5>
        <a:srgbClr val="4472C4"/>
      </a:accent5>
      <a:accent6>
        <a:srgbClr val="70AD47"/>
      </a:accent6>
      <a:hlink>
        <a:srgbClr val="0563C1"/>
      </a:hlink>
      <a:folHlink>
        <a:srgbClr val="954F72"/>
      </a:folHlink>
    </a:clrScheme>
    <a:fontScheme name="自定义 21">
      <a:majorFont>
        <a:latin typeface="Montserrat SemiBold"/>
        <a:ea typeface="思源黑体 CN Bold"/>
        <a:cs typeface=""/>
      </a:majorFont>
      <a:minorFont>
        <a:latin typeface="Montserrat"/>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14347</Words>
  <Application>WPS 演示</Application>
  <PresentationFormat>宽屏</PresentationFormat>
  <Paragraphs>338</Paragraphs>
  <Slides>27</Slides>
  <Notes>1</Notes>
  <HiddenSlides>0</HiddenSlides>
  <MMClips>0</MMClips>
  <ScaleCrop>false</ScaleCrop>
  <HeadingPairs>
    <vt:vector size="6" baseType="variant">
      <vt:variant>
        <vt:lpstr>已用的字体</vt:lpstr>
      </vt:variant>
      <vt:variant>
        <vt:i4>26</vt:i4>
      </vt:variant>
      <vt:variant>
        <vt:lpstr>主题</vt:lpstr>
      </vt:variant>
      <vt:variant>
        <vt:i4>1</vt:i4>
      </vt:variant>
      <vt:variant>
        <vt:lpstr>幻灯片标题</vt:lpstr>
      </vt:variant>
      <vt:variant>
        <vt:i4>27</vt:i4>
      </vt:variant>
    </vt:vector>
  </HeadingPairs>
  <TitlesOfParts>
    <vt:vector size="54" baseType="lpstr">
      <vt:lpstr>Arial</vt:lpstr>
      <vt:lpstr>宋体</vt:lpstr>
      <vt:lpstr>Wingdings</vt:lpstr>
      <vt:lpstr>HarmonyOS Sans SC Light</vt:lpstr>
      <vt:lpstr>阿里巴巴普惠体 2.0 55 Regular</vt:lpstr>
      <vt:lpstr>思源宋体 CN</vt:lpstr>
      <vt:lpstr>Montserrat</vt:lpstr>
      <vt:lpstr>Segoe Print</vt:lpstr>
      <vt:lpstr>方正俊黑简体</vt:lpstr>
      <vt:lpstr>DIN-BlackItalic</vt:lpstr>
      <vt:lpstr>微软雅黑</vt:lpstr>
      <vt:lpstr>MiSans Normal</vt:lpstr>
      <vt:lpstr>HarmonyOS Sans SC Bold</vt:lpstr>
      <vt:lpstr>思源黑体 CN Bold</vt:lpstr>
      <vt:lpstr>黑体</vt:lpstr>
      <vt:lpstr>思源黑体 CN Normal</vt:lpstr>
      <vt:lpstr>Montserrat SemiBold</vt:lpstr>
      <vt:lpstr>Arial Unicode MS</vt:lpstr>
      <vt:lpstr>等线</vt:lpstr>
      <vt:lpstr>思源宋体 CN Heavy</vt:lpstr>
      <vt:lpstr>Times New Roman</vt:lpstr>
      <vt:lpstr>OPPOSans L</vt:lpstr>
      <vt:lpstr>Calibri</vt:lpstr>
      <vt:lpstr>Times New Roman</vt:lpstr>
      <vt:lpstr>v-sans</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www.51pptmoban.com</Company>
  <LinksUpToDate>false</LinksUpToDate>
  <SharedDoc>false</SharedDoc>
  <HyperlinksChanged>false</HyperlinksChanged>
  <AppVersion>14.0000</AppVersion>
  <Manager>51PPT模板网</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简约大气几何风毕业论文答辩PPT模板</dc:title>
  <dc:creator>Anonymous</dc:creator>
  <cp:keywords>51PPT模板网（www.51pptmoban.com）</cp:keywords>
  <dc:description>51PPT模板网，幻灯片演示模板及素材免费下载！
51PPT模板网 唯一访问网址：www.51pptmoban.com</dc:description>
  <cp:lastModifiedBy>Anonymous</cp:lastModifiedBy>
  <cp:revision>242</cp:revision>
  <dcterms:created xsi:type="dcterms:W3CDTF">2020-02-23T09:42:00Z</dcterms:created>
  <dcterms:modified xsi:type="dcterms:W3CDTF">2024-10-15T02:47:02Z</dcterms:modified>
  <cp:version>51</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D4466D10CA4D4D5784531E6240A29597_12</vt:lpwstr>
  </property>
  <property fmtid="{D5CDD505-2E9C-101B-9397-08002B2CF9AE}" pid="3" name="KSOProductBuildVer">
    <vt:lpwstr>2052-12.1.0.18276</vt:lpwstr>
  </property>
</Properties>
</file>